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Pacific Southwest Container | Linetex USA | Ingecart |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PSC VISALIA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Solving Real Bottlenecks in Corrugated Plants</a:t>
            </a:r>
          </a:p>
          <a:p>
            <a:r>
              <a:t>Complete Relocation + Modernization +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754880"/>
            <a:ext cx="48764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Executive Summary – Turnkey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PROJECT OVERVIEW: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Relocate BHS corrugator (1997, Turkey → Visalia, USA)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Complete obsolescence elimination (S5 → Siemens S7)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Full downstream automation: Ingetrans, Conveyors, AMR, WIP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INVESTMENT: ~$7M USD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KEY IMPACT: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-70% downtime risk | • +20% sustained speed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MES-ready platform | • &lt;18 months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70C0"/>
                </a:solidFill>
              </a:defRPr>
            </a:pPr>
            <a:r>
              <a:t>"Not just moving a machine – transforming the operation"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Why This Project? – Strategic Necessity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ELIMINATE OBSOLESCENCE: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S5 PLC – No support since 2015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Unavailable spare parts in the market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Weeks of unplanned downtime risk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INCREASE PRODUCTIVITY: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Sustained 300 mpm vs current 250 mpm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Real-time diagnostics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30% setup reduction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PREPARE FOR THE FUTURE: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Open S7 architecture | • MES/ERP ready | • AMR/WIP foundation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Our Full Engineering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AMR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Autonomous mobile robots for intralogistics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65760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Easy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Standardized end-of-line packaging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645920"/>
            <a:ext cx="30175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737360"/>
            <a:ext cx="28346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Retal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94560"/>
            <a:ext cx="28346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Automated scrap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365760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Ingetrans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Heavy load automated transport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017520"/>
            <a:ext cx="365760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108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Palletizer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66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High-speed robotic palletizing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017520"/>
            <a:ext cx="30175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108960"/>
            <a:ext cx="28346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Custom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566160"/>
            <a:ext cx="28346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Tailored solutions for unique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Our Value Proposition – Industrial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FASTER THAN OEMS: Agile engineering, rapid implementation, no corporate bureaucracy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MORE RELIABLE: Robust solutions, built to perform, local support in USA via Linetex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MEASURABLE ROI: Focus on OEE, downtime reduction, payback &lt;18 months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KNOWLEDGE DRIVEN: Every project makes us smarter, 65+ plants in Spain, proven USA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Obsolescence Elimination – Siemens S7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BEFORE (machine in Turkey):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Mixed S5/S7 control – No factory support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DC drives with obsolete components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Legacy HMI with limited diagnostics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Spare parts unavailable globally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AFTER (installed in Visalia):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Unified Siemens S7 – 15+ year future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Modern drives + motion control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Touchscreen HMI + SCADA ready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Global spare parts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70C0"/>
                </a:solidFill>
              </a:defRPr>
            </a:pPr>
            <a:r>
              <a:t>"From hidden risks to total control"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Project Scope – 4 Integrated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PHASE 1: DISASSEMBLY (Turkey)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→ Complete teardown + tagging + preservation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PHASE 2: TRANSPORT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→ 11 Open top + 2 Flat rack + 16 HQ 40' containers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PHASE 3: REINSTALLATION (Visalia)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→ Mechanical assembly + laser alignment + peripheral connection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PHASE 4: MODERNIZATION + INTEGRATION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→ Siemens S7 + Drives + HMI + Conveyors + AMR + Ingetrans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Ingetrans – Automated Roll 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Automatic roll loading up to 3700 mm (no forklift)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Integrated loading/unloading ramp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Double transfer car + rails + catenary system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Complete electrical cabinets + proprietary software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Assembly + 4 x 40' containers transport included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INVESTMENT: $1.14M USD (sale price)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70C0"/>
                </a:solidFill>
              </a:defRPr>
            </a:pPr>
            <a:r>
              <a:t>"Reduced manual handling + increased safety"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Conveyors &amp; AMR – Bottleneck-Free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Double output line with strappers → $900K USD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AMR reception conveyor + waste movement → $550K USD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Intelligent WIP buffer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Integration with existing AAR stacker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Continuous flow to converting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70C0"/>
                </a:solidFill>
              </a:defRPr>
            </a:pPr>
            <a:r>
              <a:t>"The corrugator never stops due to downstream accumulation"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Peripherals &amp; Engineering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PERIPHERALS (included):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Flexamix adhesive kitchen → $275K purchase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Boiler + steam tubes → $300K + $250K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Complete steam tube assembly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SERVICES (included):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Full disassembly (Turkey) → $135K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Complete installation (USA) → $270K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Electrical modernization (Siemens S7) → $155K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Project management + travel → $66.6K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Measurable ROI – OEE-Driven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QUANTIFIABLE BENEFITS: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Downtime reduction from obsolescence: -70%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Sustained speed increase: 250 → 300 mpm (+20%)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Setup time reduction: -30%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Unplanned stops from parts unavailability: ELIMINATED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Maintenance cost reduction: -25%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ESTIMATED PAYBACK: &lt;18 MONTHS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TOTAL INVESTMENT: ~$7M USD (equipment + services + engineering)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70C0"/>
                </a:solidFill>
              </a:defRPr>
            </a:pPr>
            <a:r>
              <a:t>"Focus on what impacts your OEE"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Service &amp; Maintenance – Recurring Revenue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Current Service Capacity: 2,000 hours/year (50km radius)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Target Service Capacity: 24,500 hours/year (14 technicians)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SERVICE OFFERINGS: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✓ Preventive maintenance contracts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✓ Spare parts supply (OEM-agnostic)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✓ Remote diagnostics and support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✓ Emergency on-site intervention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✓ Training for plant personnel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Goal: Grow from $0.2M to $1.1M+ annual service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Knowledge Driven – Every Project Makes Us Smarter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OUR TRACK RECORD: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19 years of engineering excellence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65+ corrugated plants in Spain (AFCO ecosystem)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Reference projects: International Paper, Saica, DS Smith, Smurfit WestRock, Hinojosa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USA PRESENCE: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Linetex – Local agent in USA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Active projects with US packaging integrators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Proximity support for PSC Visalia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TEAM: 9 engineers + 2 commercial + Linetex 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70C0"/>
                </a:solidFill>
              </a:defRPr>
            </a:pPr>
            <a:r>
              <a:t>"Faster than OEMs · More reliable than low-cost"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Timeline – ~9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Engineering + FAT: ████████ 8 weeks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Disassembly (Turkey): ████ 4 weeks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Shipping (Turkey → Visalia): ██████ 6 weeks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Mechanical reinstallation: ████████ 8 weeks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Electrical modernization + software: ██████ 6 weeks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Commissioning + SAT: ████ 4 weeks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TOTAL ESTIMATED: 36 weeks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1. Layout validation (onsite meeting at Visalia or remote)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2. Final scope definition (detailed engineering)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3. Final economic proposal with signatures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4. Engineering start (8 weeks before disassembly)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5. Financing plan discussion (if applicable)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CONTACTS: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Diego Garcia (Ingecart) – Technical &amp; commercial director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Linetex USA – Local agent &amp; contractual support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• Enrique Verduzco (PSC) – Technical counterpart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Why Ingecart + Linetex?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✓ Real corrugated experience – Dozens of projects in Europe and USA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✓ Turnkey approach – From disassembly to production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✓ Real AMR integration – Not theoretical, we make it work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✓ Local USA support – Linetex + available engineers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✓ Proven success cases – International Paper, Saica, DS Smith</a:t>
            </a:r>
          </a:p>
          <a:p>
            <a:pPr>
              <a:spcAft>
                <a:spcPts val="800"/>
              </a:spcAft>
              <a:defRPr sz="1500">
                <a:solidFill>
                  <a:srgbClr val="505050"/>
                </a:solidFill>
              </a:defRPr>
            </a:pPr>
            <a:r>
              <a:t>✓ Agile &amp; reliable – Faster than OEMs, more reliable than low-cost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Solving Real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Bottlenecks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 Corrugated Plants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</a:p>
          <a:p>
            <a:pPr algn="ctr">
              <a:spcAft>
                <a:spcPts val="300"/>
              </a:spcAft>
              <a:defRPr sz="1000" b="1">
                <a:solidFill>
                  <a:srgbClr val="0070C0"/>
                </a:solidFill>
              </a:defRPr>
            </a:pPr>
            <a:r>
              <a:t>Industrial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Intelligence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Applied to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505050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850"/>
                </a:solidFill>
              </a:defRPr>
            </a:pPr>
            <a:r>
              <a:t>Investment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BHS CORRUGATOR (reused): $950K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SERVICES (disassembly, transport, installation, PM): $1.2M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PERIPHERALS (kitchen, boiler, piping): $1.1M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CONVEYORS + AMR: $1.45M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INGETRANS (automated loading): $1.32M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CIVIL WORK + PERMITS: $900K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TOTAL ESTIMATED: ~$6.92M USD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PAYMENT STRUCTURE: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30% with PO | 30% installation start | 30% commissioning | 10% SAT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Ingecart · Engineering &amp; Auditing · Tailored Automation &amp; Intralogistics</a:t>
            </a:r>
          </a:p>
          <a:p>
            <a:r>
              <a:t>Linetex USA · Local Support · Commercial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Solving Real Bottlenecks in Corrugated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Industrial Intelligence Applied to Performance</a:t>
            </a:r>
          </a:p>
          <a:p/>
          <a:p>
            <a:r>
              <a:t>Thank You |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754880"/>
            <a:ext cx="48764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