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" Type="http://schemas.openxmlformats.org/officeDocument/2006/relationships/printerSettings" Target="printerSettings/printerSettings1.bin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8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  <a:latin typeface="Montserrat"/>
              </a:defRPr>
            </a:pPr>
            <a:r>
              <a:t>PSC VISALIA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>
                <a:solidFill>
                  <a:srgbClr val="FF8C00"/>
                </a:solidFill>
                <a:latin typeface="Segoe UI"/>
              </a:defRPr>
            </a:pPr>
            <a:r>
              <a:t>BHS JETS 300-2500 II</a:t>
            </a:r>
            <a:br/>
            <a:r>
              <a:t>Strategic Relocation &amp; Modernization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2F6FC"/>
                </a:solidFill>
                <a:latin typeface="Segoe UI"/>
              </a:defRPr>
            </a:pPr>
            <a:r>
              <a:t>Investment USD 6.5M | May 2026 - Feb 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850"/>
          </a:solidFill>
          <a:ln>
            <a:solidFill>
              <a:srgbClr val="002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ontserrat"/>
              </a:defRPr>
            </a:pPr>
            <a:r>
              <a:t>Decision: Proceed with Conditions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371600" cy="36576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✓ Strong value case: capacity recovery + risk reduction + modernization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✓ Phased execution model supports cash control and milestone tracking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✓ Technology platform is AMR-ready and automation-ready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⏳ GATES TO CLOSE: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• Technical: Site survey + utility confirmation + final layout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• Commercial: Reconcile CAPEX basis + freeze scope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• Execution: Secure BHS support letter + logistics + commissioning ownership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850"/>
          </a:solidFill>
          <a:ln>
            <a:solidFill>
              <a:srgbClr val="002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ontserrat"/>
              </a:defRPr>
            </a:pPr>
            <a:r>
              <a:t>Not a Second-Hand Purchase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371600" cy="36576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🔄 Recover and redeploy an industrial asset with known technical history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🔧 Rebuild around current control and handling standards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🛡️  Reduce manual traffic and operational risk at corrugator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🚀 Create plant flow ready for future automation and serviceability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This is controlled relocation + modernization = operational reset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850"/>
          </a:solidFill>
          <a:ln>
            <a:solidFill>
              <a:srgbClr val="002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ontserrat"/>
              </a:defRPr>
            </a:pPr>
            <a:r>
              <a:t>Value Layers in This Investment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371600" cy="36576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1. Rebuilt corrugated line with proven BHS base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2. Cleaner and safer handling model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3. More stable flow between corrugator, WIP, and conversion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4. Serviceable architecture for maintenance and future upgrades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5. Commercial project framework (not isolated equipment buys)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850"/>
          </a:solidFill>
          <a:ln>
            <a:solidFill>
              <a:srgbClr val="002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ontserrat"/>
              </a:defRPr>
            </a:pPr>
            <a:r>
              <a:t>Six Blocks of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371600" cy="36576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① Core Line: BHS corrugator 2500mm, duplex configuration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② Services: Disassembly, transport, assembly, commissioning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③ Peripherals: Glue kitchen, boiler, steam tubes, utilities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④ Intralogistics: Conveyors, WIP handling, output flow redesign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⑤ Ingetrans: Automated reel handling and internal transport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⑥ Civil &amp; Permits: Site preparation for installation and utilities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850"/>
          </a:solidFill>
          <a:ln>
            <a:solidFill>
              <a:srgbClr val="002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ontserrat"/>
              </a:defRPr>
            </a:pPr>
            <a:r>
              <a:t>Strategic Rationale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371600" cy="36576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029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Segoe UI"/>
              </a:defRPr>
            </a:pPr>
            <a:r>
              <a:t>TECHNICAL DE-RISKING: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Segoe UI"/>
              </a:defRPr>
            </a:pPr>
            <a:r>
              <a:t>• Modernize legacy base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Segoe UI"/>
              </a:defRPr>
            </a:pPr>
            <a:r>
              <a:t>• Simplify controls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Segoe UI"/>
              </a:defRPr>
            </a:pPr>
            <a:r>
              <a:t>• Reduce spare-parts complexity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Segoe UI"/>
              </a:defRPr>
            </a:pPr>
            <a:r>
              <a:t>SAFETY &amp; TRAFFIC: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Segoe UI"/>
              </a:defRPr>
            </a:pPr>
            <a:r>
              <a:t>• Reduce forklift traffic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Segoe UI"/>
              </a:defRPr>
            </a:pPr>
            <a:r>
              <a:t>• Decrease uncontrolled circulation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Segoe UI"/>
              </a:defRPr>
            </a:pPr>
            <a:r>
              <a:t>• Lower reel handling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Segoe UI"/>
              </a:defRPr>
            </a:pPr>
            <a:r>
              <a:t>PLANT PRODUCTIVITY: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Segoe UI"/>
              </a:defRPr>
            </a:pPr>
            <a:r>
              <a:t>• More real line capacity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Segoe UI"/>
              </a:defRPr>
            </a:pPr>
            <a:r>
              <a:t>• Fewer interruptions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Segoe UI"/>
              </a:defRPr>
            </a:pPr>
            <a:r>
              <a:t>• Better production rhythm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Segoe UI"/>
              </a:defRPr>
            </a:pPr>
            <a:r>
              <a:t>SCALABILITY: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Segoe UI"/>
              </a:defRPr>
            </a:pPr>
            <a:r>
              <a:t>• AMR-ready architecture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Segoe UI"/>
              </a:defRPr>
            </a:pPr>
            <a:r>
              <a:t>• Automation-ready layout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Segoe UI"/>
              </a:defRPr>
            </a:pPr>
            <a:r>
              <a:t>• Prevents locked design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850"/>
          </a:solidFill>
          <a:ln>
            <a:solidFill>
              <a:srgbClr val="002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ontserrat"/>
              </a:defRPr>
            </a:pPr>
            <a:r>
              <a:t>Financial Foundation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371600" cy="36576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OBSERVED FIGURES (to reconcile):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• Internal working sheet: USD 7,873,480 (with tax)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• Cost base: USD 5,439,600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• Earlier deck reference: ~USD 6.92M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• Target scope: USD 6.5M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⚠️  MUST RECONCILE before final approval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Commercial team must present ONE approved number + scope + payment structure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850"/>
          </a:solidFill>
          <a:ln>
            <a:solidFill>
              <a:srgbClr val="002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ontserrat"/>
              </a:defRPr>
            </a:pPr>
            <a:r>
              <a:t>Phased Execution for Cash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371600" cy="36576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Advantage: Avoids single large lump-sum purchase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Advantage: Ties payments to visible milestones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Phases: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• Engineering → Disassembly → Transport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• Upgrade → Installation → Commissioning → Training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This structure should be maintained in final agreement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850"/>
          </a:solidFill>
          <a:ln>
            <a:solidFill>
              <a:srgbClr val="002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ontserrat"/>
              </a:defRPr>
            </a:pPr>
            <a:r>
              <a:t>Expected Benefits for PSC Visalia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371600" cy="36576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✓ Lower manual traffic around corrugator area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✓ Better control of reels, WIP, and line-out flow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✓ Reduced dependency on obsolete equipment behavior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✓ Cleaner maintenance and serviceability model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✓ Stronger plant safety posture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✓ Better scalability for future automation layers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850"/>
          </a:solidFill>
          <a:ln>
            <a:solidFill>
              <a:srgbClr val="002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ontserrat"/>
              </a:defRPr>
            </a:pPr>
            <a:r>
              <a:t>Critical Risks to Close - Priority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371600" cy="36576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🚨 Risk 1: Site survey missing or incomplete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→ Impact: Layout confirmation delays entire timeline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→ Mitigation: Commission survey by Q2 2026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🚨 Risk 2: Utility capacity not confirmed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→ Impact: Could require infrastructure upgrades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→ Mitigation: Final electrical/steam/civil assessment now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🚨 Risk 3: BHS support letter not formalized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→ Impact: Post-install service at risk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→ Mitigation: Obtain written BHS commitment before release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850"/>
          </a:solidFill>
          <a:ln>
            <a:solidFill>
              <a:srgbClr val="002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ontserrat"/>
              </a:defRPr>
            </a:pPr>
            <a:r>
              <a:t>Critical Risks to Close - Priority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371600" cy="36576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🚨 Risk 4: CAPEX figure not reconciled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→ Impact: Approval gateway failure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→ Mitigation: Align PDF, Excel, and user target by next review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🚨 Risk 5: Baseline OEE not visible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→ Impact: Cannot validate hard ROI claim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→ Mitigation: Establish pre-install metrics for comparison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Key: Address all gates before executive sign-off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850"/>
          </a:solidFill>
          <a:ln>
            <a:solidFill>
              <a:srgbClr val="002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ontserrat"/>
              </a:defRPr>
            </a:pPr>
            <a:r>
              <a:t>Three-Gate Approval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371600" cy="36576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GATE 1: TECHNICAL VALIDATION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✓ Site survey approved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✓ Utility check completed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✓ Final layout confirmed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GATE 2: COMMERCIAL VALIDATION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✓ Scope frozen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✓ Investment amount reconciled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✓ Payment schedule closed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GATE 3: EXECUTION READINESS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✓ BHS support formalized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✓ Logistics plan documented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✓ Commissioning ownership assigned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850"/>
          </a:solidFill>
          <a:ln>
            <a:solidFill>
              <a:srgbClr val="002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ontserrat"/>
              </a:defRPr>
            </a:pPr>
            <a:r>
              <a:t>Strategic Industrial Transformation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371600" cy="36576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TREAT THIS AS: Strategic project (not commodity purchase)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VALUE CASE IS STRONG because it combines: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• Capacity recovery from proven asset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• Risk reduction through modernization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• Layout modernization in one integrated move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ONLY BLOCKER: Reconcile capex basis + validate site readiness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RECOMMENDATION: Conditional approval pending three-gate closure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850"/>
          </a:solidFill>
          <a:ln>
            <a:solidFill>
              <a:srgbClr val="002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ontserrat"/>
              </a:defRPr>
            </a:pPr>
            <a:r>
              <a:t>Project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371600" cy="36576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2850"/>
                </a:solidFill>
                <a:latin typeface="Montserrat"/>
              </a:defRPr>
            </a:pPr>
            <a:r>
              <a:t>Asset &amp;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188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2850"/>
                </a:solidFill>
                <a:latin typeface="Montserrat"/>
              </a:defRPr>
            </a:pPr>
            <a:r>
              <a:t>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188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2850"/>
                </a:solidFill>
                <a:latin typeface="Montserrat"/>
              </a:defRPr>
            </a:pPr>
            <a:r>
              <a:t>Timeline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Segoe UI"/>
              </a:defRPr>
            </a:pPr>
            <a:r>
              <a:t>BHS corrugator 2500mm class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6459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Segoe UI"/>
              </a:defRPr>
            </a:pPr>
            <a:r>
              <a:t>Up to 300 m/min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6459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Segoe UI"/>
              </a:defRPr>
            </a:pPr>
            <a:r>
              <a:t>Turnkey + modernization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Segoe UI"/>
              </a:defRPr>
            </a:pPr>
            <a:r>
              <a:t>Ingecart + Linetex (USA)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1031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Segoe UI"/>
              </a:defRPr>
            </a:pPr>
            <a:r>
              <a:t>May 2026 - Feb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1031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Segoe UI"/>
              </a:defRPr>
            </a:pPr>
            <a:r>
              <a:t>9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850"/>
          </a:solidFill>
          <a:ln>
            <a:solidFill>
              <a:srgbClr val="002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ontserrat"/>
              </a:defRPr>
            </a:pPr>
            <a:r>
              <a:t>Immediate Actions Required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371600" cy="36576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Week 1-2: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• Commission site survey + schedule utility assessment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• Request formal BHS support letter + relocation terms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Week 3-4: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• Reconcile CAPEX (align PDF, Excel, target)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• Freeze scope definition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• Establish payment schedule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Week 5-6: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• Present reconciled case to Capex Committee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t>  • Obtain three-gate approvals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8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  <a:latin typeface="Montserrat"/>
              </a:defRPr>
            </a:pPr>
            <a:r>
              <a:t>Ready for Approval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>
                <a:solidFill>
                  <a:srgbClr val="FF8C00"/>
                </a:solidFill>
                <a:latin typeface="Segoe UI"/>
              </a:defRPr>
            </a:pPr>
            <a:r>
              <a:t>Strong value case | Controlled execution | Clear pathway 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2F6FC"/>
                </a:solidFill>
                <a:latin typeface="Segoe UI"/>
              </a:defRPr>
            </a:pPr>
            <a:r>
              <a:t>PSC VISALIA BHS 98 | Investment Decision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