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Solving Real Bottlenecks</a:t>
            </a:r>
          </a:p>
          <a:p>
            <a:r>
              <a:t>in Corrugated Plants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Industrial Intelligence Applied to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8C00"/>
                </a:solidFill>
              </a:defRPr>
            </a:pPr>
            <a:r>
              <a:t>PSC VISALIA PROJECT | Complete Relocation + Modernization +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INGECART  |  LINETEX USA  |  PACIFIC SOUTHWEST CONTAINER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6446520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2850"/>
                </a:solidFill>
              </a:defRPr>
            </a:pPr>
            <a:r>
              <a:t>Solving Real Bottlenecks in Corrugated Plants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Industrial Intelligence Applied to Performance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2468880" cy="17373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3774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395728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850"/>
                </a:solidFill>
              </a:defRPr>
            </a:pPr>
            <a:r>
              <a:t>FASTER THAN OEMs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C3C3C"/>
                </a:solidFill>
              </a:defRPr>
            </a:pPr>
            <a:r>
              <a:t>Agile engineering and</a:t>
            </a:r>
          </a:p>
          <a:p>
            <a:r>
              <a:t>rapid implementation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286000"/>
            <a:ext cx="2468880" cy="17373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23774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395728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850"/>
                </a:solidFill>
              </a:defRPr>
            </a:pPr>
            <a:r>
              <a:t>MORE RELIABLE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292608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C3C3C"/>
                </a:solidFill>
              </a:defRPr>
            </a:pPr>
            <a:r>
              <a:t>Robust solutions built</a:t>
            </a:r>
          </a:p>
          <a:p>
            <a:r>
              <a:t>to perform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286000"/>
            <a:ext cx="2468880" cy="17373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23774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395728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850"/>
                </a:solidFill>
              </a:defRPr>
            </a:pPr>
            <a:r>
              <a:t>MEASURABLE ROI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92608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C3C3C"/>
                </a:solidFill>
              </a:defRPr>
            </a:pPr>
            <a:r>
              <a:t>Focus on what impacts</a:t>
            </a:r>
          </a:p>
          <a:p>
            <a:r>
              <a:t>your OEE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2286000"/>
            <a:ext cx="2468880" cy="17373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0848" y="23774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395728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2850"/>
                </a:solidFill>
              </a:defRPr>
            </a:pPr>
            <a:r>
              <a:t>KNOWLEDGE DRIVEN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92608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C3C3C"/>
                </a:solidFill>
              </a:defRPr>
            </a:pPr>
            <a:r>
              <a:t>Every project makes</a:t>
            </a:r>
          </a:p>
          <a:p>
            <a:r>
              <a:t>us smarter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6446520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850"/>
                </a:solidFill>
              </a:defRPr>
            </a:pPr>
            <a:r>
              <a:t>Executive Summary – Turnkey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6459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PROJECT OVERVIEW: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Relocate BHS corrugator (1997, Turkey → Visalia, California)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Complete obsolescence elimination (Siemens S5 → S7)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Full downstream automation: Ingetrans, Conveyors, AMR, WIP buffer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500" b="1">
                <a:solidFill>
                  <a:srgbClr val="0070C0"/>
                </a:solidFill>
              </a:defRPr>
            </a:pPr>
            <a:r>
              <a:t>INVESTMENT: ~$7M USD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500" b="1">
                <a:solidFill>
                  <a:srgbClr val="0070C0"/>
                </a:solidFill>
              </a:defRPr>
            </a:pPr>
            <a:r>
              <a:t>KEY IMPACT METRICS: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-70% downtime risk from obsolescence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+20% sustained speed (250 → 300 mpm)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MES/ERP-ready platform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Estimated payback: &lt;18 months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600" i="1">
                <a:solidFill>
                  <a:srgbClr val="FF8C00"/>
                </a:solidFill>
              </a:defRPr>
            </a:pPr>
            <a:r>
              <a:t>"Not just moving a machine – transforming the operation"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6446520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850"/>
                </a:solidFill>
              </a:defRPr>
            </a:pPr>
            <a:r>
              <a:t>Why This Project? – Strategic Necessity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6459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ELIMINATE OBSOLESCENCE: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Current S5 PLC – No factory support since 2015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Critical spare parts unavailable in global market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Weeks of unplanned downtime risk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INCREASE PRODUCTIVITY: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Sustained 300 mpm vs current 250 mpm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Real-time diagnostics and predictive maintenance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Estimated 30% setup time reduction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PREPARE FOR THE FUTURE: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Open Siemens S7 architecture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MES/ERP integration ready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Foundation for full AMR/WIP automation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6446520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850"/>
                </a:solidFill>
              </a:defRPr>
            </a:pPr>
            <a:r>
              <a:t>Ingecart by the Numbers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6459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56032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8C00"/>
                </a:solidFill>
              </a:defRPr>
            </a:pPr>
            <a:r>
              <a:t>1,268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38328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C3C3C"/>
                </a:solidFill>
              </a:defRPr>
            </a:pPr>
            <a:r>
              <a:t>Projects Completed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8C00"/>
                </a:solidFill>
              </a:defRPr>
            </a:pPr>
            <a: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38328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C3C3C"/>
                </a:solidFill>
              </a:defRPr>
            </a:pPr>
            <a:r>
              <a:t>Years of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56032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8C00"/>
                </a:solidFill>
              </a:defRPr>
            </a:pPr>
            <a:r>
              <a:t>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38328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C3C3C"/>
                </a:solidFill>
              </a:defRPr>
            </a:pPr>
            <a:r>
              <a:t>International Agreements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56032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8C00"/>
                </a:solidFill>
              </a:defRPr>
            </a:pPr>
            <a:r>
              <a:t>194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338328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C3C3C"/>
                </a:solidFill>
              </a:defRPr>
            </a:pPr>
            <a:r>
              <a:t>Installations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6446520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850"/>
                </a:solidFill>
              </a:defRPr>
            </a:pPr>
            <a:r>
              <a:t>Obsolescence Elimination – Siemens S7 Migration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6459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2850"/>
                </a:solidFill>
              </a:defRPr>
            </a:pPr>
            <a:r>
              <a:t>BEFORE (Current State in Turkey):</a:t>
            </a:r>
          </a:p>
          <a:p>
            <a:pPr>
              <a:spcAft>
                <a:spcPts val="600"/>
              </a:spcAft>
              <a:defRPr sz="1300">
                <a:solidFill>
                  <a:srgbClr val="3C3C3C"/>
                </a:solidFill>
              </a:defRPr>
            </a:pPr>
            <a:r>
              <a:t>• Mixed S5/S7 control architecture</a:t>
            </a:r>
          </a:p>
          <a:p>
            <a:pPr>
              <a:spcAft>
                <a:spcPts val="600"/>
              </a:spcAft>
              <a:defRPr sz="1300">
                <a:solidFill>
                  <a:srgbClr val="3C3C3C"/>
                </a:solidFill>
              </a:defRPr>
            </a:pPr>
            <a:r>
              <a:t>• No factory support for S5</a:t>
            </a:r>
          </a:p>
          <a:p>
            <a:pPr>
              <a:spcAft>
                <a:spcPts val="600"/>
              </a:spcAft>
              <a:defRPr sz="1300">
                <a:solidFill>
                  <a:srgbClr val="3C3C3C"/>
                </a:solidFill>
              </a:defRPr>
            </a:pPr>
            <a:r>
              <a:t>• DC drives with obsolete components</a:t>
            </a:r>
          </a:p>
          <a:p>
            <a:pPr>
              <a:spcAft>
                <a:spcPts val="600"/>
              </a:spcAft>
              <a:defRPr sz="1300">
                <a:solidFill>
                  <a:srgbClr val="3C3C3C"/>
                </a:solidFill>
              </a:defRPr>
            </a:pPr>
            <a:r>
              <a:t>• Legacy HMI with limited diagnostics</a:t>
            </a:r>
          </a:p>
          <a:p>
            <a:pPr>
              <a:spcAft>
                <a:spcPts val="600"/>
              </a:spcAft>
              <a:defRPr sz="1300">
                <a:solidFill>
                  <a:srgbClr val="3C3C3C"/>
                </a:solidFill>
              </a:defRPr>
            </a:pPr>
            <a:r>
              <a:t>• Spare parts unavailable globally</a:t>
            </a:r>
          </a:p>
          <a:p>
            <a:pPr>
              <a:spcAft>
                <a:spcPts val="600"/>
              </a:spcAft>
              <a:defRPr sz="1300">
                <a:solidFill>
                  <a:srgbClr val="3C3C3C"/>
                </a:solidFill>
              </a:defRPr>
            </a:pPr>
            <a:r>
              <a:t>• High risk of extended downtime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2850"/>
                </a:solidFill>
              </a:defRPr>
            </a:pPr>
            <a:r>
              <a:t>AFTER (Installed in Visalia):</a:t>
            </a:r>
          </a:p>
          <a:p>
            <a:pPr>
              <a:spcAft>
                <a:spcPts val="600"/>
              </a:spcAft>
              <a:defRPr sz="1300">
                <a:solidFill>
                  <a:srgbClr val="3C3C3C"/>
                </a:solidFill>
              </a:defRPr>
            </a:pPr>
            <a:r>
              <a:t>• Unified Siemens S7 – 15+ year future</a:t>
            </a:r>
          </a:p>
          <a:p>
            <a:pPr>
              <a:spcAft>
                <a:spcPts val="600"/>
              </a:spcAft>
              <a:defRPr sz="1300">
                <a:solidFill>
                  <a:srgbClr val="3C3C3C"/>
                </a:solidFill>
              </a:defRPr>
            </a:pPr>
            <a:r>
              <a:t>• Full factory support and updates</a:t>
            </a:r>
          </a:p>
          <a:p>
            <a:pPr>
              <a:spcAft>
                <a:spcPts val="600"/>
              </a:spcAft>
              <a:defRPr sz="1300">
                <a:solidFill>
                  <a:srgbClr val="3C3C3C"/>
                </a:solidFill>
              </a:defRPr>
            </a:pPr>
            <a:r>
              <a:t>• Modern AC drives + motion control</a:t>
            </a:r>
          </a:p>
          <a:p>
            <a:pPr>
              <a:spcAft>
                <a:spcPts val="600"/>
              </a:spcAft>
              <a:defRPr sz="1300">
                <a:solidFill>
                  <a:srgbClr val="3C3C3C"/>
                </a:solidFill>
              </a:defRPr>
            </a:pPr>
            <a:r>
              <a:t>• Touchscreen HMI + SCADA ready</a:t>
            </a:r>
          </a:p>
          <a:p>
            <a:pPr>
              <a:spcAft>
                <a:spcPts val="600"/>
              </a:spcAft>
              <a:defRPr sz="1300">
                <a:solidFill>
                  <a:srgbClr val="3C3C3C"/>
                </a:solidFill>
              </a:defRPr>
            </a:pPr>
            <a:r>
              <a:t>• Global spare parts availability</a:t>
            </a:r>
          </a:p>
          <a:p>
            <a:pPr>
              <a:spcAft>
                <a:spcPts val="600"/>
              </a:spcAft>
              <a:defRPr sz="1300">
                <a:solidFill>
                  <a:srgbClr val="3C3C3C"/>
                </a:solidFill>
              </a:defRPr>
            </a:pPr>
            <a:r>
              <a:t>• Predictive maintenance capable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6446520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850"/>
                </a:solidFill>
              </a:defRPr>
            </a:pPr>
            <a:r>
              <a:t>Project Scope – 4 Integrated Phases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6459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PHASE 1: DISASSEMBLY (Turkey)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→ Complete teardown + component tagging + preservation for transport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PHASE 2: TRANSPORT (Turkey → Visalia)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→ 11 Open top + 2 Flat rack + 16 HQ 40' containers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→ Full packaging and export documentation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PHASE 3: REINSTALLATION (Visalia)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→ Mechanical assembly + laser alignment + peripheral connection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PHASE 4: MODERNIZATION + INTEGRATION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→ Siemens S7 + new drives + HMI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→ Conveyors + AMR + Ingetrans + WIP buffer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6446520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850"/>
                </a:solidFill>
              </a:defRPr>
            </a:pPr>
            <a:r>
              <a:t>Ingetrans – Automated Roll Loading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6459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CAPABILITIES: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Automatic roll loading up to 3,700 mm diameter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No forklift intervention – improved safety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Integrated loading/unloading ramp system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Double transfer car + rails + catenary system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Complete electrical cabinets + proprietary software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Assembly + 4 x 40' containers transport included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500" b="1">
                <a:solidFill>
                  <a:srgbClr val="0070C0"/>
                </a:solidFill>
              </a:defRPr>
            </a:pPr>
            <a:r>
              <a:t>INVESTMENT: $1.14M USD (sale price)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600" i="1">
                <a:solidFill>
                  <a:srgbClr val="FF8C00"/>
                </a:solidFill>
              </a:defRPr>
            </a:pPr>
            <a:r>
              <a:t>"Reduced manual handling + increased operational safety"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6446520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850"/>
                </a:solidFill>
              </a:defRPr>
            </a:pPr>
            <a:r>
              <a:t>Conveyors &amp; AMR – Intelligent Material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6459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SYSTEM COMPONENTS: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Double output line with integrated strappers → $900K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AMR reception conveyor + waste movement → $550K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Intelligent WIP buffer between corrugator and converting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Full integration with existing AAR stacker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OPERATIONAL BENEFITS: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Continuous flow to converting area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No accumulation stoppages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Real-time production tracking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600" i="1">
                <a:solidFill>
                  <a:srgbClr val="FF8C00"/>
                </a:solidFill>
              </a:defRPr>
            </a:pPr>
            <a:r>
              <a:t>"The corrugator never stops due to downstream accumulation"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6446520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850"/>
                </a:solidFill>
              </a:defRPr>
            </a:pPr>
            <a:r>
              <a:t>Measurable ROI – Focus on OEE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6459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QUANTIFIABLE BENEFITS: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Downtime reduction from obsolescence: -70%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Sustained speed increase: 250 → 300 mpm (+20%)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Setup time reduction: -30%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Unplanned stops from parts unavailability: ELIMINATED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Maintenance cost reduction: -25%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Energy efficiency improvement: -15% (new drives)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ESTIMATED PAYBACK: &lt;18 MONTHS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TOTAL INVESTMENT: ~$7M USD (equipment + services + engineering)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600" i="1">
                <a:solidFill>
                  <a:srgbClr val="FF8C00"/>
                </a:solidFill>
              </a:defRPr>
            </a:pPr>
            <a:r>
              <a:t>"Focus on what impacts your OEE"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6446520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850"/>
                </a:solidFill>
              </a:defRPr>
            </a:pPr>
            <a:r>
              <a:t>Project Timeline – ~9 Months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6459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Engineering + FAT: ████████ 8 weeks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→ Detailed design, software development, factory testing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Disassembly (Turkey): ████ 4 weeks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→ On-site teardown, tagging, container loading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Shipping (Turkey → Visalia): ██████ 6 weeks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→ Ocean freight, customs clearance, delivery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Mechanical Reinstallation: ████████ 8 weeks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→ Assembly, alignment, mechanical integration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Electrical Modernization + Software: ██████ 6 weeks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→ S7 installation, drives, HMI, commissioning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Site Acceptance Test + Ramp-up: ████ 4 weeks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→ Validation, training, production handover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TOTAL ESTIMATED: 36 weeks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6446520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850"/>
                </a:solidFill>
              </a:defRPr>
            </a:pPr>
            <a:r>
              <a:t>Quality Assurance – FAT &amp; SAT Process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6459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FACTORY ACCEPTANCE TEST (FAT):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Conducted at Ingecart partner facilities before shipping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Full software and control system validation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Customer witness opportunity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SITE ACCEPTANCE TEST (SAT):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Conducted at PSC Visalia after installation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Performance validation against KPIs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Joint sign-off with customer team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POST-COMMISSIONING SUPPORT: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2 weeks intensive on-site support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Remote diagnostics and monitoring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24/7 emergency response availability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6446520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850"/>
                </a:solidFill>
              </a:defRPr>
            </a:pPr>
            <a:r>
              <a:t>Investment 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6459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BHS CORRUGATOR (reused equipment): $950K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SERVICES (disassembly, transport, installation, PM): $1.2M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PERIPHERALS (Flexamix kitchen, boiler, steam piping): $1.1M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CONVEYORS + AMR SYSTEM: $1.45M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INGETRANS (automated loading system): $1.32M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CIVIL WORK + PERMITS (estimated): $900K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TOTAL ESTIMATED INVESTMENT: ~$6.92M USD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PROPOSED PAYMENT STRUCTURE: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30% with Purchase Order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30% upon installation start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30% upon commissioning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10% upon SAT completion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6446520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850"/>
                </a:solidFill>
              </a:defRPr>
            </a:pPr>
            <a:r>
              <a:t>Why Ingecart + Linetex?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6459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✓ REAL CORRUGATED EXPERIENCE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→ Dozens of projects across Europe and USA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→ 65+ corrugated plants in Spain (AFCO ecosystem)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✓ TRUE TURNKEY APPROACH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→ Single point of responsibility from disassembly to production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→ No finger-pointing between vendors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✓ PROVEN AMR INTEGRATION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→ Not theoretical – we make it work in production environments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✓ LOCAL USA SUPPORT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→ Linetex as local agent + available engineers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→ Rapid response times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✓ VERIFIED REFERENCES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→ International Paper, Saica, DS Smith, Smurfit WestRock, Hinojosa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600" i="1">
                <a:solidFill>
                  <a:srgbClr val="FF8C00"/>
                </a:solidFill>
              </a:defRPr>
            </a:pPr>
            <a:r>
              <a:t>"Faster than OEMs · More reliable than low-cost"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6446520"/>
            <a:ext cx="6705295" cy="182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SOLUTIONS DESIGNED FOR CORRUGATED PLANTS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850"/>
                </a:solidFill>
              </a:defRPr>
            </a:pPr>
            <a:r>
              <a:t>Next Steps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16459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IMMEDIATE ACTIONS: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1. Layout validation – Onsite or remote technical meeting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2. Final scope definition – Detailed engineering confirmation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3. Final economic proposal – With signatures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4. Engineering start – 8 weeks before disassembly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5. Financing plan discussion – If applicable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CONTACTS: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Diego Garcia (Ingecart) – Technical &amp; Commercial Director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  diego@ingecart.eu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Linetex USA – Local Agent &amp; Contractual Support</a:t>
            </a: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t>• Enrique Verduzco (PSC) – Technical Counterpart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Solving Real Bottlenecks</a:t>
            </a:r>
          </a:p>
          <a:p>
            <a:r>
              <a:t>in Corrugated Plants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Industrial Intelligence Applied to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8C00"/>
                </a:solidFill>
              </a:defRPr>
            </a:pPr>
            <a:r>
              <a:t>Thank You |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</a:defRPr>
            </a:pPr>
            <a:r>
              <a:t>Diego Garcia | diego@ingecart.eu | ingecart.eu</a:t>
            </a:r>
          </a:p>
          <a:p>
            <a:r>
              <a:t>Linetex USA | Local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