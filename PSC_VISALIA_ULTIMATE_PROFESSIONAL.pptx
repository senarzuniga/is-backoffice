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Solving Real Bottlenecks</a:t>
            </a:r>
          </a:p>
          <a:p>
            <a:r>
              <a:t>in Corrugated Plants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C8C8"/>
                </a:solidFill>
              </a:defRPr>
            </a:pPr>
            <a:r>
              <a:t>Industrial Intelligence Applied to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8C00"/>
                </a:solidFill>
              </a:defRPr>
            </a:pPr>
            <a:r>
              <a:t>PSC VISALIA PROJECT | Complete Relocation + Modernization +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96"/>
                </a:solidFill>
              </a:defRPr>
            </a:pPr>
            <a:r>
              <a:t>INGECART  |  LINETEX USA  |  PACIFIC SOUTHWEST CONTAINER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850"/>
                </a:solidFill>
              </a:defRPr>
            </a:pPr>
            <a:r>
              <a:t>Solving Real Bottlenecks in Corrugated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Industrial Intelligence Applied to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2468880" cy="17373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0428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850"/>
                </a:solidFill>
              </a:defRPr>
            </a:pPr>
            <a:r>
              <a:t>FASTER THAN OEMs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3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Agile engineering and</a:t>
            </a:r>
          </a:p>
          <a:p>
            <a:r>
              <a:t>rapid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194560"/>
            <a:ext cx="2468880" cy="17373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30428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850"/>
                </a:solidFill>
              </a:defRPr>
            </a:pPr>
            <a:r>
              <a:t>MORE 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83463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Robust solutions built</a:t>
            </a:r>
          </a:p>
          <a:p>
            <a:r>
              <a:t>to perform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2468880" cy="17373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30428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850"/>
                </a:solidFill>
              </a:defRPr>
            </a:pPr>
            <a:r>
              <a:t>MEASURABLE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3463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Focus on what impacts</a:t>
            </a:r>
          </a:p>
          <a:p>
            <a:r>
              <a:t>your OEE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194560"/>
            <a:ext cx="2468880" cy="1737360"/>
          </a:xfrm>
          <a:prstGeom prst="roundRect">
            <a:avLst/>
          </a:prstGeom>
          <a:solidFill>
            <a:srgbClr val="F8F8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30428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850"/>
                </a:solidFill>
              </a:defRPr>
            </a:pPr>
            <a:r>
              <a:t>KNOWLEDGE 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83463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Every project makes</a:t>
            </a:r>
          </a:p>
          <a:p>
            <a:r>
              <a:t>us smarter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Executive Summary – Turnkey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PROJECT OVERVIEW: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Relocate complete BHS corrugator (1997, Turkey → Visalia, California)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Complete obsolescence elimination (Siemens S5 → S7 unified architecture)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Full downstream automation: Ingetrans, Conveyors, AMR, WIP buffer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500" b="1">
                <a:solidFill>
                  <a:srgbClr val="0070C0"/>
                </a:solidFill>
              </a:defRPr>
            </a:pPr>
            <a:r>
              <a:t>KEY METRICS: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Total investment: $6.92M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Expected payback: &lt;18 months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Speed increase: 250 → 300 mpm (+20%)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Downtime reduction: -70% from obsolescence elimination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600" i="1">
                <a:solidFill>
                  <a:srgbClr val="FF8C00"/>
                </a:solidFill>
              </a:defRPr>
            </a:pPr>
            <a:r>
              <a:t>"Not just moving a machine – transforming the operation"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Strategic Necessity – Why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ELIMINATE CRITICAL OBSOLESCENCE: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S5 PLC – No factory support since 2015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Critical spare parts unavailable globally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Weeks of unplanned downtime risk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INCREASE PRODUCTIVITY &amp; OEE: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Sustained 300 mpm vs current 250 mpm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Real-time diagnostics and predictive maintenance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Estimated 30% setup time reduction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PREPARE FOR INDUSTRY 4.0: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Open Siemens S7 architecture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MES/ERP integration ready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Foundation for full AMR/WIP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Ingecart by the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Proven track record in corrugated packaging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1,268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Projects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Years of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International Agreements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860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</a:defRPr>
            </a:pPr>
            <a:r>
              <a:t>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Installations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Obsolescence Elimination – Siemens S7 Migration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BEFORE (Current State in Turkey)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Mixed S5/S7 control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No factory support for S5 PLCs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DC drives with obsolete components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Legacy HMI with limited diagnostics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Spare parts unavailable globally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High risk of extended downtime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• No remote diagnostics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AFTER (Installed in Visalia)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Unified Siemens S7 platform – 15+ year future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Full factory support and updates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Modern AC drives + motion control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Touchscreen HMI + SCADA ready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Global spare parts availability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Predictive maintenance capable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Remote diagnostics and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Project Scope – 4 Integrated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PHASE 1: DISASSEMBLY (Turkey)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Complete teardown + component tagging + preservation for transport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PHASE 2: TRANSPORT (Turkey → Visalia)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11 Open top + 2 Flat rack + 16 HQ 40' containers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Full packaging and export documentation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PHASE 3: REINSTALLATION (Visalia)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Mechanical assembly + laser alignment + peripheral connection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PHASE 4: MODERNIZATION +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Siemens S7 + new drives + HMI + SCADA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Ingetrans + Conveyors + AMR + WIP buffer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Ingetrans – Automated Roll Loading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SYSTEM CAPABILITIES: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Automatic roll loading up to 3,700 mm diameter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Zero forklift intervention – improved safety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Integrated loading/unloading ramp system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Double transfer car + rails + catenary system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Complete electrical cabinets + proprietary software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Assembly + 4 x 40' containers transport included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500" b="1">
                <a:solidFill>
                  <a:srgbClr val="0070C0"/>
                </a:solidFill>
              </a:defRPr>
            </a:pPr>
            <a:r>
              <a:t>INVESTMENT: $1,320,000 USD (sale price)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600" i="1">
                <a:solidFill>
                  <a:srgbClr val="FF8C00"/>
                </a:solidFill>
              </a:defRPr>
            </a:pPr>
            <a:r>
              <a:t>"Reduced manual handling + increased operational safety"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Conveyors &amp; AMR – Intelligent Material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SYSTEM COMPONENTS: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Double output line with integrated strappers → $900,000K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AMR reception conveyor + waste movement → $550,000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Intelligent WIP buffer between corrugator and converting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Full integration with existing AAR stacker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OPERATIONAL BENEFITS: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Continuous flow to converting area – no accumulation stoppages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Real-time production tracking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Reduced manual pallet movement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600" i="1">
                <a:solidFill>
                  <a:srgbClr val="FF8C00"/>
                </a:solidFill>
              </a:defRPr>
            </a:pPr>
            <a:r>
              <a:t>"The corrugator never stops due to downstream accumulation"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Peripherals &amp; Engineering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PERIPHERALS INCLUDED: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Flexamix adhesive kitchen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Complete boiler system + steam tubes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Full steam tube assembly and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ENGINEERING SERVICES INCLUDED: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Complete machine disassembly (Turkey)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Full installation and commissioning (USA)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Electrical modernization to Siemens S7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Project management + on-site supervision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TOTAL SERVICES INVESTMENT: $1,200,000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TOTAL PERIPHERALS: $1,100,000 USD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Measurable ROI – Focus on OEE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QUANTIFIABLE BENEFITS: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Downtime reduction from obsolescence: -70%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Sustained speed increase: 250 → 300 mpm (+20%)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Setup time reduction: -30%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Unplanned stops from parts unavailability: ELIMINATED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Maintenance cost reduction: -25%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Energy efficiency improvement: -15% (new AC drives)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ESTIMATED PAYBACK: &lt;18 MONTHS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TOTAL INVESTMENT: $6,920,000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600" i="1">
                <a:solidFill>
                  <a:srgbClr val="FF8C00"/>
                </a:solidFill>
              </a:defRPr>
            </a:pPr>
            <a:r>
              <a:t>"Focus on what impacts your OEE"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Project Timeline – ~9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Engineering + FAT: ████████ 8 weeks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Detailed design, software development, factory acceptance test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Disassembly (Turkey): ████ 4 weeks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On-site teardown, tagging, container loading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Shipping (Turkey → Visalia): ██████ 6 weeks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Ocean freight, customs clearance, delivery to site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Mechanical Reinstallation: ████████ 8 weeks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Assembly, laser alignment, mechanical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Electrical Modernization + Software: ██████ 6 weeks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S7 installation, drives, HMI, system commissioning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Site Acceptance Test + Ramp-up: ████ 4 weeks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Validation, training, production handover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TOTAL ESTIMATED: 36 weeks (9 months)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Quality Assurance – FAT &amp; SAT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FACTORY ACCEPTANCE TEST (FAT):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Conducted at Ingecart partner facilities before shipping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Full software and control system validation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Customer witness opportunity available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SITE ACCEPTANCE TEST (SAT):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Conducted at PSC Visalia after installation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Performance validation against agreed KPIs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Joint sign-off with customer operations team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POST-COMMISSIONING SUPPORT: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2 weeks intensive on-site support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Remote diagnostics and monitoring via secure VPN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24/7 emergency response availability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Investment Summary – Total Cost Breakdown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BHS CORRUGATOR (reused equipment): $950,000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SERVICES (disassembly, transport, installation, PM): $1,200,000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PERIPHERALS (Flexamix, boiler, steam piping): $1,100,000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CONVEYORS + AMR SYSTEM: $1,450,000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INGETRANS (automated roll loading): $1,320,000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CIVIL WORK + PERMITS (estimated): $900,000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TOTAL ESTIMATED INVESTMENT: $6,920,000 USD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PROPOSED PAYMENT STRUCTURE: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30% with Purchase Order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30% upon installation start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30% upon successful commissioning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10% upon SAT completion and handover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Why Ingecart + Linetex?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✓ REAL CORRUGATED EXPERIENCE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Dozens of projects across Europe and USA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194+ corrugated plants in Europe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✓ TRUE TURNKEY APPROACH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Single point of responsibility from disassembly to production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No finger-pointing between multiple vendors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✓ PROVEN AMR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Not theoretical – we make it work in production environments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✓ LOCAL USA SUPPORT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Linetex as local agent + available field engineers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Rapid response times – no overseas delays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✓ VERIFIED REFERENCES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→ International Paper, Saica, DS Smith, Smurfit WestRock, Hinojosa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600" i="1">
                <a:solidFill>
                  <a:srgbClr val="FF8C00"/>
                </a:solidFill>
              </a:defRPr>
            </a:pPr>
            <a:r>
              <a:t>"Faster than OEMs · More reliable than low-cost"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Technical Specifications – Key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CORRUGATOR SPECIFICATIONS: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BHS Jets 300-2500II, 2500 mm working width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Maximum speed: 300 mpm after modernization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Flute capabilities: B, C, E configurations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MODERNIZATION SCOPE: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Siemens S7-1500 series PLC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SINAMICS drives with motion control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SCADA-ready HMI with remote access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AUTOMATION SCOPE: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Ingetrans: 3,700 mm roll capacity, fully automated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Conveyors: Double output line with strappers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AMR: Fleet-ready infrastructure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UTILITIES REQUIRED: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Electrical: 480V, 3-phase, 60Hz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Steam: Integration with existing boiler system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Compressed air: Standard plant supply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Risk Mitigation &amp; Project Guarantees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OBSOLESCENCE RISK: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Eliminated via Siemens S7 migration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15+ years of guaranteed spare parts availability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SCHEDULE RISK: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Dedicated project manager assigned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Weekly progress reporting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Contingency built into timeline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PERFORMANCE RISK: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FAT before shipping ensures software quality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SAT with customer sign-off on KPIs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OPERATIONAL RISK: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Comprehensive training for your technicians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2 weeks on-site support after handover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24/7 remote support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Next Steps – Path to Project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IMMEDIATE ACTIONS: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1. Layout Validation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   → Onsite or remote technical meeting at Visalia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2. Final Scope Definition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   → Detailed engineering confirmation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3. Final Economic Proposal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   → Updated with any scope changes, ready for signatures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4. Engineering Start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   → 8 weeks before scheduled disassembly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5. Financing Plan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   → Discussion if lease or extended payment needed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CONTACT INFORMATION: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Diego Garcia | Technical &amp; Commercial Director | Ingecart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Email: diego@ingecart.eu | Web: ingecart.eu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Linetex USA | Local Agent &amp; Contractual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ttomAccent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Line"/>
          <p:cNvSpPr/>
          <p:nvPr/>
        </p:nvSpPr>
        <p:spPr>
          <a:xfrm>
            <a:off x="2743200" y="6419088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Text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2850"/>
                </a:solidFill>
              </a:defRPr>
            </a:pPr>
            <a:r>
              <a:t>References – Proven Track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INTERNATIONAL PAPER (USA/Europe):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Multiple Ingetrans installations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Ongoing service contracts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SAICA PACK (Spain):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AMR Systems deployment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Complete intralogistics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DS SMITH (Europe):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Easy Pack installations across multiple plants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Process optimization consulting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SMURFIT WESTROCK (Spain/USA):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Palletizer modernization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Control system upgrades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HINOJOSA PACKAGING GROUP (Spain):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Retal scrap management systems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  <a:r>
              <a:t>• Ongoing maintenance support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600" i="1">
                <a:solidFill>
                  <a:srgbClr val="FF8C00"/>
                </a:solidFill>
              </a:defRPr>
            </a:pPr>
            <a:r>
              <a:t>"Every project makes us smarter"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Solving Real Bottlenecks</a:t>
            </a:r>
          </a:p>
          <a:p>
            <a:r>
              <a:t>in Corrugated Plants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Industrial Intelligence Applied to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8C00"/>
                </a:solidFill>
              </a:defRPr>
            </a:pPr>
            <a:r>
              <a:t>Thank You |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Diego Garcia | diego@ingecart.eu | ingecart.eu</a:t>
            </a:r>
          </a:p>
          <a:p>
            <a:r>
              <a:t>Linetex USA | Local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