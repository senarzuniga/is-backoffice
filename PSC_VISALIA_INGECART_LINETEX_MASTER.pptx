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PROYECTO PSC VISALIA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" y="914400"/>
            <a:ext cx="466344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43000"/>
            <a:ext cx="3840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5385E"/>
                </a:solidFill>
                <a:latin typeface="Bahnschrift SemiBold"/>
              </a:rPr>
              <a:t>PSC VISALIA
PROYECTO CORRUGADORA 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374903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86F37"/>
                </a:solidFill>
                <a:latin typeface="Bahnschrift SemiBold"/>
              </a:rPr>
              <a:t>Modernizacion integral + reinstalacion + automatizacion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44368"/>
            <a:ext cx="374903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A34"/>
                </a:solidFill>
                <a:latin typeface="Aptos"/>
              </a:rPr>
              <a:t>Reposicionamiento de una linea BHS 2500 mm en USA con nuevo flujo logístico, nueva arquitectura de handling y una base comercial reforzada por Ingecart y Linetex.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297680"/>
            <a:ext cx="3474720" cy="1097280"/>
          </a:xfrm>
          <a:prstGeom prst="roundRect">
            <a:avLst/>
          </a:prstGeom>
          <a:solidFill>
            <a:srgbClr val="FCECEC"/>
          </a:solidFill>
          <a:ln>
            <a:solidFill>
              <a:srgbClr val="F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262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62E38"/>
                </a:solidFill>
                <a:latin typeface="Aptos"/>
              </a:rPr>
              <a:t>NARRATIVA COMERCIAL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548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A34"/>
                </a:solidFill>
                <a:latin typeface="Aptos"/>
              </a:rPr>
              <a:t>No es solo mover una maquina: es reconstruir capacidad, fiabilidad y automatizacion alrededor de un activo probado.</a:t>
            </a:r>
          </a:p>
        </p:txBody>
      </p:sp>
      <p:pic>
        <p:nvPicPr>
          <p:cNvPr id="15" name="Picture 14" descr="secondhand_p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868680"/>
            <a:ext cx="60807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RESUMEN EJECUTIVO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Resumen ejecutivo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Una propuesta para transformar disponibilidad, soporte y flujo operativo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81328"/>
            <a:ext cx="48463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22A34"/>
                </a:solidFill>
                <a:latin typeface="Aptos"/>
              </a:rPr>
              <a:t>El proyecto integra una corrugadora BHS 2500 mm de segunda mano con mejoras mecanicas, electricas y logísticas para relanzarla en Visalia con una operacion mucho mas ordenada y escalable.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Base instalada BHS con working width 2.500 mm y plataforma hasta 300 m/min.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Reinstalacion completa con desmontaje documentado, transporte, montaje y puesta en marcha.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Nueva capa de handling: conveyors, WIP, AMR-ready y home area automatizada.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Enfoque USA: Ingecart ejecuta; Linetex actua como canal comercial y cara local del proyecto.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481328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9592" y="1591056"/>
            <a:ext cx="1499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PLATAFORMA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1865376"/>
            <a:ext cx="14996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BHS 2500 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9592" y="2276856"/>
            <a:ext cx="149961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Wet-end y dry-end duplex con inventario completo de equipos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44968" y="1481328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1591056"/>
            <a:ext cx="14996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VELOCIDAD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865376"/>
            <a:ext cx="14996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300 m/min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276856"/>
            <a:ext cx="149961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Referencia del offer sheet y del roll stand IIM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74936" y="1481328"/>
            <a:ext cx="1783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9528" y="1591056"/>
            <a:ext cx="1453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CALENDARIO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9528" y="1865376"/>
            <a:ext cx="1453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May 26 - Feb 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2276856"/>
            <a:ext cx="145389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Curva de cobros y pagos ya modelada en los Excel de proyecto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315468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9592" y="3264408"/>
            <a:ext cx="24140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SUBTOTALES VISIBLES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9592" y="3538728"/>
            <a:ext cx="24140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&gt; USD 12.0M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9592" y="3950208"/>
            <a:ext cx="2414016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Suma de hojas revisadas: services, peripherals, conveyors e Ingetrans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68512" y="3154680"/>
            <a:ext cx="2889504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33104" y="326440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PIEZA CRITICA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38728"/>
            <a:ext cx="2560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Roll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3104" y="3950208"/>
            <a:ext cx="2560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Nuevo IIM shaftless hydraulic roll stand y reorganizacion de alimentacion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0" y="5010912"/>
            <a:ext cx="5843016" cy="749808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184648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Mensaje de venta: de-risking tecnico + continuidad industrial + automatizacion interna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Objetivos del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Que debe conseguir PSC Visalia con esta inversion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08760"/>
            <a:ext cx="48920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44348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22A34"/>
                </a:solidFill>
                <a:latin typeface="Aptos"/>
              </a:defRPr>
            </a:pPr>
            <a:r>
              <a:t>Reinstalar una linea probada con trazabilidad mecanica y electrica desde origen hasta SAT.</a:t>
            </a:r>
          </a:p>
          <a:p>
            <a:pPr>
              <a:spcAft>
                <a:spcPts val="600"/>
              </a:spcAft>
              <a:defRPr sz="1900">
                <a:solidFill>
                  <a:srgbClr val="222A34"/>
                </a:solidFill>
                <a:latin typeface="Aptos"/>
              </a:defRPr>
            </a:pPr>
            <a:r>
              <a:t>Reducir la dependencia de equipamiento obsoleto mediante actualizaciones selectivas en handling, control y soporte.</a:t>
            </a:r>
          </a:p>
          <a:p>
            <a:pPr>
              <a:spcAft>
                <a:spcPts val="600"/>
              </a:spcAft>
              <a:defRPr sz="1900">
                <a:solidFill>
                  <a:srgbClr val="222A34"/>
                </a:solidFill>
                <a:latin typeface="Aptos"/>
              </a:defRPr>
            </a:pPr>
            <a:r>
              <a:t>Preparar la operacion para un flujo mas limpio entre corrugadora, WIP, conversion y residuos.</a:t>
            </a:r>
          </a:p>
          <a:p>
            <a:pPr>
              <a:spcAft>
                <a:spcPts val="600"/>
              </a:spcAft>
              <a:defRPr sz="1900">
                <a:solidFill>
                  <a:srgbClr val="222A34"/>
                </a:solidFill>
                <a:latin typeface="Aptos"/>
              </a:defRPr>
            </a:pPr>
            <a:r>
              <a:t>Alinear la propuesta con una presencia comercial local en USA a traves de Linetex.</a:t>
            </a:r>
          </a:p>
          <a:p>
            <a:pPr>
              <a:spcAft>
                <a:spcPts val="600"/>
              </a:spcAft>
              <a:defRPr sz="1900">
                <a:solidFill>
                  <a:srgbClr val="222A34"/>
                </a:solidFill>
                <a:latin typeface="Aptos"/>
              </a:defRPr>
            </a:pPr>
            <a:r>
              <a:t>Construir una base operativa lista para entrenamiento, spare parts y servicio postventa.</a:t>
            </a:r>
          </a:p>
        </p:txBody>
      </p:sp>
      <p:sp>
        <p:nvSpPr>
          <p:cNvPr id="12" name="Chevron 11"/>
          <p:cNvSpPr/>
          <p:nvPr/>
        </p:nvSpPr>
        <p:spPr>
          <a:xfrm>
            <a:off x="5852160" y="1828800"/>
            <a:ext cx="1600200" cy="731520"/>
          </a:xfrm>
          <a:prstGeom prst="chevron">
            <a:avLst/>
          </a:prstGeom>
          <a:solidFill>
            <a:srgbClr val="296299"/>
          </a:solidFill>
          <a:ln>
            <a:solidFill>
              <a:srgbClr val="296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8464" y="1920240"/>
            <a:ext cx="13441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Bahnschrift SemiBold"/>
              </a:rPr>
              <a:t>MOVER</a:t>
            </a:r>
          </a:p>
        </p:txBody>
      </p:sp>
      <p:sp>
        <p:nvSpPr>
          <p:cNvPr id="14" name="Chevron 13"/>
          <p:cNvSpPr/>
          <p:nvPr/>
        </p:nvSpPr>
        <p:spPr>
          <a:xfrm>
            <a:off x="7452360" y="1828800"/>
            <a:ext cx="1600200" cy="731520"/>
          </a:xfrm>
          <a:prstGeom prst="chevron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98664" y="1920240"/>
            <a:ext cx="13441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Bahnschrift SemiBold"/>
              </a:rPr>
              <a:t>REHACER</a:t>
            </a:r>
          </a:p>
        </p:txBody>
      </p:sp>
      <p:sp>
        <p:nvSpPr>
          <p:cNvPr id="16" name="Chevron 15"/>
          <p:cNvSpPr/>
          <p:nvPr/>
        </p:nvSpPr>
        <p:spPr>
          <a:xfrm>
            <a:off x="9052560" y="1828800"/>
            <a:ext cx="1600200" cy="731520"/>
          </a:xfrm>
          <a:prstGeom prst="chevron">
            <a:avLst/>
          </a:prstGeom>
          <a:solidFill>
            <a:srgbClr val="E86F37"/>
          </a:solidFill>
          <a:ln>
            <a:solidFill>
              <a:srgbClr val="E86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8864" y="1920240"/>
            <a:ext cx="13441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Bahnschrift SemiBold"/>
              </a:rPr>
              <a:t>AUTOMATIZAR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2788920"/>
            <a:ext cx="4709160" cy="3063240"/>
          </a:xfrm>
          <a:prstGeom prst="roundRect">
            <a:avLst/>
          </a:prstGeom>
          <a:solidFill>
            <a:srgbClr val="E3ECF4"/>
          </a:solidFill>
          <a:ln>
            <a:solidFill>
              <a:srgbClr val="E3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3063240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385E"/>
                </a:solidFill>
                <a:latin typeface="Bahnschrift SemiBold"/>
              </a:rPr>
              <a:t>Lectura estrategica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547872"/>
            <a:ext cx="40690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22A34"/>
                </a:solidFill>
                <a:latin typeface="Aptos"/>
              </a:rPr>
              <a:t>La propuesta combina tres niveles de valor: rescatar un activo industrial robusto, elevarlo con nuevas capas de ingenieria y convertir el material handling en una ventaja competitiva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Alcance de suministro y servicios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Seis paquetes que convierten una compra industrial en una solucion integral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2926080" cy="1737360"/>
          </a:xfrm>
          <a:prstGeom prst="roundRect">
            <a:avLst/>
          </a:prstGeom>
          <a:solidFill>
            <a:srgbClr val="E3ECF4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755648"/>
            <a:ext cx="2596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CORE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029968"/>
            <a:ext cx="2596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BHS corrugator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441448"/>
            <a:ext cx="259689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Base 2.500 mm, wet-end y dry-end duplex, activos 1997-2017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1645920"/>
            <a:ext cx="2926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755648"/>
            <a:ext cx="2596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2029968"/>
            <a:ext cx="2596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Desmontaje + montaje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2441448"/>
            <a:ext cx="259689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Despiece, marcado, documentacion, cranes, viajes e instalacion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0375" y="1645920"/>
            <a:ext cx="2926080" cy="1737360"/>
          </a:xfrm>
          <a:prstGeom prst="roundRect">
            <a:avLst/>
          </a:prstGeom>
          <a:solidFill>
            <a:srgbClr val="FCF2EB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7" y="1755648"/>
            <a:ext cx="2596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ROLL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7" y="2029968"/>
            <a:ext cx="2596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IIM roll 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7" y="2441448"/>
            <a:ext cx="259689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Shaftless hydraulic roll stand 305 m/min con RE chucks y RE brakes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49039"/>
            <a:ext cx="2926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858767"/>
            <a:ext cx="2596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PERIPHERALS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133087"/>
            <a:ext cx="2596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Kitchen + utilities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544567"/>
            <a:ext cx="259689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Flexamix, tuberias, boiler, steam tubes y auxiliares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33087" y="3749039"/>
            <a:ext cx="2926080" cy="1737360"/>
          </a:xfrm>
          <a:prstGeom prst="roundRect">
            <a:avLst/>
          </a:prstGeom>
          <a:solidFill>
            <a:srgbClr val="E3ECF4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9" y="3858767"/>
            <a:ext cx="2596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9" y="4133087"/>
            <a:ext cx="2596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Conveyors + WIP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9" y="4544567"/>
            <a:ext cx="259689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Double stacker with strappers, AMR-ready reception y home area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0375" y="3749039"/>
            <a:ext cx="2926080" cy="1737360"/>
          </a:xfrm>
          <a:prstGeom prst="roundRect">
            <a:avLst/>
          </a:prstGeom>
          <a:solidFill>
            <a:srgbClr val="FCECEC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4967" y="3858767"/>
            <a:ext cx="25968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CONTROLS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4967" y="4133087"/>
            <a:ext cx="25968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Software +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967" y="4544567"/>
            <a:ext cx="2596896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Cuadros electricos, software, FAT/SAT y entrenamiento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BASE INSTALADA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Base instalada y activo de partida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Inventario de corrugadora revisado en el dossier de segunda mano</a:t>
            </a:r>
          </a:p>
        </p:txBody>
      </p:sp>
      <p:pic>
        <p:nvPicPr>
          <p:cNvPr id="10" name="Picture 9" descr="secondhand_p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6812280" cy="4800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18120" y="160020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2" y="1709928"/>
            <a:ext cx="26883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WIDTH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2712" y="1984248"/>
            <a:ext cx="26883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2.500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2395728"/>
            <a:ext cx="26883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Working width declarada en el dossier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83464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2" y="2944368"/>
            <a:ext cx="26883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3218688"/>
            <a:ext cx="26883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Duplex / Duplex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3630168"/>
            <a:ext cx="26883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Wet-end y dry-end duplex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06908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82712" y="4178808"/>
            <a:ext cx="26883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FLUTES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2" y="4453128"/>
            <a:ext cx="26883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B/E + C/B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4864608"/>
            <a:ext cx="26883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Dos single facers con combinaciones de flauta en inventario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548640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A34"/>
                </a:solidFill>
                <a:latin typeface="Aptos"/>
              </a:rPr>
              <a:t>El inventario muestra reel stands, splicers, preheater, glue unit, bridge, double facer, rotary shear, slitter scorer, cutoff y stacker.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MODERNIZACION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Modernizacion y upgrade por obsolescencia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La logica del proyecto no es mantener lo viejo: es reconstruir una plataforma fiable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830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A6776"/>
                </a:solidFill>
                <a:latin typeface="Aptos"/>
              </a:rPr>
              <a:t>BASE LEGACY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Equipos de origen 1997 con upgrades puntuales 2007, 2009, 2012, 2015 y 2017.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Reel stands y splicers BHS robustos pero dependientes de una integracion mas actual.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Riesgo natural de dispersion de soporte, repuestos y curva de aprendizaje si no se rearquitectura el conjunto.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212080" cy="4526280"/>
          </a:xfrm>
          <a:prstGeom prst="roundRect">
            <a:avLst/>
          </a:prstGeom>
          <a:solidFill>
            <a:srgbClr val="E3ECF4"/>
          </a:solidFill>
          <a:ln>
            <a:solidFill>
              <a:srgbClr val="E3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6299"/>
                </a:solidFill>
                <a:latin typeface="Aptos"/>
              </a:rPr>
              <a:t>TARGET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Roll handling nuevo con IIM shaftless hydraulic roll stand: 2.500 mm, 305 m/min, Allen Bradley PLC y Atos hydraulic pack.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Nueva capa de conveyors, rails, home area, software y cuadros electricos para ordenar flujo y mantenimiento.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Modelo orientado a FAT, SAT, formacion y soporte comercial local en USA a traves de Linetex.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REINSTALACION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Layout de reinstalacion y roadmap fisico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Un traslado controlado, documentado y orientado a un arranque con menos friccion</a:t>
            </a:r>
          </a:p>
        </p:txBody>
      </p:sp>
      <p:pic>
        <p:nvPicPr>
          <p:cNvPr id="10" name="Picture 9" descr="secondhand_p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54480"/>
            <a:ext cx="5669280" cy="3703320"/>
          </a:xfrm>
          <a:prstGeom prst="rect">
            <a:avLst/>
          </a:prstGeom>
        </p:spPr>
      </p:pic>
      <p:sp>
        <p:nvSpPr>
          <p:cNvPr id="11" name="Chevron 10"/>
          <p:cNvSpPr/>
          <p:nvPr/>
        </p:nvSpPr>
        <p:spPr>
          <a:xfrm>
            <a:off x="6675120" y="1828800"/>
            <a:ext cx="1508760" cy="731520"/>
          </a:xfrm>
          <a:prstGeom prst="chevron">
            <a:avLst/>
          </a:prstGeom>
          <a:solidFill>
            <a:srgbClr val="296299"/>
          </a:solidFill>
          <a:ln>
            <a:solidFill>
              <a:srgbClr val="296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21424" y="1920240"/>
            <a:ext cx="12527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Bahnschrift SemiBold"/>
              </a:rPr>
              <a:t>TURKEY</a:t>
            </a:r>
          </a:p>
        </p:txBody>
      </p:sp>
      <p:sp>
        <p:nvSpPr>
          <p:cNvPr id="13" name="Chevron 12"/>
          <p:cNvSpPr/>
          <p:nvPr/>
        </p:nvSpPr>
        <p:spPr>
          <a:xfrm>
            <a:off x="8165592" y="1828800"/>
            <a:ext cx="1508760" cy="731520"/>
          </a:xfrm>
          <a:prstGeom prst="chevron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1920240"/>
            <a:ext cx="12527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Bahnschrift SemiBold"/>
              </a:rPr>
              <a:t>SHIPPING</a:t>
            </a:r>
          </a:p>
        </p:txBody>
      </p:sp>
      <p:sp>
        <p:nvSpPr>
          <p:cNvPr id="15" name="Chevron 14"/>
          <p:cNvSpPr/>
          <p:nvPr/>
        </p:nvSpPr>
        <p:spPr>
          <a:xfrm>
            <a:off x="9656064" y="1828800"/>
            <a:ext cx="1508760" cy="731520"/>
          </a:xfrm>
          <a:prstGeom prst="chevron">
            <a:avLst/>
          </a:prstGeom>
          <a:solidFill>
            <a:srgbClr val="E86F37"/>
          </a:solidFill>
          <a:ln>
            <a:solidFill>
              <a:srgbClr val="E86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02368" y="1920240"/>
            <a:ext cx="12527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Bahnschrift SemiBold"/>
              </a:rPr>
              <a:t>VISALIA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A34"/>
                </a:solidFill>
                <a:latin typeface="Aptos"/>
              </a:defRPr>
            </a:pPr>
            <a:r>
              <a:t>Desmontaje completo con marcado documental de instalaciones mecanicas y electricas.</a:t>
            </a:r>
          </a:p>
          <a:p>
            <a:pPr>
              <a:spcAft>
                <a:spcPts val="600"/>
              </a:spcAft>
              <a:defRPr sz="1700">
                <a:solidFill>
                  <a:srgbClr val="222A34"/>
                </a:solidFill>
                <a:latin typeface="Aptos"/>
              </a:defRPr>
            </a:pPr>
            <a:r>
              <a:t>Preparacion para container loading y coordinacion de crane operations.</a:t>
            </a:r>
          </a:p>
          <a:p>
            <a:pPr>
              <a:spcAft>
                <a:spcPts val="600"/>
              </a:spcAft>
              <a:defRPr sz="1700">
                <a:solidFill>
                  <a:srgbClr val="222A34"/>
                </a:solidFill>
                <a:latin typeface="Aptos"/>
              </a:defRPr>
            </a:pPr>
            <a:r>
              <a:t>Montaje en USA con equipo local, commissioning y acceptance testing.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4892040"/>
            <a:ext cx="4434840" cy="868680"/>
          </a:xfrm>
          <a:prstGeom prst="roundRect">
            <a:avLst/>
          </a:prstGeom>
          <a:solidFill>
            <a:srgbClr val="FCF2EB"/>
          </a:solidFill>
          <a:ln>
            <a:solidFill>
              <a:srgbClr val="FC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51663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A34"/>
                </a:solidFill>
                <a:latin typeface="Aptos"/>
              </a:rPr>
              <a:t>La hoja de servicios incluye desmontaje, cranes, instalacion y gastos asociados.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ROLL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Roll handling: nueva pieza critica del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El nuevo roll stand define fiabilidad, seguridad de cambio y continuidad de papel</a:t>
            </a:r>
          </a:p>
        </p:txBody>
      </p:sp>
      <p:pic>
        <p:nvPicPr>
          <p:cNvPr id="10" name="Picture 9" descr="secondhand_p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54480"/>
            <a:ext cx="5669280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29400" y="1737360"/>
            <a:ext cx="4297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2500 mm width, shaftless hydraulic roll stand.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Reel max diameter 1525 mm y reel weight 2000 kg.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Machine speed 305 m/min con RE chucks 3"/6" y RE brakes.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Allen Bradley PLC sin programa y Atos hydraulic pack M-18.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452628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4636008"/>
            <a:ext cx="18196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OFFER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4910328"/>
            <a:ext cx="18196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71.685 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5321808"/>
            <a:ext cx="181965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Ex works del IIM roll stand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452628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4636008"/>
            <a:ext cx="18196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910328"/>
            <a:ext cx="18196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7.560 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5321808"/>
            <a:ext cx="181965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DDP Incoterms transport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576072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776"/>
                </a:solidFill>
                <a:latin typeface="Aptos"/>
              </a:rPr>
              <a:t>Lead time declarado: 120 dias desde el primer hito de pago. Garantia: 1 ano.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CONVEYORS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Conveyors, WIP y home area automatizada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El verdadero salto operativo aparece en el material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10972800" cy="777240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92807"/>
            <a:ext cx="10424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Corrugator output  -&gt;  double conveyor stacker  -&gt;  AMR reception  -&gt;  WIP conversion  -&gt;  waste movement  -&gt;  home area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43200"/>
            <a:ext cx="2560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852928"/>
            <a:ext cx="2231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END OF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127248"/>
            <a:ext cx="22311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USD 1.170M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538728"/>
            <a:ext cx="22311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Double conveyor line output stacker with strappers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2743200"/>
            <a:ext cx="2560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2852928"/>
            <a:ext cx="2231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AMR / WIP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3127248"/>
            <a:ext cx="22311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USD 0.715M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3538728"/>
            <a:ext cx="22311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Reception conveyor, WIP placement y waste movement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743200"/>
            <a:ext cx="2560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852928"/>
            <a:ext cx="2231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127248"/>
            <a:ext cx="22311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USD 0.241M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538728"/>
            <a:ext cx="223113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New corrugar line rails 12 meters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743200"/>
            <a:ext cx="2148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54312" y="2852928"/>
            <a:ext cx="18196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HOME AREA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3127248"/>
            <a:ext cx="18196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USD 1.014M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3538728"/>
            <a:ext cx="181965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Automatic loading and unloading ramp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572000"/>
            <a:ext cx="10515600" cy="1097280"/>
          </a:xfrm>
          <a:prstGeom prst="roundRect">
            <a:avLst/>
          </a:prstGeom>
          <a:solidFill>
            <a:srgbClr val="E3ECF4"/>
          </a:solidFill>
          <a:ln>
            <a:solidFill>
              <a:srgbClr val="E3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8920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22A34"/>
                </a:solidFill>
                <a:latin typeface="Aptos"/>
              </a:rPr>
              <a:t>El mensaje para el cliente es claro: no se vende solo capacidad de corrugado, se vende una operacion con menos trafico manual, buffers mejor controlados y una transicion limpia hacia automatizacion interna.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OPERACION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Concepto operativo WIP / AMR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Como debe leerse el flujo futuro dentro de la planta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011680"/>
            <a:ext cx="1600200" cy="914400"/>
          </a:xfrm>
          <a:prstGeom prst="roundRect">
            <a:avLst/>
          </a:prstGeom>
          <a:solidFill>
            <a:srgbClr val="296299"/>
          </a:solidFill>
          <a:ln>
            <a:solidFill>
              <a:srgbClr val="296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 SemiBold"/>
              </a:rPr>
              <a:t>1. Paper infeed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2011680"/>
            <a:ext cx="1600200" cy="914400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21284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 SemiBold"/>
              </a:rPr>
              <a:t>2. Corrugator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011680"/>
            <a:ext cx="1600200" cy="914400"/>
          </a:xfrm>
          <a:prstGeom prst="round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21284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 SemiBold"/>
              </a:rPr>
              <a:t>3. Stacking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011680"/>
            <a:ext cx="1600200" cy="914400"/>
          </a:xfrm>
          <a:prstGeom prst="roundRect">
            <a:avLst/>
          </a:prstGeom>
          <a:solidFill>
            <a:srgbClr val="E86F37"/>
          </a:solidFill>
          <a:ln>
            <a:solidFill>
              <a:srgbClr val="E86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21284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 SemiBold"/>
              </a:rPr>
              <a:t>4. AMR handoff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2011680"/>
            <a:ext cx="1600200" cy="914400"/>
          </a:xfrm>
          <a:prstGeom prst="roundRect">
            <a:avLst/>
          </a:prstGeom>
          <a:solidFill>
            <a:srgbClr val="296299"/>
          </a:solidFill>
          <a:ln>
            <a:solidFill>
              <a:srgbClr val="296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21284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 SemiBold"/>
              </a:rPr>
              <a:t>5. WIP buffer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2011680"/>
            <a:ext cx="1600200" cy="914400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221284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 SemiBold"/>
              </a:rPr>
              <a:t>6. Conversion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65760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3959352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776"/>
                </a:solidFill>
                <a:latin typeface="Aptos"/>
              </a:rPr>
              <a:t>QUE GANA PSC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279392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A34"/>
                </a:solidFill>
                <a:latin typeface="Aptos"/>
              </a:defRPr>
            </a:pPr>
            <a:r>
              <a:t>Menos trafico manual en la salida de corrugadora.</a:t>
            </a:r>
          </a:p>
          <a:p>
            <a:pPr>
              <a:spcAft>
                <a:spcPts val="600"/>
              </a:spcAft>
              <a:defRPr sz="1500">
                <a:solidFill>
                  <a:srgbClr val="222A34"/>
                </a:solidFill>
                <a:latin typeface="Aptos"/>
              </a:defRPr>
            </a:pPr>
            <a:r>
              <a:t>Mayor control visual del WIP y del desperdicio.</a:t>
            </a:r>
          </a:p>
          <a:p>
            <a:pPr>
              <a:spcAft>
                <a:spcPts val="600"/>
              </a:spcAft>
              <a:defRPr sz="1500">
                <a:solidFill>
                  <a:srgbClr val="222A34"/>
                </a:solidFill>
                <a:latin typeface="Aptos"/>
              </a:defRPr>
            </a:pPr>
            <a:r>
              <a:t>Base lista para integrar logica de trazabilidad.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657600"/>
            <a:ext cx="3246120" cy="1645920"/>
          </a:xfrm>
          <a:prstGeom prst="roundRect">
            <a:avLst/>
          </a:prstGeom>
          <a:solidFill>
            <a:srgbClr val="FCF2EB"/>
          </a:solidFill>
          <a:ln>
            <a:solidFill>
              <a:srgbClr val="FC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959352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776"/>
                </a:solidFill>
                <a:latin typeface="Aptos"/>
              </a:rPr>
              <a:t>QUE GANA INGENIERIA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279392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A34"/>
                </a:solidFill>
                <a:latin typeface="Aptos"/>
              </a:defRPr>
            </a:pPr>
            <a:r>
              <a:t>Puntos de integracion claros entre mecanica, electrica y software.</a:t>
            </a:r>
          </a:p>
          <a:p>
            <a:pPr>
              <a:spcAft>
                <a:spcPts val="600"/>
              </a:spcAft>
              <a:defRPr sz="1500">
                <a:solidFill>
                  <a:srgbClr val="222A34"/>
                </a:solidFill>
                <a:latin typeface="Aptos"/>
              </a:defRPr>
            </a:pPr>
            <a:r>
              <a:t>Secuencias FAT/SAT mas defendibles.</a:t>
            </a:r>
          </a:p>
          <a:p>
            <a:pPr>
              <a:spcAft>
                <a:spcPts val="600"/>
              </a:spcAft>
              <a:defRPr sz="1500">
                <a:solidFill>
                  <a:srgbClr val="222A34"/>
                </a:solidFill>
                <a:latin typeface="Aptos"/>
              </a:defRPr>
            </a:pPr>
            <a:r>
              <a:t>Un alcance de automatizacion facilmente escalable.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3657600"/>
            <a:ext cx="3246120" cy="1645920"/>
          </a:xfrm>
          <a:prstGeom prst="roundRect">
            <a:avLst/>
          </a:prstGeom>
          <a:solidFill>
            <a:srgbClr val="FCECEC"/>
          </a:solidFill>
          <a:ln>
            <a:solidFill>
              <a:srgbClr val="F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959352"/>
            <a:ext cx="2651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A6776"/>
                </a:solidFill>
                <a:latin typeface="Aptos"/>
              </a:rPr>
              <a:t>MENSAJE COMERCIAL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279392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A34"/>
                </a:solidFill>
                <a:latin typeface="Aptos"/>
              </a:defRPr>
            </a:pPr>
            <a:r>
              <a:t>Operacion mas limpia.</a:t>
            </a:r>
          </a:p>
          <a:p>
            <a:pPr>
              <a:spcAft>
                <a:spcPts val="600"/>
              </a:spcAft>
              <a:defRPr sz="1500">
                <a:solidFill>
                  <a:srgbClr val="222A34"/>
                </a:solidFill>
                <a:latin typeface="Aptos"/>
              </a:defRPr>
            </a:pPr>
            <a:r>
              <a:t>Capacidad de crecimiento sin rehacer todo el layout.</a:t>
            </a:r>
          </a:p>
          <a:p>
            <a:pPr>
              <a:spcAft>
                <a:spcPts val="600"/>
              </a:spcAft>
              <a:defRPr sz="1500">
                <a:solidFill>
                  <a:srgbClr val="222A34"/>
                </a:solidFill>
                <a:latin typeface="Aptos"/>
              </a:defRPr>
            </a:pPr>
            <a:r>
              <a:t>Menor friccion entre corrugado y conversion.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BHS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BHS integration y condicion de soporte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Lo que la carta revisada pide formalizar para cerrar el proyecto con seguridad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572768"/>
            <a:ext cx="5029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288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5385E"/>
                </a:solidFill>
                <a:latin typeface="Bahnschrift SemiBold"/>
              </a:rPr>
              <a:t>SUPPORT FRAMEWORK REQUESTED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12848"/>
            <a:ext cx="4434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Technical supervision during the machine disassembly in Turkey.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Crane operations management and support.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Local or nearby service in the United States after installation and acceptance.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Maintenance training and process training.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Spare parts supply plus technical service and after-sales support.</a:t>
            </a:r>
          </a:p>
        </p:txBody>
      </p:sp>
      <p:pic>
        <p:nvPicPr>
          <p:cNvPr id="13" name="Picture 12" descr="bhs_support_letter_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54480"/>
            <a:ext cx="5074920" cy="4526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06440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776"/>
                </a:solidFill>
                <a:latin typeface="Aptos"/>
              </a:rPr>
              <a:t>Nota de rigor: el documento revisado es una solicitud de confirmacion escrita, no una carta final emitida por BHS.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INGENIERIA Y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Ingenieria y arquitectura de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El upgrade necesita una narrativa tecnica coherente, no solo una lista de equipos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1828800" cy="914400"/>
          </a:xfrm>
          <a:prstGeom prst="roundRect">
            <a:avLst/>
          </a:prstGeom>
          <a:solidFill>
            <a:srgbClr val="296299"/>
          </a:solidFill>
          <a:ln>
            <a:solidFill>
              <a:srgbClr val="296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5798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hnschrift SemiBold"/>
              </a:rPr>
              <a:t>SENSORS &amp;
MOTION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828800"/>
            <a:ext cx="1828800" cy="914400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2157984"/>
            <a:ext cx="1481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hnschrift SemiBold"/>
              </a:rPr>
              <a:t>PLC / HMI
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1828800"/>
            <a:ext cx="1828800" cy="914400"/>
          </a:xfrm>
          <a:prstGeom prst="round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2157984"/>
            <a:ext cx="1481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hnschrift SemiBold"/>
              </a:rPr>
              <a:t>CONVEYORS
&amp; WIP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828800"/>
            <a:ext cx="1828800" cy="914400"/>
          </a:xfrm>
          <a:prstGeom prst="roundRect">
            <a:avLst/>
          </a:prstGeom>
          <a:solidFill>
            <a:srgbClr val="E86F37"/>
          </a:solidFill>
          <a:ln>
            <a:solidFill>
              <a:srgbClr val="E86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15798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hnschrift SemiBold"/>
              </a:rPr>
              <a:t>MES /
REPORTING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828800"/>
            <a:ext cx="1828800" cy="914400"/>
          </a:xfrm>
          <a:prstGeom prst="roundRect">
            <a:avLst/>
          </a:prstGeom>
          <a:solidFill>
            <a:srgbClr val="296299"/>
          </a:solidFill>
          <a:ln>
            <a:solidFill>
              <a:srgbClr val="296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215798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hnschrift SemiBold"/>
              </a:rPr>
              <a:t>REMOTE
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5760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El offer del roll stand ya cita Allen Bradley PLC y sensores M-18 con logica de diametro de bobina.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La hoja Ingetrans incorpora cuadros electricos y software como parte del alcance.</a:t>
            </a:r>
          </a:p>
          <a:p>
            <a:pPr>
              <a:spcAft>
                <a:spcPts val="600"/>
              </a:spcAft>
              <a:defRPr sz="1800">
                <a:solidFill>
                  <a:srgbClr val="222A34"/>
                </a:solidFill>
                <a:latin typeface="Aptos"/>
              </a:defRPr>
            </a:pPr>
            <a:r>
              <a:t>La presentacion debe vender integracion total: mecanica, control, WIP y mantenimiento.</a:t>
            </a:r>
          </a:p>
        </p:txBody>
      </p:sp>
      <p:pic>
        <p:nvPicPr>
          <p:cNvPr id="21" name="Picture 20" descr="Robot%20FFG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246120"/>
            <a:ext cx="448056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CALENDARIO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Calendario de ejecucion y curva de caja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El flujo financiero anticipa los picos criticos del proyecto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06070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240280"/>
            <a:ext cx="1060704" cy="256032"/>
          </a:xfrm>
          <a:prstGeom prst="roundRect">
            <a:avLst/>
          </a:prstGeom>
          <a:solidFill>
            <a:srgbClr val="296299"/>
          </a:solidFill>
          <a:ln>
            <a:solidFill>
              <a:srgbClr val="296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578608"/>
            <a:ext cx="8046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5385E"/>
                </a:solidFill>
                <a:latin typeface="Bahnschrift SemiBold"/>
              </a:rPr>
              <a:t>May 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898648"/>
            <a:ext cx="877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22A34"/>
                </a:solidFill>
                <a:latin typeface="Aptos"/>
              </a:rPr>
              <a:t>Cobro inicial
+ ingenieria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92224" y="2240280"/>
            <a:ext cx="106070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92224" y="2240280"/>
            <a:ext cx="1060704" cy="256032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578608"/>
            <a:ext cx="8046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5385E"/>
                </a:solidFill>
                <a:latin typeface="Bahnschrift SemiBold"/>
              </a:rPr>
              <a:t>Jun 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3664" y="2898648"/>
            <a:ext cx="877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22A34"/>
                </a:solidFill>
                <a:latin typeface="Aptos"/>
              </a:rPr>
              <a:t>Ingenieria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2240280"/>
            <a:ext cx="106070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26080" y="2240280"/>
            <a:ext cx="1060704" cy="256032"/>
          </a:xfrm>
          <a:prstGeom prst="round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4096" y="2578608"/>
            <a:ext cx="8046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5385E"/>
                </a:solidFill>
                <a:latin typeface="Bahnschrift SemiBold"/>
              </a:rPr>
              <a:t>Jul 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898648"/>
            <a:ext cx="877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22A34"/>
                </a:solidFill>
                <a:latin typeface="Aptos"/>
              </a:rPr>
              <a:t>Maquina +
desmontaje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6" y="2240280"/>
            <a:ext cx="106070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59936" y="2240280"/>
            <a:ext cx="1060704" cy="256032"/>
          </a:xfrm>
          <a:prstGeom prst="roundRect">
            <a:avLst/>
          </a:prstGeom>
          <a:solidFill>
            <a:srgbClr val="E86F37"/>
          </a:solidFill>
          <a:ln>
            <a:solidFill>
              <a:srgbClr val="E86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87952" y="2578608"/>
            <a:ext cx="8046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5385E"/>
                </a:solidFill>
                <a:latin typeface="Bahnschrift SemiBold"/>
              </a:rPr>
              <a:t>Aug 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51376" y="2898648"/>
            <a:ext cx="877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22A34"/>
                </a:solidFill>
                <a:latin typeface="Aptos"/>
              </a:rPr>
              <a:t>Transporte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93792" y="2240280"/>
            <a:ext cx="106070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93792" y="2240280"/>
            <a:ext cx="1060704" cy="256032"/>
          </a:xfrm>
          <a:prstGeom prst="round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21808" y="2578608"/>
            <a:ext cx="8046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5385E"/>
                </a:solidFill>
                <a:latin typeface="Bahnschrift SemiBold"/>
              </a:rPr>
              <a:t>Sep 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2898648"/>
            <a:ext cx="877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22A34"/>
                </a:solidFill>
                <a:latin typeface="Aptos"/>
              </a:rPr>
              <a:t>Upgrade elec/mec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2240280"/>
            <a:ext cx="106070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27648" y="2240280"/>
            <a:ext cx="1060704" cy="256032"/>
          </a:xfrm>
          <a:prstGeom prst="roundRect">
            <a:avLst/>
          </a:prstGeom>
          <a:solidFill>
            <a:srgbClr val="296299"/>
          </a:solidFill>
          <a:ln>
            <a:solidFill>
              <a:srgbClr val="296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2578608"/>
            <a:ext cx="8046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5385E"/>
                </a:solidFill>
                <a:latin typeface="Bahnschrift SemiBold"/>
              </a:rPr>
              <a:t>Oct 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2898648"/>
            <a:ext cx="877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22A34"/>
                </a:solidFill>
                <a:latin typeface="Aptos"/>
              </a:rPr>
              <a:t>Contingencia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61504" y="2240280"/>
            <a:ext cx="106070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61504" y="2240280"/>
            <a:ext cx="1060704" cy="256032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0" y="2578608"/>
            <a:ext cx="8046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5385E"/>
                </a:solidFill>
                <a:latin typeface="Bahnschrift SemiBold"/>
              </a:rPr>
              <a:t>Nov 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2944" y="2898648"/>
            <a:ext cx="877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22A34"/>
                </a:solidFill>
                <a:latin typeface="Aptos"/>
              </a:rPr>
              <a:t>Contingencia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0" y="2240280"/>
            <a:ext cx="106070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595360" y="2240280"/>
            <a:ext cx="1060704" cy="256032"/>
          </a:xfrm>
          <a:prstGeom prst="roundRect">
            <a:avLst/>
          </a:prstGeom>
          <a:solidFill>
            <a:srgbClr val="296299"/>
          </a:solidFill>
          <a:ln>
            <a:solidFill>
              <a:srgbClr val="296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23376" y="2578608"/>
            <a:ext cx="8046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5385E"/>
                </a:solidFill>
                <a:latin typeface="Bahnschrift SemiBold"/>
              </a:rPr>
              <a:t>Dec 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2898648"/>
            <a:ext cx="877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22A34"/>
                </a:solidFill>
                <a:latin typeface="Aptos"/>
              </a:rPr>
              <a:t>Embalaje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29216" y="2240280"/>
            <a:ext cx="106070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729216" y="2240280"/>
            <a:ext cx="1060704" cy="256032"/>
          </a:xfrm>
          <a:prstGeom prst="roundRect">
            <a:avLst/>
          </a:prstGeom>
          <a:solidFill>
            <a:srgbClr val="E86F37"/>
          </a:solidFill>
          <a:ln>
            <a:solidFill>
              <a:srgbClr val="E86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57232" y="2578608"/>
            <a:ext cx="8046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5385E"/>
                </a:solidFill>
                <a:latin typeface="Bahnschrift SemiBold"/>
              </a:rPr>
              <a:t>Jan 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0656" y="2898648"/>
            <a:ext cx="877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22A34"/>
                </a:solidFill>
                <a:latin typeface="Aptos"/>
              </a:rPr>
              <a:t>Transporte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63072" y="2240280"/>
            <a:ext cx="1060704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863072" y="2240280"/>
            <a:ext cx="1060704" cy="256032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91088" y="2578608"/>
            <a:ext cx="8046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5385E"/>
                </a:solidFill>
                <a:latin typeface="Bahnschrift SemiBold"/>
              </a:rPr>
              <a:t>Feb 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54512" y="2898648"/>
            <a:ext cx="8778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22A34"/>
                </a:solidFill>
                <a:latin typeface="Aptos"/>
              </a:rPr>
              <a:t>Cierre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8" y="4160520"/>
            <a:ext cx="3657600" cy="1234440"/>
          </a:xfrm>
          <a:prstGeom prst="roundRect">
            <a:avLst/>
          </a:prstGeom>
          <a:solidFill>
            <a:srgbClr val="FCECEC"/>
          </a:solidFill>
          <a:ln>
            <a:solidFill>
              <a:srgbClr val="F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4462272"/>
            <a:ext cx="31089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62E38"/>
                </a:solidFill>
                <a:latin typeface="Aptos"/>
              </a:rPr>
              <a:t>Pico de tension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470916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A34"/>
                </a:solidFill>
                <a:latin typeface="Aptos"/>
              </a:rPr>
              <a:t>Julio concentra maquina + desmontaje. Septiembre absorbe upgrade mecanico/electrico.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26280" y="4160520"/>
            <a:ext cx="3611880" cy="1234440"/>
          </a:xfrm>
          <a:prstGeom prst="roundRect">
            <a:avLst/>
          </a:prstGeom>
          <a:solidFill>
            <a:srgbClr val="E3ECF4"/>
          </a:solidFill>
          <a:ln>
            <a:solidFill>
              <a:srgbClr val="E3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73168" y="4462272"/>
            <a:ext cx="2926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96299"/>
                </a:solidFill>
                <a:latin typeface="Aptos"/>
              </a:rPr>
              <a:t>Cobros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73168" y="470916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A34"/>
                </a:solidFill>
                <a:latin typeface="Aptos"/>
              </a:rPr>
              <a:t>El modelo de flujo refleja cobros de USD 200k por mes a lo largo del periodo principal.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47888" y="4160520"/>
            <a:ext cx="2971800" cy="1234440"/>
          </a:xfrm>
          <a:prstGeom prst="roundRect">
            <a:avLst/>
          </a:prstGeom>
          <a:solidFill>
            <a:srgbClr val="FCF2EB"/>
          </a:solidFill>
          <a:ln>
            <a:solidFill>
              <a:srgbClr val="FCF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85632" y="4462272"/>
            <a:ext cx="2560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6F37"/>
                </a:solidFill>
                <a:latin typeface="Aptos"/>
              </a:rPr>
              <a:t>Lectura comercial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470916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A34"/>
                </a:solidFill>
                <a:latin typeface="Aptos"/>
              </a:rPr>
              <a:t>El calendario favorece una venta por hitos, no un simple CAPEX aislado.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FAT / SAT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FAT, SAT y puesta en marcha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La credibilidad del proyecto depende de cerrar bien la secuencia de validacion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1965960" cy="914400"/>
          </a:xfrm>
          <a:prstGeom prst="roundRect">
            <a:avLst/>
          </a:prstGeom>
          <a:solidFill>
            <a:srgbClr val="296299"/>
          </a:solidFill>
          <a:ln>
            <a:solidFill>
              <a:srgbClr val="296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48256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hnschrift SemiBold"/>
              </a:rPr>
              <a:t>FAT mechanical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737360"/>
            <a:ext cx="7909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993392"/>
            <a:ext cx="7406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22A34"/>
                </a:solidFill>
                <a:latin typeface="Aptos"/>
              </a:rPr>
              <a:t>Revision de equipos reacondicionados, checklists y trazabilidad documental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34640"/>
            <a:ext cx="1965960" cy="914400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45536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hnschrift SemiBold"/>
              </a:rPr>
              <a:t>FAT controls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2834640"/>
            <a:ext cx="7909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090672"/>
            <a:ext cx="7406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22A34"/>
                </a:solidFill>
                <a:latin typeface="Aptos"/>
              </a:rPr>
              <a:t>Secuencias de seguridad, I/O, recipe logic y handshakes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31920"/>
            <a:ext cx="1965960" cy="914400"/>
          </a:xfrm>
          <a:prstGeom prst="round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hnschrift SemiBold"/>
              </a:rPr>
              <a:t>SAT installation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3931920"/>
            <a:ext cx="7909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4187952"/>
            <a:ext cx="7406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22A34"/>
                </a:solidFill>
                <a:latin typeface="Aptos"/>
              </a:rPr>
              <a:t>Alineacion, utilities, cold tests y dry run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29200"/>
            <a:ext cx="1965960" cy="914400"/>
          </a:xfrm>
          <a:prstGeom prst="roundRect">
            <a:avLst/>
          </a:prstGeom>
          <a:solidFill>
            <a:srgbClr val="E86F37"/>
          </a:solidFill>
          <a:ln>
            <a:solidFill>
              <a:srgbClr val="E86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40096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hnschrift SemiBold"/>
              </a:rPr>
              <a:t>Ramp-up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5029200"/>
            <a:ext cx="7909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5285232"/>
            <a:ext cx="7406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22A34"/>
                </a:solidFill>
                <a:latin typeface="Aptos"/>
              </a:rPr>
              <a:t>Training, acceptance protocol y paso a operacion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17220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La historia correcta para el cliente: FAT/SAT no es burocracia, es la herramienta para volver predecible una reinstalacion compleja.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BENEFICIOS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Beneficios esperados para PSC Visalia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Lo que realmente compra el cliente cuando compra esta solucion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4592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755648"/>
            <a:ext cx="2231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CONTINUIDAD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029968"/>
            <a:ext cx="22311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Menos riesgo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441448"/>
            <a:ext cx="2231136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Desmontaje documentado, reinstall planificada y soporte estructurado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645920"/>
            <a:ext cx="2560320" cy="1645920"/>
          </a:xfrm>
          <a:prstGeom prst="roundRect">
            <a:avLst/>
          </a:prstGeom>
          <a:solidFill>
            <a:srgbClr val="E3ECF4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1755648"/>
            <a:ext cx="2231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PRODUCCION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029968"/>
            <a:ext cx="22311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Mas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2441448"/>
            <a:ext cx="2231136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Base BHS robusta con handling rediseñado alrededor de la salida de linea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645920"/>
            <a:ext cx="2560320" cy="1645920"/>
          </a:xfrm>
          <a:prstGeom prst="roundRect">
            <a:avLst/>
          </a:prstGeom>
          <a:solidFill>
            <a:srgbClr val="FCF2EB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755648"/>
            <a:ext cx="2231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PEOPLE &amp;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029968"/>
            <a:ext cx="22311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Menos friccion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441448"/>
            <a:ext cx="2231136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Mejor gestion de bobinas, stacking y transito interno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645920"/>
            <a:ext cx="2103120" cy="1645920"/>
          </a:xfrm>
          <a:prstGeom prst="roundRect">
            <a:avLst/>
          </a:prstGeom>
          <a:solidFill>
            <a:srgbClr val="FCECEC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1755648"/>
            <a:ext cx="1773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SCALABILITY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029968"/>
            <a:ext cx="17739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5385E"/>
                </a:solidFill>
                <a:latin typeface="Bahnschrift SemiBold"/>
              </a:rPr>
              <a:t>AMR-ready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2441448"/>
            <a:ext cx="1773936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A34"/>
                </a:solidFill>
                <a:latin typeface="Aptos"/>
              </a:rPr>
              <a:t>Flujo preparado para siguientes capas de automatizacion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794760"/>
            <a:ext cx="10378440" cy="1783080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160520"/>
            <a:ext cx="9784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La clave comercial es hablar de transformacion operacional: mayor orden interno, mejor mantenimiento, una salida de corrugadora menos caotica y una infraestructura lista para crecer con automatizacion futura.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DIFERENCIADORES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Porque Ingecart + Linetex pueden vender este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No es una simple compra de equipos usados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A34"/>
                </a:solidFill>
                <a:latin typeface="Aptos"/>
              </a:defRPr>
            </a:pPr>
            <a:r>
              <a:t>Ingecart combina vision mecanica, electrica y logistica en un solo discurso tecnico.</a:t>
            </a:r>
          </a:p>
          <a:p>
            <a:pPr>
              <a:spcAft>
                <a:spcPts val="600"/>
              </a:spcAft>
              <a:defRPr sz="2000">
                <a:solidFill>
                  <a:srgbClr val="222A34"/>
                </a:solidFill>
                <a:latin typeface="Aptos"/>
              </a:defRPr>
            </a:pPr>
            <a:r>
              <a:t>Linetex funciona como marca/comercializacion en USA, acercando el proyecto al cliente final.</a:t>
            </a:r>
          </a:p>
          <a:p>
            <a:pPr>
              <a:spcAft>
                <a:spcPts val="600"/>
              </a:spcAft>
              <a:defRPr sz="2000">
                <a:solidFill>
                  <a:srgbClr val="222A34"/>
                </a:solidFill>
                <a:latin typeface="Aptos"/>
              </a:defRPr>
            </a:pPr>
            <a:r>
              <a:t>La propuesta une equipo principal, handling, software y fase de arranque en una sola historia.</a:t>
            </a:r>
          </a:p>
          <a:p>
            <a:pPr>
              <a:spcAft>
                <a:spcPts val="600"/>
              </a:spcAft>
              <a:defRPr sz="2000">
                <a:solidFill>
                  <a:srgbClr val="222A34"/>
                </a:solidFill>
                <a:latin typeface="Aptos"/>
              </a:defRPr>
            </a:pPr>
            <a:r>
              <a:t>El valor diferencial esta en convertir activos dispersos en una solucion industrial cohesionada.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737360"/>
            <a:ext cx="4983480" cy="4297680"/>
          </a:xfrm>
          <a:prstGeom prst="roundRect">
            <a:avLst/>
          </a:prstGeom>
          <a:solidFill>
            <a:srgbClr val="E3ECF4"/>
          </a:solidFill>
          <a:ln>
            <a:solidFill>
              <a:srgbClr val="E3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029968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385E"/>
                </a:solidFill>
                <a:latin typeface="Aptos"/>
              </a:rPr>
              <a:t>PARTNERSHIP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468880"/>
            <a:ext cx="4160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22A34"/>
                </a:solidFill>
                <a:latin typeface="Aptos"/>
              </a:rPr>
              <a:t>Linetex debe aparecer como la cara comercial en Estados Unidos, mientras Ingecart sostiene el contenido de ingenieria, integracion, coordinacion del desmontaje y puesta en marcha. Eso reduce distancia comercial sin vaciar el valor tecnico.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INVERSION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Vista de inversion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Subtotales visibles en las hojas comerciales revisadas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2996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A34"/>
                </a:solidFill>
                <a:latin typeface="Aptos"/>
              </a:rPr>
              <a:t>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1920240"/>
            <a:ext cx="5605635" cy="438912"/>
          </a:xfrm>
          <a:prstGeom prst="roundRect">
            <a:avLst/>
          </a:prstGeom>
          <a:solidFill>
            <a:srgbClr val="296299"/>
          </a:solidFill>
          <a:ln>
            <a:solidFill>
              <a:srgbClr val="296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99339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5385E"/>
                </a:solidFill>
                <a:latin typeface="Aptos"/>
              </a:rPr>
              <a:t>USD 3.041M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79776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A34"/>
                </a:solidFill>
                <a:latin typeface="Aptos"/>
              </a:rPr>
              <a:t>Peripherals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2670048"/>
            <a:ext cx="4173350" cy="438912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7432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5385E"/>
                </a:solidFill>
                <a:latin typeface="Aptos"/>
              </a:rPr>
              <a:t>USD 2.264M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2958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A34"/>
                </a:solidFill>
                <a:latin typeface="Aptos"/>
              </a:rPr>
              <a:t>Conveyors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3419856"/>
            <a:ext cx="6949440" cy="438912"/>
          </a:xfrm>
          <a:prstGeom prst="round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349300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5385E"/>
                </a:solidFill>
                <a:latin typeface="Aptos"/>
              </a:rPr>
              <a:t>USD 3.770M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7939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A34"/>
                </a:solidFill>
                <a:latin typeface="Aptos"/>
              </a:rPr>
              <a:t>Ingetrans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4169664"/>
            <a:ext cx="5478444" cy="438912"/>
          </a:xfrm>
          <a:prstGeom prst="roundRect">
            <a:avLst/>
          </a:prstGeom>
          <a:solidFill>
            <a:srgbClr val="E86F37"/>
          </a:solidFill>
          <a:ln>
            <a:solidFill>
              <a:srgbClr val="E86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4242816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5385E"/>
                </a:solidFill>
                <a:latin typeface="Aptos"/>
              </a:rPr>
              <a:t>USD 2.972M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212080"/>
            <a:ext cx="10241280" cy="822960"/>
          </a:xfrm>
          <a:prstGeom prst="roundRect">
            <a:avLst/>
          </a:prstGeom>
          <a:solidFill>
            <a:srgbClr val="FCECEC"/>
          </a:solidFill>
          <a:ln>
            <a:solidFill>
              <a:srgbClr val="F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8112"/>
            <a:ext cx="9738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A34"/>
                </a:solidFill>
                <a:latin typeface="Aptos"/>
              </a:rPr>
              <a:t>Nota: esta slide muestra el subtotal visible de las hojas revisadas. Debe contrastarse con el cierre comercial final antes de emitir oferta definitiva.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6776"/>
                </a:solidFill>
                <a:latin typeface="Aptos"/>
              </a:rPr>
              <a:t>PROXIMOS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046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INGECART ENGINEERING &amp; AUDITING  |  LINETEX COMMERCIAL CHANNEL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pic>
        <p:nvPicPr>
          <p:cNvPr id="7" name="Picture 6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182880"/>
            <a:ext cx="987552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6928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85E"/>
                </a:solidFill>
                <a:latin typeface="Bahnschrift SemiBold"/>
              </a:rPr>
              <a:t>Proximos pasos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776"/>
                </a:solidFill>
                <a:latin typeface="Aptos"/>
              </a:rPr>
              <a:t>Como convertir esta narrativa en cierre comercial y ejecucion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783080"/>
            <a:ext cx="594360" cy="594360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hnschrift SemiBold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1783080"/>
            <a:ext cx="9418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1920240"/>
            <a:ext cx="8869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22A34"/>
                </a:solidFill>
                <a:latin typeface="Aptos"/>
              </a:rPr>
              <a:t>Congelar el scope tecnico y los paquetes economicos a presentar a PSC.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551176"/>
            <a:ext cx="594360" cy="594360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2715768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hnschrift SemiBold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1640" y="2551176"/>
            <a:ext cx="9418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2688336"/>
            <a:ext cx="8869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22A34"/>
                </a:solidFill>
                <a:latin typeface="Aptos"/>
              </a:rPr>
              <a:t>Validar el layout objetivo y utilidades de planta en Visalia.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319272"/>
            <a:ext cx="594360" cy="594360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483864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hnschrift SemiBold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91640" y="3319272"/>
            <a:ext cx="9418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3456432"/>
            <a:ext cx="8869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22A34"/>
                </a:solidFill>
                <a:latin typeface="Aptos"/>
              </a:rPr>
              <a:t>Cerrar la condicion BHS de supervision, training, spare parts y after-sales.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087368"/>
            <a:ext cx="594360" cy="594360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1" y="4251960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hnschrift SemiBold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91640" y="4087368"/>
            <a:ext cx="9418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0" y="4224528"/>
            <a:ext cx="8869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22A34"/>
                </a:solidFill>
                <a:latin typeface="Aptos"/>
              </a:rPr>
              <a:t>Fijar el plan FAT/SAT, responsables y criterios de acceptance.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855464"/>
            <a:ext cx="594360" cy="594360"/>
          </a:xfrm>
          <a:prstGeom prst="roundRect">
            <a:avLst/>
          </a:prstGeom>
          <a:solidFill>
            <a:srgbClr val="15385E"/>
          </a:solidFill>
          <a:ln>
            <a:solidFill>
              <a:srgbClr val="1538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1" y="5020056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hnschrift SemiBold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40" y="4855464"/>
            <a:ext cx="94183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4992624"/>
            <a:ext cx="8869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22A34"/>
                </a:solidFill>
                <a:latin typeface="Aptos"/>
              </a:rPr>
              <a:t>Lanzar la fase comercial final bajo marca Linetex con respaldo tecnico de Ingecart.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8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D62E38"/>
          </a:solidFill>
          <a:ln>
            <a:solidFill>
              <a:srgbClr val="D62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ia%20de%20sello%202%20(1)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8640"/>
            <a:ext cx="132588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1508760"/>
            <a:ext cx="5303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Bahnschrift SemiBold"/>
              </a:rPr>
              <a:t>Cerrar esta operacion es darle a PSC una linea relanzada, no una mudanza de maquinas.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5074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Ingecart aporta la ingenieria y la integracion. Linetex aporta cercania comercial en USA. Juntas, ambas marcas convierten un activo BHS probado en una plataforma industrial lista para volver a competir.</a:t>
            </a:r>
          </a:p>
        </p:txBody>
      </p:sp>
      <p:pic>
        <p:nvPicPr>
          <p:cNvPr id="7" name="Picture 6" descr="secondhand_p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05840"/>
            <a:ext cx="502920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98932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Prepared from project spreadsheets, commercial offer, BHS support request and machine dossier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9672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