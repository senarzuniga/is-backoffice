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2"/>
    <p:sldId id="257" r:id="rId3"/>
    <p:sldId id="258" r:id="rId4"/>
    <p:sldId id="259" r:id="rId5"/>
    <p:sldId id="260" r:id="rId6"/>
    <p:sldId id="261" r:id="rId7"/>
    <p:sldId id="262" r:id="rId8"/>
    <p:sldId id="266" r:id="rId9"/>
    <p:sldId id="272" r:id="rId10"/>
    <p:sldId id="265" r:id="rId11"/>
    <p:sldId id="267" r:id="rId12"/>
    <p:sldId id="268" r:id="rId13"/>
    <p:sldId id="269" r:id="rId14"/>
    <p:sldId id="270" r:id="rId15"/>
    <p:sldId id="271" r:id="rId16"/>
    <p:sldId id="273" r:id="rId17"/>
    <p:sldId id="274" r:id="rId1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9346" autoAdjust="0"/>
  </p:normalViewPr>
  <p:slideViewPr>
    <p:cSldViewPr snapToGrid="0" snapToObjects="1">
      <p:cViewPr>
        <p:scale>
          <a:sx n="100" d="100"/>
          <a:sy n="100" d="100"/>
        </p:scale>
        <p:origin x="924" y="-3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E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9CF2063-CB52-4F77-965C-1EE3867351C6}" type="datetimeFigureOut">
              <a:rPr lang="es-ES" smtClean="0"/>
              <a:t>07/05/2026</a:t>
            </a:fld>
            <a:endParaRPr lang="es-E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E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s-E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E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D567965-01AC-480A-B367-E9AA95ACE2BC}" type="slidenum">
              <a:rPr lang="es-ES" smtClean="0"/>
              <a:t>‹#›</a:t>
            </a:fld>
            <a:endParaRPr lang="es-ES"/>
          </a:p>
        </p:txBody>
      </p:sp>
    </p:spTree>
    <p:extLst>
      <p:ext uri="{BB962C8B-B14F-4D97-AF65-F5344CB8AC3E}">
        <p14:creationId xmlns:p14="http://schemas.microsoft.com/office/powerpoint/2010/main" val="114034992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s-ES" dirty="0"/>
          </a:p>
        </p:txBody>
      </p:sp>
      <p:sp>
        <p:nvSpPr>
          <p:cNvPr id="4" name="Slide Number Placeholder 3"/>
          <p:cNvSpPr>
            <a:spLocks noGrp="1"/>
          </p:cNvSpPr>
          <p:nvPr>
            <p:ph type="sldNum" sz="quarter" idx="5"/>
          </p:nvPr>
        </p:nvSpPr>
        <p:spPr/>
        <p:txBody>
          <a:bodyPr/>
          <a:lstStyle/>
          <a:p>
            <a:fld id="{4D567965-01AC-480A-B367-E9AA95ACE2BC}" type="slidenum">
              <a:rPr lang="es-ES" smtClean="0"/>
              <a:t>5</a:t>
            </a:fld>
            <a:endParaRPr lang="es-ES"/>
          </a:p>
        </p:txBody>
      </p:sp>
    </p:spTree>
    <p:extLst>
      <p:ext uri="{BB962C8B-B14F-4D97-AF65-F5344CB8AC3E}">
        <p14:creationId xmlns:p14="http://schemas.microsoft.com/office/powerpoint/2010/main" val="166673734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ES" sz="1200" kern="1200" dirty="0">
                <a:solidFill>
                  <a:schemeClr val="tx1"/>
                </a:solidFill>
                <a:effectLst/>
                <a:latin typeface="+mn-lt"/>
                <a:ea typeface="+mn-ea"/>
                <a:cs typeface="+mn-cs"/>
              </a:rPr>
              <a:t>   1  </a:t>
            </a:r>
            <a:r>
              <a:rPr lang="es-ES" sz="1200" kern="1200" dirty="0" err="1">
                <a:solidFill>
                  <a:schemeClr val="tx1"/>
                </a:solidFill>
                <a:effectLst/>
                <a:latin typeface="+mn-lt"/>
                <a:ea typeface="+mn-ea"/>
                <a:cs typeface="+mn-cs"/>
              </a:rPr>
              <a:t>Cabeçote</a:t>
            </a:r>
            <a:r>
              <a:rPr lang="es-ES" sz="1200" kern="1200" dirty="0">
                <a:solidFill>
                  <a:schemeClr val="tx1"/>
                </a:solidFill>
                <a:effectLst/>
                <a:latin typeface="+mn-lt"/>
                <a:ea typeface="+mn-ea"/>
                <a:cs typeface="+mn-cs"/>
              </a:rPr>
              <a:t> </a:t>
            </a:r>
            <a:r>
              <a:rPr lang="es-ES" sz="1200" kern="1200" dirty="0" err="1">
                <a:solidFill>
                  <a:schemeClr val="tx1"/>
                </a:solidFill>
                <a:effectLst/>
                <a:latin typeface="+mn-lt"/>
                <a:ea typeface="+mn-ea"/>
                <a:cs typeface="+mn-cs"/>
              </a:rPr>
              <a:t>Modul</a:t>
            </a:r>
            <a:r>
              <a:rPr lang="es-ES" sz="1200" kern="1200" dirty="0">
                <a:solidFill>
                  <a:schemeClr val="tx1"/>
                </a:solidFill>
                <a:effectLst/>
                <a:latin typeface="+mn-lt"/>
                <a:ea typeface="+mn-ea"/>
                <a:cs typeface="+mn-cs"/>
              </a:rPr>
              <a:t> Facer</a:t>
            </a:r>
          </a:p>
          <a:p>
            <a:r>
              <a:rPr lang="es-ES" sz="1200" kern="1200" dirty="0">
                <a:solidFill>
                  <a:schemeClr val="tx1"/>
                </a:solidFill>
                <a:effectLst/>
                <a:latin typeface="+mn-lt"/>
                <a:ea typeface="+mn-ea"/>
                <a:cs typeface="+mn-cs"/>
              </a:rPr>
              <a:t> Dry End  Completo- Rotary Shear</a:t>
            </a:r>
          </a:p>
          <a:p>
            <a:r>
              <a:rPr lang="es-ES" sz="1200" kern="1200" dirty="0">
                <a:solidFill>
                  <a:schemeClr val="tx1"/>
                </a:solidFill>
                <a:effectLst/>
                <a:latin typeface="+mn-lt"/>
                <a:ea typeface="+mn-ea"/>
                <a:cs typeface="+mn-cs"/>
              </a:rPr>
              <a:t>                               </a:t>
            </a:r>
            <a:r>
              <a:rPr lang="es-ES" sz="1200" kern="1200" dirty="0" err="1">
                <a:solidFill>
                  <a:schemeClr val="tx1"/>
                </a:solidFill>
                <a:effectLst/>
                <a:latin typeface="+mn-lt"/>
                <a:ea typeface="+mn-ea"/>
                <a:cs typeface="+mn-cs"/>
              </a:rPr>
              <a:t>Slitter</a:t>
            </a:r>
            <a:r>
              <a:rPr lang="es-ES" sz="1200" kern="1200" dirty="0">
                <a:solidFill>
                  <a:schemeClr val="tx1"/>
                </a:solidFill>
                <a:effectLst/>
                <a:latin typeface="+mn-lt"/>
                <a:ea typeface="+mn-ea"/>
                <a:cs typeface="+mn-cs"/>
              </a:rPr>
              <a:t> </a:t>
            </a:r>
            <a:r>
              <a:rPr lang="es-ES" sz="1200" kern="1200" dirty="0" err="1">
                <a:solidFill>
                  <a:schemeClr val="tx1"/>
                </a:solidFill>
                <a:effectLst/>
                <a:latin typeface="+mn-lt"/>
                <a:ea typeface="+mn-ea"/>
                <a:cs typeface="+mn-cs"/>
              </a:rPr>
              <a:t>Scorer</a:t>
            </a:r>
            <a:endParaRPr lang="es-ES" sz="1200" kern="1200" dirty="0">
              <a:solidFill>
                <a:schemeClr val="tx1"/>
              </a:solidFill>
              <a:effectLst/>
              <a:latin typeface="+mn-lt"/>
              <a:ea typeface="+mn-ea"/>
              <a:cs typeface="+mn-cs"/>
            </a:endParaRPr>
          </a:p>
          <a:p>
            <a:r>
              <a:rPr lang="es-ES" sz="1200" kern="1200" dirty="0">
                <a:solidFill>
                  <a:schemeClr val="tx1"/>
                </a:solidFill>
                <a:effectLst/>
                <a:latin typeface="+mn-lt"/>
                <a:ea typeface="+mn-ea"/>
                <a:cs typeface="+mn-cs"/>
              </a:rPr>
              <a:t>                               </a:t>
            </a:r>
            <a:r>
              <a:rPr lang="es-ES" sz="1200" kern="1200" dirty="0" err="1">
                <a:solidFill>
                  <a:schemeClr val="tx1"/>
                </a:solidFill>
                <a:effectLst/>
                <a:latin typeface="+mn-lt"/>
                <a:ea typeface="+mn-ea"/>
                <a:cs typeface="+mn-cs"/>
              </a:rPr>
              <a:t>Duplex</a:t>
            </a:r>
            <a:r>
              <a:rPr lang="es-ES" sz="1200" kern="1200" dirty="0">
                <a:solidFill>
                  <a:schemeClr val="tx1"/>
                </a:solidFill>
                <a:effectLst/>
                <a:latin typeface="+mn-lt"/>
                <a:ea typeface="+mn-ea"/>
                <a:cs typeface="+mn-cs"/>
              </a:rPr>
              <a:t> </a:t>
            </a:r>
            <a:r>
              <a:rPr lang="es-ES" sz="1200" kern="1200" dirty="0" err="1">
                <a:solidFill>
                  <a:schemeClr val="tx1"/>
                </a:solidFill>
                <a:effectLst/>
                <a:latin typeface="+mn-lt"/>
                <a:ea typeface="+mn-ea"/>
                <a:cs typeface="+mn-cs"/>
              </a:rPr>
              <a:t>Cut</a:t>
            </a:r>
            <a:r>
              <a:rPr lang="es-ES" sz="1200" kern="1200" dirty="0">
                <a:solidFill>
                  <a:schemeClr val="tx1"/>
                </a:solidFill>
                <a:effectLst/>
                <a:latin typeface="+mn-lt"/>
                <a:ea typeface="+mn-ea"/>
                <a:cs typeface="+mn-cs"/>
              </a:rPr>
              <a:t> Off</a:t>
            </a:r>
          </a:p>
          <a:p>
            <a:r>
              <a:rPr lang="es-ES" sz="1200" kern="1200" dirty="0">
                <a:solidFill>
                  <a:schemeClr val="tx1"/>
                </a:solidFill>
                <a:effectLst/>
                <a:latin typeface="+mn-lt"/>
                <a:ea typeface="+mn-ea"/>
                <a:cs typeface="+mn-cs"/>
              </a:rPr>
              <a:t>                                Duplex Stacker</a:t>
            </a:r>
          </a:p>
          <a:p>
            <a:r>
              <a:rPr lang="es-ES" sz="1200" kern="1200" dirty="0">
                <a:solidFill>
                  <a:schemeClr val="tx1"/>
                </a:solidFill>
                <a:effectLst/>
                <a:latin typeface="+mn-lt"/>
                <a:ea typeface="+mn-ea"/>
                <a:cs typeface="+mn-cs"/>
              </a:rPr>
              <a:t>       IHM, .</a:t>
            </a:r>
            <a:r>
              <a:rPr lang="es-ES" sz="1200" kern="1200" dirty="0" err="1">
                <a:solidFill>
                  <a:schemeClr val="tx1"/>
                </a:solidFill>
                <a:effectLst/>
                <a:latin typeface="+mn-lt"/>
                <a:ea typeface="+mn-ea"/>
                <a:cs typeface="+mn-cs"/>
              </a:rPr>
              <a:t>CLPs</a:t>
            </a:r>
            <a:r>
              <a:rPr lang="es-ES" sz="1200" kern="1200" dirty="0">
                <a:solidFill>
                  <a:schemeClr val="tx1"/>
                </a:solidFill>
                <a:effectLst/>
                <a:latin typeface="+mn-lt"/>
                <a:ea typeface="+mn-ea"/>
                <a:cs typeface="+mn-cs"/>
              </a:rPr>
              <a:t>,.CPU,. Drives </a:t>
            </a:r>
            <a:r>
              <a:rPr lang="es-ES" sz="1200" kern="1200" dirty="0" err="1">
                <a:solidFill>
                  <a:schemeClr val="tx1"/>
                </a:solidFill>
                <a:effectLst/>
                <a:latin typeface="+mn-lt"/>
                <a:ea typeface="+mn-ea"/>
                <a:cs typeface="+mn-cs"/>
              </a:rPr>
              <a:t>Serão</a:t>
            </a:r>
            <a:r>
              <a:rPr lang="es-ES" sz="1200" kern="1200" dirty="0">
                <a:solidFill>
                  <a:schemeClr val="tx1"/>
                </a:solidFill>
                <a:effectLst/>
                <a:latin typeface="+mn-lt"/>
                <a:ea typeface="+mn-ea"/>
                <a:cs typeface="+mn-cs"/>
              </a:rPr>
              <a:t> </a:t>
            </a:r>
            <a:r>
              <a:rPr lang="es-ES" sz="1200" kern="1200" dirty="0" err="1">
                <a:solidFill>
                  <a:schemeClr val="tx1"/>
                </a:solidFill>
                <a:effectLst/>
                <a:latin typeface="+mn-lt"/>
                <a:ea typeface="+mn-ea"/>
                <a:cs typeface="+mn-cs"/>
              </a:rPr>
              <a:t>substituídos</a:t>
            </a:r>
            <a:endParaRPr lang="es-ES" sz="1200" kern="1200" dirty="0">
              <a:solidFill>
                <a:schemeClr val="tx1"/>
              </a:solidFill>
              <a:effectLst/>
              <a:latin typeface="+mn-lt"/>
              <a:ea typeface="+mn-ea"/>
              <a:cs typeface="+mn-cs"/>
            </a:endParaRPr>
          </a:p>
          <a:p>
            <a:r>
              <a:rPr lang="es-ES" sz="1200" kern="1200" dirty="0">
                <a:solidFill>
                  <a:schemeClr val="tx1"/>
                </a:solidFill>
                <a:effectLst/>
                <a:latin typeface="+mn-lt"/>
                <a:ea typeface="+mn-ea"/>
                <a:cs typeface="+mn-cs"/>
              </a:rPr>
              <a:t> </a:t>
            </a:r>
          </a:p>
          <a:p>
            <a:r>
              <a:rPr lang="es-ES" sz="1200" kern="1200" dirty="0">
                <a:solidFill>
                  <a:schemeClr val="tx1"/>
                </a:solidFill>
                <a:effectLst/>
                <a:latin typeface="+mn-lt"/>
                <a:ea typeface="+mn-ea"/>
                <a:cs typeface="+mn-cs"/>
              </a:rPr>
              <a:t> </a:t>
            </a:r>
          </a:p>
          <a:p>
            <a:r>
              <a:rPr lang="es-ES" sz="1200" kern="1200" dirty="0">
                <a:solidFill>
                  <a:schemeClr val="tx1"/>
                </a:solidFill>
                <a:effectLst/>
                <a:latin typeface="+mn-lt"/>
                <a:ea typeface="+mn-ea"/>
                <a:cs typeface="+mn-cs"/>
              </a:rPr>
              <a:t> </a:t>
            </a:r>
            <a:endParaRPr lang="es-ES" dirty="0"/>
          </a:p>
        </p:txBody>
      </p:sp>
      <p:sp>
        <p:nvSpPr>
          <p:cNvPr id="4" name="Slide Number Placeholder 3"/>
          <p:cNvSpPr>
            <a:spLocks noGrp="1"/>
          </p:cNvSpPr>
          <p:nvPr>
            <p:ph type="sldNum" sz="quarter" idx="5"/>
          </p:nvPr>
        </p:nvSpPr>
        <p:spPr/>
        <p:txBody>
          <a:bodyPr/>
          <a:lstStyle/>
          <a:p>
            <a:fld id="{4D567965-01AC-480A-B367-E9AA95ACE2BC}" type="slidenum">
              <a:rPr lang="es-ES" smtClean="0"/>
              <a:t>6</a:t>
            </a:fld>
            <a:endParaRPr lang="es-ES"/>
          </a:p>
        </p:txBody>
      </p:sp>
    </p:spTree>
    <p:extLst>
      <p:ext uri="{BB962C8B-B14F-4D97-AF65-F5344CB8AC3E}">
        <p14:creationId xmlns:p14="http://schemas.microsoft.com/office/powerpoint/2010/main" val="245510514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5/6/2026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5/6/2026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5/6/2026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5/6/2026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5/6/2026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5/6/2026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5/6/2026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ARTWORKK BOOTH INGECART 2026.jp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5070764"/>
            <a:ext cx="12191695" cy="178723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lang="en-US" noProof="0" dirty="0"/>
          </a:p>
        </p:txBody>
      </p:sp>
      <p:sp>
        <p:nvSpPr>
          <p:cNvPr id="4" name="Rectangle 3"/>
          <p:cNvSpPr/>
          <p:nvPr/>
        </p:nvSpPr>
        <p:spPr>
          <a:xfrm>
            <a:off x="0" y="0"/>
            <a:ext cx="12191695" cy="109728"/>
          </a:xfrm>
          <a:prstGeom prst="rect">
            <a:avLst/>
          </a:prstGeom>
          <a:solidFill>
            <a:srgbClr val="FF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lang="en-US" noProof="0" dirty="0"/>
          </a:p>
        </p:txBody>
      </p:sp>
      <p:sp>
        <p:nvSpPr>
          <p:cNvPr id="5" name="Rectangle 4"/>
          <p:cNvSpPr/>
          <p:nvPr/>
        </p:nvSpPr>
        <p:spPr>
          <a:xfrm>
            <a:off x="0" y="6729984"/>
            <a:ext cx="12191695" cy="128016"/>
          </a:xfrm>
          <a:prstGeom prst="rect">
            <a:avLst/>
          </a:prstGeom>
          <a:solidFill>
            <a:srgbClr val="FF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lang="en-US" noProof="0" dirty="0"/>
          </a:p>
        </p:txBody>
      </p:sp>
      <p:sp>
        <p:nvSpPr>
          <p:cNvPr id="6" name="TextBox 5"/>
          <p:cNvSpPr txBox="1"/>
          <p:nvPr/>
        </p:nvSpPr>
        <p:spPr>
          <a:xfrm>
            <a:off x="2103120" y="5261372"/>
            <a:ext cx="3136821" cy="646331"/>
          </a:xfrm>
          <a:prstGeom prst="rect">
            <a:avLst/>
          </a:prstGeom>
          <a:noFill/>
        </p:spPr>
        <p:txBody>
          <a:bodyPr wrap="none">
            <a:spAutoFit/>
          </a:bodyPr>
          <a:lstStyle/>
          <a:p>
            <a:r>
              <a:rPr lang="en-US" b="1" noProof="0" dirty="0"/>
              <a:t>PSC VISALIA</a:t>
            </a:r>
          </a:p>
          <a:p>
            <a:r>
              <a:rPr lang="en-US" b="1" noProof="0" dirty="0"/>
              <a:t>CORRUGATOR BHS 98 PROJECT</a:t>
            </a:r>
          </a:p>
        </p:txBody>
      </p:sp>
      <p:sp>
        <p:nvSpPr>
          <p:cNvPr id="7" name="TextBox 6"/>
          <p:cNvSpPr txBox="1"/>
          <p:nvPr/>
        </p:nvSpPr>
        <p:spPr>
          <a:xfrm>
            <a:off x="658368" y="5947172"/>
            <a:ext cx="5159105" cy="369332"/>
          </a:xfrm>
          <a:prstGeom prst="rect">
            <a:avLst/>
          </a:prstGeom>
          <a:noFill/>
        </p:spPr>
        <p:txBody>
          <a:bodyPr wrap="none">
            <a:spAutoFit/>
          </a:bodyPr>
          <a:lstStyle/>
          <a:p>
            <a:r>
              <a:rPr lang="en-US" noProof="0" dirty="0"/>
              <a:t>Complete Relocation &amp; Modernization </a:t>
            </a:r>
            <a:r>
              <a:rPr lang="en-US" dirty="0"/>
              <a:t>&amp;</a:t>
            </a:r>
            <a:r>
              <a:rPr lang="en-US" noProof="0" dirty="0"/>
              <a:t> Automation</a:t>
            </a:r>
          </a:p>
        </p:txBody>
      </p:sp>
      <p:pic>
        <p:nvPicPr>
          <p:cNvPr id="1026" name="Picture 2" descr="Pacific Southwest Container, LLC ...">
            <a:extLst>
              <a:ext uri="{FF2B5EF4-FFF2-40B4-BE49-F238E27FC236}">
                <a16:creationId xmlns:a16="http://schemas.microsoft.com/office/drawing/2014/main" id="{4396BC56-16ED-854B-88DD-93F868D05D8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17478" y="5261371"/>
            <a:ext cx="1050945" cy="646331"/>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6595A02E-CEA2-3087-AB37-60EB347CC262}"/>
              </a:ext>
            </a:extLst>
          </p:cNvPr>
          <p:cNvSpPr txBox="1"/>
          <p:nvPr/>
        </p:nvSpPr>
        <p:spPr>
          <a:xfrm>
            <a:off x="6321392" y="5401656"/>
            <a:ext cx="4293599" cy="646331"/>
          </a:xfrm>
          <a:prstGeom prst="rect">
            <a:avLst/>
          </a:prstGeom>
          <a:noFill/>
        </p:spPr>
        <p:txBody>
          <a:bodyPr wrap="square" anchor="t">
            <a:spAutoFit/>
          </a:bodyPr>
          <a:lstStyle/>
          <a:p>
            <a:r>
              <a:rPr lang="en-US" noProof="0" dirty="0">
                <a:highlight>
                  <a:srgbClr val="FF0000"/>
                </a:highlight>
              </a:rPr>
              <a:t>INGECART ENGINEERING &amp; AUDITING</a:t>
            </a:r>
          </a:p>
          <a:p>
            <a:r>
              <a:rPr lang="en-US" noProof="0" dirty="0">
                <a:highlight>
                  <a:srgbClr val="FF0000"/>
                </a:highlight>
              </a:rPr>
              <a:t>LINETEX COMMERCIAL CHANNEL USA</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TextBox 3"/>
          <p:cNvSpPr txBox="1"/>
          <p:nvPr/>
        </p:nvSpPr>
        <p:spPr>
          <a:xfrm>
            <a:off x="658368" y="516409"/>
            <a:ext cx="10168128" cy="369332"/>
          </a:xfrm>
          <a:prstGeom prst="rect">
            <a:avLst/>
          </a:prstGeom>
          <a:noFill/>
        </p:spPr>
        <p:txBody>
          <a:bodyPr wrap="square" anchor="t">
            <a:spAutoFit/>
          </a:bodyPr>
          <a:lstStyle/>
          <a:p>
            <a:r>
              <a:rPr lang="en-US" b="1" noProof="0" dirty="0"/>
              <a:t>EXECUTIVE SUMMARY: </a:t>
            </a:r>
            <a:r>
              <a:rPr lang="en-US" b="1" dirty="0"/>
              <a:t>Turnkey </a:t>
            </a:r>
            <a:r>
              <a:rPr lang="en-US" b="1" noProof="0" dirty="0"/>
              <a:t>BHS corrugator relocation  </a:t>
            </a:r>
          </a:p>
        </p:txBody>
      </p:sp>
      <p:sp>
        <p:nvSpPr>
          <p:cNvPr id="10" name="TextBox 9"/>
          <p:cNvSpPr txBox="1"/>
          <p:nvPr/>
        </p:nvSpPr>
        <p:spPr>
          <a:xfrm>
            <a:off x="658368" y="1481328"/>
            <a:ext cx="4846320" cy="1477328"/>
          </a:xfrm>
          <a:prstGeom prst="rect">
            <a:avLst/>
          </a:prstGeom>
          <a:noFill/>
        </p:spPr>
        <p:txBody>
          <a:bodyPr wrap="square" anchor="t">
            <a:spAutoFit/>
          </a:bodyPr>
          <a:lstStyle/>
          <a:p>
            <a:pPr algn="just"/>
            <a:r>
              <a:rPr lang="en-US" noProof="0" dirty="0"/>
              <a:t>The project integrates a second-hand BHS 2500 mm corrugator with mechanical, electrical and function cycles improvements to be ready for full production in Visalia with a much more organized and scalable operation.</a:t>
            </a:r>
          </a:p>
        </p:txBody>
      </p:sp>
      <p:sp>
        <p:nvSpPr>
          <p:cNvPr id="11" name="TextBox 10"/>
          <p:cNvSpPr txBox="1"/>
          <p:nvPr/>
        </p:nvSpPr>
        <p:spPr>
          <a:xfrm>
            <a:off x="685800" y="3076956"/>
            <a:ext cx="4754880" cy="3416320"/>
          </a:xfrm>
          <a:prstGeom prst="rect">
            <a:avLst/>
          </a:prstGeom>
          <a:noFill/>
        </p:spPr>
        <p:txBody>
          <a:bodyPr wrap="square">
            <a:spAutoFit/>
          </a:bodyPr>
          <a:lstStyle/>
          <a:p>
            <a:pPr algn="just"/>
            <a:r>
              <a:rPr lang="en-US" noProof="0" dirty="0"/>
              <a:t>INSTALLED BHS BASE with working width 2,500 mm and PLATFORM up to 300 m/min. Complete RELOCATION with documented </a:t>
            </a:r>
            <a:r>
              <a:rPr lang="en-US" dirty="0"/>
              <a:t>equipment full technical audit, </a:t>
            </a:r>
            <a:r>
              <a:rPr lang="en-US" noProof="0" dirty="0"/>
              <a:t>disassembly, transport, assembly and commissioning. </a:t>
            </a:r>
          </a:p>
          <a:p>
            <a:pPr algn="just"/>
            <a:endParaRPr lang="en-US" dirty="0"/>
          </a:p>
          <a:p>
            <a:pPr algn="just"/>
            <a:r>
              <a:rPr lang="en-US" noProof="0" dirty="0"/>
              <a:t>New layer of handling: CONVEYORS, WIP, AMR-ready and automated home area.</a:t>
            </a:r>
          </a:p>
          <a:p>
            <a:pPr algn="just"/>
            <a:endParaRPr lang="en-US" dirty="0"/>
          </a:p>
          <a:p>
            <a:pPr algn="just"/>
            <a:r>
              <a:rPr lang="en-US" noProof="0" dirty="0"/>
              <a:t> USA approach: Ingecart executes; </a:t>
            </a:r>
            <a:r>
              <a:rPr lang="en-US" noProof="0" dirty="0" err="1"/>
              <a:t>Linetex</a:t>
            </a:r>
            <a:r>
              <a:rPr lang="en-US" noProof="0" dirty="0"/>
              <a:t> acts as a commercial channel and local face of the project.</a:t>
            </a:r>
          </a:p>
        </p:txBody>
      </p:sp>
      <p:sp>
        <p:nvSpPr>
          <p:cNvPr id="12" name="Rounded Rectangle 11"/>
          <p:cNvSpPr/>
          <p:nvPr/>
        </p:nvSpPr>
        <p:spPr>
          <a:xfrm>
            <a:off x="5715000" y="1481328"/>
            <a:ext cx="1828800" cy="1371600"/>
          </a:xfrm>
          <a:prstGeom prst="roundRect">
            <a:avLst/>
          </a:prstGeom>
          <a:solidFill>
            <a:srgbClr val="FFFFFF"/>
          </a:solidFill>
          <a:ln>
            <a:solidFill>
              <a:srgbClr val="E3E5E8"/>
            </a:solidFill>
          </a:ln>
        </p:spPr>
        <p:style>
          <a:lnRef idx="1">
            <a:schemeClr val="accent1"/>
          </a:lnRef>
          <a:fillRef idx="3">
            <a:schemeClr val="accent1"/>
          </a:fillRef>
          <a:effectRef idx="2">
            <a:schemeClr val="accent1"/>
          </a:effectRef>
          <a:fontRef idx="minor">
            <a:schemeClr val="lt1"/>
          </a:fontRef>
        </p:style>
        <p:txBody>
          <a:bodyPr rtlCol="0" anchor="ctr"/>
          <a:lstStyle/>
          <a:p>
            <a:endParaRPr lang="en-US" sz="1400" noProof="0" dirty="0"/>
          </a:p>
        </p:txBody>
      </p:sp>
      <p:sp>
        <p:nvSpPr>
          <p:cNvPr id="13" name="TextBox 12"/>
          <p:cNvSpPr txBox="1"/>
          <p:nvPr/>
        </p:nvSpPr>
        <p:spPr>
          <a:xfrm>
            <a:off x="5879592" y="1806499"/>
            <a:ext cx="1499616" cy="307777"/>
          </a:xfrm>
          <a:prstGeom prst="rect">
            <a:avLst/>
          </a:prstGeom>
          <a:noFill/>
        </p:spPr>
        <p:txBody>
          <a:bodyPr wrap="square" anchor="t">
            <a:spAutoFit/>
          </a:bodyPr>
          <a:lstStyle/>
          <a:p>
            <a:r>
              <a:rPr lang="en-US" sz="1400" noProof="0" dirty="0"/>
              <a:t>PLATFORM</a:t>
            </a:r>
          </a:p>
        </p:txBody>
      </p:sp>
      <p:sp>
        <p:nvSpPr>
          <p:cNvPr id="14" name="TextBox 13"/>
          <p:cNvSpPr txBox="1"/>
          <p:nvPr/>
        </p:nvSpPr>
        <p:spPr>
          <a:xfrm>
            <a:off x="5879592" y="2080819"/>
            <a:ext cx="1499616" cy="307777"/>
          </a:xfrm>
          <a:prstGeom prst="rect">
            <a:avLst/>
          </a:prstGeom>
          <a:noFill/>
        </p:spPr>
        <p:txBody>
          <a:bodyPr wrap="square" anchor="t">
            <a:spAutoFit/>
          </a:bodyPr>
          <a:lstStyle/>
          <a:p>
            <a:r>
              <a:rPr lang="en-US" sz="1400" noProof="0" dirty="0"/>
              <a:t>BHS 2500 mm</a:t>
            </a:r>
          </a:p>
        </p:txBody>
      </p:sp>
      <p:sp>
        <p:nvSpPr>
          <p:cNvPr id="16" name="Rounded Rectangle 15"/>
          <p:cNvSpPr/>
          <p:nvPr/>
        </p:nvSpPr>
        <p:spPr>
          <a:xfrm>
            <a:off x="7744968" y="1481328"/>
            <a:ext cx="1828800" cy="1371600"/>
          </a:xfrm>
          <a:prstGeom prst="roundRect">
            <a:avLst/>
          </a:prstGeom>
          <a:solidFill>
            <a:srgbClr val="FFFFFF"/>
          </a:solidFill>
          <a:ln>
            <a:solidFill>
              <a:srgbClr val="E3E5E8"/>
            </a:solidFill>
          </a:ln>
        </p:spPr>
        <p:style>
          <a:lnRef idx="1">
            <a:schemeClr val="accent1"/>
          </a:lnRef>
          <a:fillRef idx="3">
            <a:schemeClr val="accent1"/>
          </a:fillRef>
          <a:effectRef idx="2">
            <a:schemeClr val="accent1"/>
          </a:effectRef>
          <a:fontRef idx="minor">
            <a:schemeClr val="lt1"/>
          </a:fontRef>
        </p:style>
        <p:txBody>
          <a:bodyPr rtlCol="0" anchor="ctr"/>
          <a:lstStyle/>
          <a:p>
            <a:endParaRPr lang="en-US" noProof="0" dirty="0"/>
          </a:p>
        </p:txBody>
      </p:sp>
      <p:sp>
        <p:nvSpPr>
          <p:cNvPr id="17" name="TextBox 16"/>
          <p:cNvSpPr txBox="1"/>
          <p:nvPr/>
        </p:nvSpPr>
        <p:spPr>
          <a:xfrm>
            <a:off x="7991856" y="1761220"/>
            <a:ext cx="1499616" cy="307777"/>
          </a:xfrm>
          <a:prstGeom prst="rect">
            <a:avLst/>
          </a:prstGeom>
          <a:noFill/>
        </p:spPr>
        <p:txBody>
          <a:bodyPr wrap="square" anchor="t">
            <a:spAutoFit/>
          </a:bodyPr>
          <a:lstStyle/>
          <a:p>
            <a:r>
              <a:rPr lang="en-US" sz="1400" noProof="0" dirty="0"/>
              <a:t>SPEED</a:t>
            </a:r>
          </a:p>
        </p:txBody>
      </p:sp>
      <p:sp>
        <p:nvSpPr>
          <p:cNvPr id="18" name="TextBox 17"/>
          <p:cNvSpPr txBox="1"/>
          <p:nvPr/>
        </p:nvSpPr>
        <p:spPr>
          <a:xfrm>
            <a:off x="7991856" y="2035540"/>
            <a:ext cx="1499616" cy="338554"/>
          </a:xfrm>
          <a:prstGeom prst="rect">
            <a:avLst/>
          </a:prstGeom>
          <a:noFill/>
        </p:spPr>
        <p:txBody>
          <a:bodyPr wrap="square" anchor="t">
            <a:spAutoFit/>
          </a:bodyPr>
          <a:lstStyle/>
          <a:p>
            <a:r>
              <a:rPr lang="en-US" sz="1600" noProof="0" dirty="0"/>
              <a:t>300 m/min</a:t>
            </a:r>
          </a:p>
        </p:txBody>
      </p:sp>
      <p:sp>
        <p:nvSpPr>
          <p:cNvPr id="20" name="Rounded Rectangle 19"/>
          <p:cNvSpPr/>
          <p:nvPr/>
        </p:nvSpPr>
        <p:spPr>
          <a:xfrm>
            <a:off x="9774936" y="1481328"/>
            <a:ext cx="1783080" cy="1371600"/>
          </a:xfrm>
          <a:prstGeom prst="roundRect">
            <a:avLst/>
          </a:prstGeom>
          <a:solidFill>
            <a:srgbClr val="FFFFFF"/>
          </a:solidFill>
          <a:ln>
            <a:solidFill>
              <a:srgbClr val="E3E5E8"/>
            </a:solidFill>
          </a:ln>
        </p:spPr>
        <p:style>
          <a:lnRef idx="1">
            <a:schemeClr val="accent1"/>
          </a:lnRef>
          <a:fillRef idx="3">
            <a:schemeClr val="accent1"/>
          </a:fillRef>
          <a:effectRef idx="2">
            <a:schemeClr val="accent1"/>
          </a:effectRef>
          <a:fontRef idx="minor">
            <a:schemeClr val="lt1"/>
          </a:fontRef>
        </p:style>
        <p:txBody>
          <a:bodyPr rtlCol="0" anchor="ctr"/>
          <a:lstStyle/>
          <a:p>
            <a:endParaRPr lang="en-US" sz="1400" noProof="0" dirty="0"/>
          </a:p>
        </p:txBody>
      </p:sp>
      <p:sp>
        <p:nvSpPr>
          <p:cNvPr id="24" name="Rounded Rectangle 23"/>
          <p:cNvSpPr/>
          <p:nvPr/>
        </p:nvSpPr>
        <p:spPr>
          <a:xfrm>
            <a:off x="5715000" y="3154680"/>
            <a:ext cx="2743200" cy="1554480"/>
          </a:xfrm>
          <a:prstGeom prst="roundRect">
            <a:avLst/>
          </a:prstGeom>
          <a:solidFill>
            <a:srgbClr val="FFFFFF"/>
          </a:solidFill>
          <a:ln>
            <a:solidFill>
              <a:srgbClr val="E3E5E8"/>
            </a:solidFill>
          </a:ln>
        </p:spPr>
        <p:style>
          <a:lnRef idx="1">
            <a:schemeClr val="accent1"/>
          </a:lnRef>
          <a:fillRef idx="3">
            <a:schemeClr val="accent1"/>
          </a:fillRef>
          <a:effectRef idx="2">
            <a:schemeClr val="accent1"/>
          </a:effectRef>
          <a:fontRef idx="minor">
            <a:schemeClr val="lt1"/>
          </a:fontRef>
        </p:style>
        <p:txBody>
          <a:bodyPr rtlCol="0" anchor="ctr"/>
          <a:lstStyle/>
          <a:p>
            <a:endParaRPr lang="en-US" sz="1400" noProof="0" dirty="0"/>
          </a:p>
        </p:txBody>
      </p:sp>
      <p:sp>
        <p:nvSpPr>
          <p:cNvPr id="28" name="Rounded Rectangle 27"/>
          <p:cNvSpPr/>
          <p:nvPr/>
        </p:nvSpPr>
        <p:spPr>
          <a:xfrm>
            <a:off x="8668512" y="3154680"/>
            <a:ext cx="2889504" cy="1554480"/>
          </a:xfrm>
          <a:prstGeom prst="roundRect">
            <a:avLst/>
          </a:prstGeom>
          <a:solidFill>
            <a:srgbClr val="FFFFFF"/>
          </a:solidFill>
          <a:ln>
            <a:solidFill>
              <a:srgbClr val="E3E5E8"/>
            </a:solidFill>
          </a:ln>
        </p:spPr>
        <p:style>
          <a:lnRef idx="1">
            <a:schemeClr val="accent1"/>
          </a:lnRef>
          <a:fillRef idx="3">
            <a:schemeClr val="accent1"/>
          </a:fillRef>
          <a:effectRef idx="2">
            <a:schemeClr val="accent1"/>
          </a:effectRef>
          <a:fontRef idx="minor">
            <a:schemeClr val="lt1"/>
          </a:fontRef>
        </p:style>
        <p:txBody>
          <a:bodyPr rtlCol="0" anchor="ctr"/>
          <a:lstStyle/>
          <a:p>
            <a:endParaRPr lang="en-US" sz="1400" noProof="0" dirty="0"/>
          </a:p>
        </p:txBody>
      </p:sp>
      <p:sp>
        <p:nvSpPr>
          <p:cNvPr id="32" name="Rounded Rectangle 31"/>
          <p:cNvSpPr/>
          <p:nvPr/>
        </p:nvSpPr>
        <p:spPr>
          <a:xfrm>
            <a:off x="5879592" y="5458968"/>
            <a:ext cx="5843016" cy="749808"/>
          </a:xfrm>
          <a:prstGeom prst="roundRect">
            <a:avLst/>
          </a:prstGeom>
          <a:solidFill>
            <a:srgbClr val="15385E"/>
          </a:solidFill>
          <a:ln>
            <a:solidFill>
              <a:srgbClr val="15385E"/>
            </a:solidFill>
          </a:ln>
        </p:spPr>
        <p:style>
          <a:lnRef idx="1">
            <a:schemeClr val="accent1"/>
          </a:lnRef>
          <a:fillRef idx="3">
            <a:schemeClr val="accent1"/>
          </a:fillRef>
          <a:effectRef idx="2">
            <a:schemeClr val="accent1"/>
          </a:effectRef>
          <a:fontRef idx="minor">
            <a:schemeClr val="lt1"/>
          </a:fontRef>
        </p:style>
        <p:txBody>
          <a:bodyPr rtlCol="0" anchor="ctr"/>
          <a:lstStyle/>
          <a:p>
            <a:endParaRPr lang="en-US" noProof="0" dirty="0"/>
          </a:p>
        </p:txBody>
      </p:sp>
      <p:sp>
        <p:nvSpPr>
          <p:cNvPr id="33" name="TextBox 32"/>
          <p:cNvSpPr txBox="1"/>
          <p:nvPr/>
        </p:nvSpPr>
        <p:spPr>
          <a:xfrm>
            <a:off x="6108192" y="5518172"/>
            <a:ext cx="5349240" cy="646331"/>
          </a:xfrm>
          <a:prstGeom prst="rect">
            <a:avLst/>
          </a:prstGeom>
          <a:noFill/>
        </p:spPr>
        <p:txBody>
          <a:bodyPr wrap="square" anchor="t">
            <a:spAutoFit/>
          </a:bodyPr>
          <a:lstStyle/>
          <a:p>
            <a:r>
              <a:rPr lang="en-US" noProof="0" dirty="0">
                <a:solidFill>
                  <a:schemeClr val="bg1"/>
                </a:solidFill>
              </a:rPr>
              <a:t>Key message: technical de-risking + industrial continuity + internal automation</a:t>
            </a:r>
          </a:p>
        </p:txBody>
      </p:sp>
      <p:sp>
        <p:nvSpPr>
          <p:cNvPr id="34" name="Rectangle 33"/>
          <p:cNvSpPr/>
          <p:nvPr/>
        </p:nvSpPr>
        <p:spPr>
          <a:xfrm>
            <a:off x="0" y="0"/>
            <a:ext cx="12191695" cy="109728"/>
          </a:xfrm>
          <a:prstGeom prst="rect">
            <a:avLst/>
          </a:prstGeom>
          <a:solidFill>
            <a:srgbClr val="FF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lang="en-US" noProof="0" dirty="0"/>
          </a:p>
        </p:txBody>
      </p:sp>
      <p:sp>
        <p:nvSpPr>
          <p:cNvPr id="35" name="Rectangle 34"/>
          <p:cNvSpPr/>
          <p:nvPr/>
        </p:nvSpPr>
        <p:spPr>
          <a:xfrm>
            <a:off x="0" y="6729984"/>
            <a:ext cx="12191695" cy="128016"/>
          </a:xfrm>
          <a:prstGeom prst="rect">
            <a:avLst/>
          </a:prstGeom>
          <a:solidFill>
            <a:srgbClr val="FF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lang="en-US" noProof="0" dirty="0"/>
          </a:p>
        </p:txBody>
      </p:sp>
      <p:sp>
        <p:nvSpPr>
          <p:cNvPr id="6" name="TextBox 5"/>
          <p:cNvSpPr txBox="1"/>
          <p:nvPr/>
        </p:nvSpPr>
        <p:spPr>
          <a:xfrm>
            <a:off x="11155680" y="6519672"/>
            <a:ext cx="640080" cy="201168"/>
          </a:xfrm>
          <a:prstGeom prst="rect">
            <a:avLst/>
          </a:prstGeom>
          <a:noFill/>
        </p:spPr>
        <p:txBody>
          <a:bodyPr wrap="square" anchor="t">
            <a:spAutoFit/>
          </a:bodyPr>
          <a:lstStyle/>
          <a:p>
            <a:r>
              <a:rPr lang="en-US" noProof="0" dirty="0"/>
              <a:t>2</a:t>
            </a:r>
          </a:p>
        </p:txBody>
      </p:sp>
      <p:sp>
        <p:nvSpPr>
          <p:cNvPr id="36" name="TextBox 35">
            <a:extLst>
              <a:ext uri="{FF2B5EF4-FFF2-40B4-BE49-F238E27FC236}">
                <a16:creationId xmlns:a16="http://schemas.microsoft.com/office/drawing/2014/main" id="{AE3886C3-EB8C-0A0D-D3CF-D482E0A0255B}"/>
              </a:ext>
            </a:extLst>
          </p:cNvPr>
          <p:cNvSpPr txBox="1"/>
          <p:nvPr/>
        </p:nvSpPr>
        <p:spPr>
          <a:xfrm>
            <a:off x="10034016" y="1868942"/>
            <a:ext cx="1499616" cy="523220"/>
          </a:xfrm>
          <a:prstGeom prst="rect">
            <a:avLst/>
          </a:prstGeom>
          <a:noFill/>
        </p:spPr>
        <p:txBody>
          <a:bodyPr wrap="square" anchor="t">
            <a:spAutoFit/>
          </a:bodyPr>
          <a:lstStyle/>
          <a:p>
            <a:r>
              <a:rPr lang="en-US" sz="1400" dirty="0"/>
              <a:t>PLC UPGRADE </a:t>
            </a:r>
          </a:p>
          <a:p>
            <a:r>
              <a:rPr lang="en-US" sz="1400" dirty="0"/>
              <a:t>SIEMENS S7 </a:t>
            </a:r>
            <a:endParaRPr lang="en-US" sz="1400" noProof="0" dirty="0"/>
          </a:p>
        </p:txBody>
      </p:sp>
      <p:sp>
        <p:nvSpPr>
          <p:cNvPr id="38" name="TextBox 37">
            <a:extLst>
              <a:ext uri="{FF2B5EF4-FFF2-40B4-BE49-F238E27FC236}">
                <a16:creationId xmlns:a16="http://schemas.microsoft.com/office/drawing/2014/main" id="{E0C214F7-7FC9-0FDF-ABA9-A0BC7143F963}"/>
              </a:ext>
            </a:extLst>
          </p:cNvPr>
          <p:cNvSpPr txBox="1"/>
          <p:nvPr/>
        </p:nvSpPr>
        <p:spPr>
          <a:xfrm>
            <a:off x="5879592" y="3600170"/>
            <a:ext cx="2331720" cy="523220"/>
          </a:xfrm>
          <a:prstGeom prst="rect">
            <a:avLst/>
          </a:prstGeom>
          <a:noFill/>
        </p:spPr>
        <p:txBody>
          <a:bodyPr wrap="square" anchor="t">
            <a:spAutoFit/>
          </a:bodyPr>
          <a:lstStyle/>
          <a:p>
            <a:r>
              <a:rPr lang="en-US" sz="1400" noProof="0" dirty="0"/>
              <a:t>FULL INTEGRATION WITH CONVERTING AND WIP AREA</a:t>
            </a:r>
          </a:p>
        </p:txBody>
      </p:sp>
      <p:sp>
        <p:nvSpPr>
          <p:cNvPr id="39" name="TextBox 38">
            <a:extLst>
              <a:ext uri="{FF2B5EF4-FFF2-40B4-BE49-F238E27FC236}">
                <a16:creationId xmlns:a16="http://schemas.microsoft.com/office/drawing/2014/main" id="{12B63108-4DED-4561-C045-555521F0DC0A}"/>
              </a:ext>
            </a:extLst>
          </p:cNvPr>
          <p:cNvSpPr txBox="1"/>
          <p:nvPr/>
        </p:nvSpPr>
        <p:spPr>
          <a:xfrm>
            <a:off x="9284208" y="3511724"/>
            <a:ext cx="1499616" cy="738664"/>
          </a:xfrm>
          <a:prstGeom prst="rect">
            <a:avLst/>
          </a:prstGeom>
          <a:noFill/>
        </p:spPr>
        <p:txBody>
          <a:bodyPr wrap="square" anchor="t">
            <a:spAutoFit/>
          </a:bodyPr>
          <a:lstStyle/>
          <a:p>
            <a:r>
              <a:rPr lang="en-US" sz="1400" dirty="0"/>
              <a:t>AMR EQUIPMENT AND LOGIC INTEGRATION</a:t>
            </a:r>
            <a:endParaRPr lang="en-US" sz="1400" noProof="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TextBox 3"/>
          <p:cNvSpPr txBox="1"/>
          <p:nvPr/>
        </p:nvSpPr>
        <p:spPr>
          <a:xfrm>
            <a:off x="749808" y="314057"/>
            <a:ext cx="4572000" cy="369332"/>
          </a:xfrm>
          <a:prstGeom prst="rect">
            <a:avLst/>
          </a:prstGeom>
          <a:noFill/>
        </p:spPr>
        <p:txBody>
          <a:bodyPr wrap="square" anchor="t">
            <a:spAutoFit/>
          </a:bodyPr>
          <a:lstStyle/>
          <a:p>
            <a:r>
              <a:rPr lang="en-US" b="1" dirty="0"/>
              <a:t>OBJECTIVES</a:t>
            </a:r>
          </a:p>
        </p:txBody>
      </p:sp>
      <p:sp>
        <p:nvSpPr>
          <p:cNvPr id="6" name="TextBox 5"/>
          <p:cNvSpPr txBox="1"/>
          <p:nvPr/>
        </p:nvSpPr>
        <p:spPr>
          <a:xfrm>
            <a:off x="11155680" y="6519672"/>
            <a:ext cx="640080" cy="201168"/>
          </a:xfrm>
          <a:prstGeom prst="rect">
            <a:avLst/>
          </a:prstGeom>
          <a:noFill/>
        </p:spPr>
        <p:txBody>
          <a:bodyPr wrap="square" anchor="t">
            <a:spAutoFit/>
          </a:bodyPr>
          <a:lstStyle/>
          <a:p>
            <a:r>
              <a:rPr lang="en-US" noProof="0" dirty="0"/>
              <a:t>3</a:t>
            </a:r>
          </a:p>
        </p:txBody>
      </p:sp>
      <p:sp>
        <p:nvSpPr>
          <p:cNvPr id="10" name="Rounded Rectangle 9"/>
          <p:cNvSpPr/>
          <p:nvPr/>
        </p:nvSpPr>
        <p:spPr>
          <a:xfrm>
            <a:off x="658368" y="1508760"/>
            <a:ext cx="4892040" cy="4526280"/>
          </a:xfrm>
          <a:prstGeom prst="roundRect">
            <a:avLst/>
          </a:prstGeom>
          <a:solidFill>
            <a:srgbClr val="FFFFFF"/>
          </a:solidFill>
          <a:ln>
            <a:solidFill>
              <a:srgbClr val="E3E5E8"/>
            </a:solidFill>
          </a:ln>
        </p:spPr>
        <p:style>
          <a:lnRef idx="1">
            <a:schemeClr val="accent1"/>
          </a:lnRef>
          <a:fillRef idx="3">
            <a:schemeClr val="accent1"/>
          </a:fillRef>
          <a:effectRef idx="2">
            <a:schemeClr val="accent1"/>
          </a:effectRef>
          <a:fontRef idx="minor">
            <a:schemeClr val="lt1"/>
          </a:fontRef>
        </p:style>
        <p:txBody>
          <a:bodyPr rtlCol="0" anchor="ctr"/>
          <a:lstStyle/>
          <a:p>
            <a:endParaRPr lang="en-US" noProof="0" dirty="0"/>
          </a:p>
        </p:txBody>
      </p:sp>
      <p:sp>
        <p:nvSpPr>
          <p:cNvPr id="11" name="TextBox 10"/>
          <p:cNvSpPr txBox="1"/>
          <p:nvPr/>
        </p:nvSpPr>
        <p:spPr>
          <a:xfrm>
            <a:off x="886968" y="2162681"/>
            <a:ext cx="4434840" cy="2862322"/>
          </a:xfrm>
          <a:prstGeom prst="rect">
            <a:avLst/>
          </a:prstGeom>
          <a:noFill/>
        </p:spPr>
        <p:txBody>
          <a:bodyPr wrap="square">
            <a:spAutoFit/>
          </a:bodyPr>
          <a:lstStyle/>
          <a:p>
            <a:r>
              <a:rPr lang="en-US" noProof="0" dirty="0"/>
              <a:t>Reinstall a proven line with mechanical and electrical traceability from origin to sat. Reduce dependence on obsolete equipment through selective upgrades in handling, control and support. Prepare the OPERATION for a cleaner flow between corrugator, WIP, conversion and waste.</a:t>
            </a:r>
          </a:p>
          <a:p>
            <a:pPr marL="285750" indent="-285750">
              <a:buFont typeface="Arial" panose="020B0604020202020204" pitchFamily="34" charset="0"/>
              <a:buChar char="•"/>
            </a:pPr>
            <a:r>
              <a:rPr lang="en-US" noProof="0" dirty="0"/>
              <a:t>Increased efficiency</a:t>
            </a:r>
          </a:p>
          <a:p>
            <a:pPr marL="285750" indent="-285750">
              <a:buFont typeface="Arial" panose="020B0604020202020204" pitchFamily="34" charset="0"/>
              <a:buChar char="•"/>
            </a:pPr>
            <a:r>
              <a:rPr lang="en-US" noProof="0" dirty="0"/>
              <a:t>Reduced downtime</a:t>
            </a:r>
          </a:p>
          <a:p>
            <a:pPr marL="285750" indent="-285750">
              <a:buFont typeface="Arial" panose="020B0604020202020204" pitchFamily="34" charset="0"/>
              <a:buChar char="•"/>
            </a:pPr>
            <a:r>
              <a:rPr lang="en-US" noProof="0" dirty="0"/>
              <a:t>Growth-ready process set up</a:t>
            </a:r>
          </a:p>
        </p:txBody>
      </p:sp>
      <p:sp>
        <p:nvSpPr>
          <p:cNvPr id="12" name="Chevron 11"/>
          <p:cNvSpPr/>
          <p:nvPr/>
        </p:nvSpPr>
        <p:spPr>
          <a:xfrm>
            <a:off x="6144768" y="692625"/>
            <a:ext cx="1600200" cy="731520"/>
          </a:xfrm>
          <a:prstGeom prst="chevron">
            <a:avLst/>
          </a:prstGeom>
          <a:solidFill>
            <a:schemeClr val="accent6"/>
          </a:solidFill>
          <a:ln>
            <a:solidFill>
              <a:schemeClr val="accent6"/>
            </a:solidFill>
          </a:ln>
        </p:spPr>
        <p:style>
          <a:lnRef idx="1">
            <a:schemeClr val="accent1"/>
          </a:lnRef>
          <a:fillRef idx="3">
            <a:schemeClr val="accent1"/>
          </a:fillRef>
          <a:effectRef idx="2">
            <a:schemeClr val="accent1"/>
          </a:effectRef>
          <a:fontRef idx="minor">
            <a:schemeClr val="lt1"/>
          </a:fontRef>
        </p:style>
        <p:txBody>
          <a:bodyPr rtlCol="0" anchor="ctr"/>
          <a:lstStyle/>
          <a:p>
            <a:endParaRPr lang="en-US" noProof="0" dirty="0"/>
          </a:p>
        </p:txBody>
      </p:sp>
      <p:sp>
        <p:nvSpPr>
          <p:cNvPr id="14" name="Chevron 13"/>
          <p:cNvSpPr/>
          <p:nvPr/>
        </p:nvSpPr>
        <p:spPr>
          <a:xfrm>
            <a:off x="7744968" y="692625"/>
            <a:ext cx="1600200" cy="731520"/>
          </a:xfrm>
          <a:prstGeom prst="chevron">
            <a:avLst/>
          </a:prstGeom>
          <a:solidFill>
            <a:schemeClr val="accent6"/>
          </a:solidFill>
          <a:ln>
            <a:solidFill>
              <a:schemeClr val="accent6"/>
            </a:solidFill>
          </a:ln>
        </p:spPr>
        <p:style>
          <a:lnRef idx="1">
            <a:schemeClr val="accent1"/>
          </a:lnRef>
          <a:fillRef idx="3">
            <a:schemeClr val="accent1"/>
          </a:fillRef>
          <a:effectRef idx="2">
            <a:schemeClr val="accent1"/>
          </a:effectRef>
          <a:fontRef idx="minor">
            <a:schemeClr val="lt1"/>
          </a:fontRef>
        </p:style>
        <p:txBody>
          <a:bodyPr rtlCol="0" anchor="ctr"/>
          <a:lstStyle/>
          <a:p>
            <a:endParaRPr lang="en-US" noProof="0" dirty="0"/>
          </a:p>
        </p:txBody>
      </p:sp>
      <p:sp>
        <p:nvSpPr>
          <p:cNvPr id="16" name="Chevron 15"/>
          <p:cNvSpPr/>
          <p:nvPr/>
        </p:nvSpPr>
        <p:spPr>
          <a:xfrm>
            <a:off x="9323647" y="701769"/>
            <a:ext cx="1600200" cy="731520"/>
          </a:xfrm>
          <a:prstGeom prst="chevron">
            <a:avLst/>
          </a:prstGeom>
          <a:solidFill>
            <a:schemeClr val="accent6"/>
          </a:solidFill>
          <a:ln>
            <a:solidFill>
              <a:schemeClr val="accent6"/>
            </a:solidFill>
          </a:ln>
        </p:spPr>
        <p:style>
          <a:lnRef idx="1">
            <a:schemeClr val="accent1"/>
          </a:lnRef>
          <a:fillRef idx="3">
            <a:schemeClr val="accent1"/>
          </a:fillRef>
          <a:effectRef idx="2">
            <a:schemeClr val="accent1"/>
          </a:effectRef>
          <a:fontRef idx="minor">
            <a:schemeClr val="lt1"/>
          </a:fontRef>
        </p:style>
        <p:txBody>
          <a:bodyPr rtlCol="0" anchor="ctr"/>
          <a:lstStyle/>
          <a:p>
            <a:endParaRPr lang="en-US" noProof="0" dirty="0"/>
          </a:p>
        </p:txBody>
      </p:sp>
      <p:sp>
        <p:nvSpPr>
          <p:cNvPr id="17" name="TextBox 16"/>
          <p:cNvSpPr txBox="1"/>
          <p:nvPr/>
        </p:nvSpPr>
        <p:spPr>
          <a:xfrm>
            <a:off x="6247938" y="855287"/>
            <a:ext cx="1344168" cy="369332"/>
          </a:xfrm>
          <a:prstGeom prst="rect">
            <a:avLst/>
          </a:prstGeom>
          <a:noFill/>
        </p:spPr>
        <p:txBody>
          <a:bodyPr wrap="square" anchor="ctr">
            <a:spAutoFit/>
          </a:bodyPr>
          <a:lstStyle/>
          <a:p>
            <a:r>
              <a:rPr lang="en-US" b="1" noProof="0" dirty="0"/>
              <a:t>AUTOMATE</a:t>
            </a:r>
          </a:p>
        </p:txBody>
      </p:sp>
      <p:sp>
        <p:nvSpPr>
          <p:cNvPr id="18" name="Rounded Rectangle 17"/>
          <p:cNvSpPr/>
          <p:nvPr/>
        </p:nvSpPr>
        <p:spPr>
          <a:xfrm>
            <a:off x="5897880" y="2788920"/>
            <a:ext cx="4709160" cy="3063240"/>
          </a:xfrm>
          <a:prstGeom prst="roundRect">
            <a:avLst/>
          </a:prstGeom>
          <a:solidFill>
            <a:schemeClr val="accent6">
              <a:lumMod val="20000"/>
              <a:lumOff val="80000"/>
            </a:schemeClr>
          </a:solidFill>
          <a:ln>
            <a:solidFill>
              <a:srgbClr val="E3ECF4"/>
            </a:solidFill>
          </a:ln>
        </p:spPr>
        <p:style>
          <a:lnRef idx="1">
            <a:schemeClr val="accent1"/>
          </a:lnRef>
          <a:fillRef idx="3">
            <a:schemeClr val="accent1"/>
          </a:fillRef>
          <a:effectRef idx="2">
            <a:schemeClr val="accent1"/>
          </a:effectRef>
          <a:fontRef idx="minor">
            <a:schemeClr val="lt1"/>
          </a:fontRef>
        </p:style>
        <p:txBody>
          <a:bodyPr rtlCol="0" anchor="ctr"/>
          <a:lstStyle/>
          <a:p>
            <a:endParaRPr lang="en-US" noProof="0" dirty="0"/>
          </a:p>
        </p:txBody>
      </p:sp>
      <p:sp>
        <p:nvSpPr>
          <p:cNvPr id="19" name="TextBox 18"/>
          <p:cNvSpPr txBox="1"/>
          <p:nvPr/>
        </p:nvSpPr>
        <p:spPr>
          <a:xfrm>
            <a:off x="6199632" y="3063240"/>
            <a:ext cx="4160520" cy="411480"/>
          </a:xfrm>
          <a:prstGeom prst="rect">
            <a:avLst/>
          </a:prstGeom>
          <a:noFill/>
        </p:spPr>
        <p:txBody>
          <a:bodyPr wrap="square" anchor="t">
            <a:spAutoFit/>
          </a:bodyPr>
          <a:lstStyle/>
          <a:p>
            <a:r>
              <a:rPr lang="en-US" noProof="0" dirty="0"/>
              <a:t>Strategic interpretation</a:t>
            </a:r>
          </a:p>
        </p:txBody>
      </p:sp>
      <p:sp>
        <p:nvSpPr>
          <p:cNvPr id="20" name="TextBox 19"/>
          <p:cNvSpPr txBox="1"/>
          <p:nvPr/>
        </p:nvSpPr>
        <p:spPr>
          <a:xfrm>
            <a:off x="6199632" y="3547872"/>
            <a:ext cx="4069080" cy="1754326"/>
          </a:xfrm>
          <a:prstGeom prst="rect">
            <a:avLst/>
          </a:prstGeom>
          <a:noFill/>
        </p:spPr>
        <p:txBody>
          <a:bodyPr wrap="square" anchor="t">
            <a:spAutoFit/>
          </a:bodyPr>
          <a:lstStyle/>
          <a:p>
            <a:pPr algn="just"/>
            <a:r>
              <a:rPr lang="en-US" noProof="0" dirty="0"/>
              <a:t>The proposal combines three levels of value: integration of a robust industrial asset, elevating it with new layers of engineering and turning material handling into a real competitive advantage.</a:t>
            </a:r>
          </a:p>
        </p:txBody>
      </p:sp>
      <p:sp>
        <p:nvSpPr>
          <p:cNvPr id="21" name="Rectangle 20"/>
          <p:cNvSpPr/>
          <p:nvPr/>
        </p:nvSpPr>
        <p:spPr>
          <a:xfrm>
            <a:off x="0" y="0"/>
            <a:ext cx="12191695" cy="109728"/>
          </a:xfrm>
          <a:prstGeom prst="rect">
            <a:avLst/>
          </a:prstGeom>
          <a:solidFill>
            <a:srgbClr val="FF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lang="en-US" noProof="0" dirty="0"/>
          </a:p>
        </p:txBody>
      </p:sp>
      <p:sp>
        <p:nvSpPr>
          <p:cNvPr id="22" name="Rectangle 21"/>
          <p:cNvSpPr/>
          <p:nvPr/>
        </p:nvSpPr>
        <p:spPr>
          <a:xfrm>
            <a:off x="0" y="6729984"/>
            <a:ext cx="12191695" cy="128016"/>
          </a:xfrm>
          <a:prstGeom prst="rect">
            <a:avLst/>
          </a:prstGeom>
          <a:solidFill>
            <a:srgbClr val="FF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lang="en-US" noProof="0" dirty="0"/>
          </a:p>
        </p:txBody>
      </p:sp>
      <p:sp>
        <p:nvSpPr>
          <p:cNvPr id="26" name="Chevron 11">
            <a:extLst>
              <a:ext uri="{FF2B5EF4-FFF2-40B4-BE49-F238E27FC236}">
                <a16:creationId xmlns:a16="http://schemas.microsoft.com/office/drawing/2014/main" id="{F908D1EC-BAAA-AB10-6B8F-C6C3E53BBE84}"/>
              </a:ext>
            </a:extLst>
          </p:cNvPr>
          <p:cNvSpPr/>
          <p:nvPr/>
        </p:nvSpPr>
        <p:spPr>
          <a:xfrm>
            <a:off x="4398264" y="640973"/>
            <a:ext cx="1600200" cy="731520"/>
          </a:xfrm>
          <a:prstGeom prst="chevron">
            <a:avLst/>
          </a:prstGeom>
          <a:solidFill>
            <a:schemeClr val="accent6"/>
          </a:solidFill>
          <a:ln>
            <a:solidFill>
              <a:schemeClr val="accent6"/>
            </a:solidFill>
          </a:ln>
        </p:spPr>
        <p:style>
          <a:lnRef idx="1">
            <a:schemeClr val="accent1"/>
          </a:lnRef>
          <a:fillRef idx="3">
            <a:schemeClr val="accent1"/>
          </a:fillRef>
          <a:effectRef idx="2">
            <a:schemeClr val="accent1"/>
          </a:effectRef>
          <a:fontRef idx="minor">
            <a:schemeClr val="lt1"/>
          </a:fontRef>
        </p:style>
        <p:txBody>
          <a:bodyPr rtlCol="0" anchor="ctr"/>
          <a:lstStyle/>
          <a:p>
            <a:endParaRPr lang="en-US" noProof="0" dirty="0"/>
          </a:p>
        </p:txBody>
      </p:sp>
      <p:sp>
        <p:nvSpPr>
          <p:cNvPr id="30" name="Chevron 11">
            <a:extLst>
              <a:ext uri="{FF2B5EF4-FFF2-40B4-BE49-F238E27FC236}">
                <a16:creationId xmlns:a16="http://schemas.microsoft.com/office/drawing/2014/main" id="{96E9B469-2724-EB59-973D-BF5413A8C4F0}"/>
              </a:ext>
            </a:extLst>
          </p:cNvPr>
          <p:cNvSpPr/>
          <p:nvPr/>
        </p:nvSpPr>
        <p:spPr>
          <a:xfrm>
            <a:off x="2536306" y="626489"/>
            <a:ext cx="1600200" cy="731520"/>
          </a:xfrm>
          <a:prstGeom prst="chevron">
            <a:avLst/>
          </a:prstGeom>
          <a:solidFill>
            <a:schemeClr val="accent6"/>
          </a:solidFill>
          <a:ln>
            <a:solidFill>
              <a:schemeClr val="accent6"/>
            </a:solidFill>
          </a:ln>
        </p:spPr>
        <p:style>
          <a:lnRef idx="1">
            <a:schemeClr val="accent1"/>
          </a:lnRef>
          <a:fillRef idx="3">
            <a:schemeClr val="accent1"/>
          </a:fillRef>
          <a:effectRef idx="2">
            <a:schemeClr val="accent1"/>
          </a:effectRef>
          <a:fontRef idx="minor">
            <a:schemeClr val="lt1"/>
          </a:fontRef>
        </p:style>
        <p:txBody>
          <a:bodyPr rtlCol="0" anchor="ctr"/>
          <a:lstStyle/>
          <a:p>
            <a:endParaRPr lang="en-US" noProof="0" dirty="0"/>
          </a:p>
        </p:txBody>
      </p:sp>
      <p:sp>
        <p:nvSpPr>
          <p:cNvPr id="31" name="TextBox 30">
            <a:extLst>
              <a:ext uri="{FF2B5EF4-FFF2-40B4-BE49-F238E27FC236}">
                <a16:creationId xmlns:a16="http://schemas.microsoft.com/office/drawing/2014/main" id="{E3EF2031-8E04-D39C-9C58-5260E4B110AE}"/>
              </a:ext>
            </a:extLst>
          </p:cNvPr>
          <p:cNvSpPr txBox="1"/>
          <p:nvPr/>
        </p:nvSpPr>
        <p:spPr>
          <a:xfrm>
            <a:off x="2682610" y="807583"/>
            <a:ext cx="1344168" cy="369332"/>
          </a:xfrm>
          <a:prstGeom prst="rect">
            <a:avLst/>
          </a:prstGeom>
          <a:noFill/>
        </p:spPr>
        <p:txBody>
          <a:bodyPr wrap="square" anchor="ctr">
            <a:spAutoFit/>
          </a:bodyPr>
          <a:lstStyle/>
          <a:p>
            <a:r>
              <a:rPr lang="en-US" b="1" dirty="0"/>
              <a:t>AUDIT</a:t>
            </a:r>
            <a:endParaRPr lang="en-US" b="1" noProof="0" dirty="0"/>
          </a:p>
        </p:txBody>
      </p:sp>
      <p:sp>
        <p:nvSpPr>
          <p:cNvPr id="15" name="TextBox 14"/>
          <p:cNvSpPr txBox="1"/>
          <p:nvPr/>
        </p:nvSpPr>
        <p:spPr>
          <a:xfrm>
            <a:off x="4465690" y="819075"/>
            <a:ext cx="1344168" cy="369332"/>
          </a:xfrm>
          <a:prstGeom prst="rect">
            <a:avLst/>
          </a:prstGeom>
          <a:noFill/>
        </p:spPr>
        <p:txBody>
          <a:bodyPr wrap="square" anchor="ctr">
            <a:spAutoFit/>
          </a:bodyPr>
          <a:lstStyle/>
          <a:p>
            <a:r>
              <a:rPr lang="en-US" b="1" noProof="0" dirty="0"/>
              <a:t>REBUILD</a:t>
            </a:r>
          </a:p>
        </p:txBody>
      </p:sp>
      <p:sp>
        <p:nvSpPr>
          <p:cNvPr id="13" name="TextBox 12"/>
          <p:cNvSpPr txBox="1"/>
          <p:nvPr/>
        </p:nvSpPr>
        <p:spPr>
          <a:xfrm>
            <a:off x="7744968" y="861189"/>
            <a:ext cx="3880335" cy="369332"/>
          </a:xfrm>
          <a:prstGeom prst="rect">
            <a:avLst/>
          </a:prstGeom>
          <a:noFill/>
        </p:spPr>
        <p:txBody>
          <a:bodyPr wrap="square" anchor="ctr">
            <a:spAutoFit/>
          </a:bodyPr>
          <a:lstStyle/>
          <a:p>
            <a:r>
              <a:rPr lang="en-US" b="1" noProof="0" dirty="0"/>
              <a:t>Production flow optimization</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TextBox 3"/>
          <p:cNvSpPr txBox="1"/>
          <p:nvPr/>
        </p:nvSpPr>
        <p:spPr>
          <a:xfrm>
            <a:off x="411480" y="201168"/>
            <a:ext cx="4572000" cy="274320"/>
          </a:xfrm>
          <a:prstGeom prst="rect">
            <a:avLst/>
          </a:prstGeom>
          <a:noFill/>
        </p:spPr>
        <p:txBody>
          <a:bodyPr wrap="square" anchor="t">
            <a:spAutoFit/>
          </a:bodyPr>
          <a:lstStyle/>
          <a:p>
            <a:r>
              <a:rPr lang="en-US" noProof="0" dirty="0"/>
              <a:t>SCOPE</a:t>
            </a:r>
          </a:p>
        </p:txBody>
      </p:sp>
      <p:sp>
        <p:nvSpPr>
          <p:cNvPr id="5" name="TextBox 4"/>
          <p:cNvSpPr txBox="1"/>
          <p:nvPr/>
        </p:nvSpPr>
        <p:spPr>
          <a:xfrm>
            <a:off x="330200" y="6161486"/>
            <a:ext cx="8046720" cy="182880"/>
          </a:xfrm>
          <a:prstGeom prst="rect">
            <a:avLst/>
          </a:prstGeom>
          <a:noFill/>
        </p:spPr>
        <p:txBody>
          <a:bodyPr wrap="square" anchor="t">
            <a:spAutoFit/>
          </a:bodyPr>
          <a:lstStyle/>
          <a:p>
            <a:r>
              <a:rPr lang="en-US" noProof="0" dirty="0"/>
              <a:t>INGECART ENGINEERING &amp; AUDITING</a:t>
            </a:r>
          </a:p>
          <a:p>
            <a:r>
              <a:rPr lang="en-US" noProof="0" dirty="0"/>
              <a:t>LINETEX COMMERCIAL CHANNEL USA</a:t>
            </a:r>
          </a:p>
        </p:txBody>
      </p:sp>
      <p:sp>
        <p:nvSpPr>
          <p:cNvPr id="6" name="TextBox 5"/>
          <p:cNvSpPr txBox="1"/>
          <p:nvPr/>
        </p:nvSpPr>
        <p:spPr>
          <a:xfrm>
            <a:off x="11155680" y="6519672"/>
            <a:ext cx="640080" cy="201168"/>
          </a:xfrm>
          <a:prstGeom prst="rect">
            <a:avLst/>
          </a:prstGeom>
          <a:noFill/>
        </p:spPr>
        <p:txBody>
          <a:bodyPr wrap="square" anchor="t">
            <a:spAutoFit/>
          </a:bodyPr>
          <a:lstStyle/>
          <a:p>
            <a:r>
              <a:rPr lang="en-US" noProof="0" dirty="0"/>
              <a:t>4</a:t>
            </a:r>
          </a:p>
        </p:txBody>
      </p:sp>
      <p:sp>
        <p:nvSpPr>
          <p:cNvPr id="9" name="TextBox 8"/>
          <p:cNvSpPr txBox="1"/>
          <p:nvPr/>
        </p:nvSpPr>
        <p:spPr>
          <a:xfrm>
            <a:off x="548640" y="1005840"/>
            <a:ext cx="7772400" cy="320040"/>
          </a:xfrm>
          <a:prstGeom prst="rect">
            <a:avLst/>
          </a:prstGeom>
          <a:noFill/>
        </p:spPr>
        <p:txBody>
          <a:bodyPr wrap="square" anchor="t">
            <a:spAutoFit/>
          </a:bodyPr>
          <a:lstStyle/>
          <a:p>
            <a:r>
              <a:rPr lang="en-US" noProof="0" dirty="0"/>
              <a:t>Six packages that turn an industrial purchase into an integrated solution</a:t>
            </a:r>
          </a:p>
        </p:txBody>
      </p:sp>
      <p:sp>
        <p:nvSpPr>
          <p:cNvPr id="10" name="Rounded Rectangle 9"/>
          <p:cNvSpPr/>
          <p:nvPr/>
        </p:nvSpPr>
        <p:spPr>
          <a:xfrm>
            <a:off x="685800" y="1645920"/>
            <a:ext cx="2926080" cy="1737360"/>
          </a:xfrm>
          <a:prstGeom prst="roundRect">
            <a:avLst/>
          </a:prstGeom>
          <a:solidFill>
            <a:srgbClr val="E3ECF4"/>
          </a:solidFill>
          <a:ln>
            <a:solidFill>
              <a:srgbClr val="E3E5E8"/>
            </a:solidFill>
          </a:ln>
        </p:spPr>
        <p:style>
          <a:lnRef idx="1">
            <a:schemeClr val="accent1"/>
          </a:lnRef>
          <a:fillRef idx="3">
            <a:schemeClr val="accent1"/>
          </a:fillRef>
          <a:effectRef idx="2">
            <a:schemeClr val="accent1"/>
          </a:effectRef>
          <a:fontRef idx="minor">
            <a:schemeClr val="lt1"/>
          </a:fontRef>
        </p:style>
        <p:txBody>
          <a:bodyPr rtlCol="0" anchor="ctr"/>
          <a:lstStyle/>
          <a:p>
            <a:endParaRPr lang="en-US" noProof="0" dirty="0"/>
          </a:p>
        </p:txBody>
      </p:sp>
      <p:sp>
        <p:nvSpPr>
          <p:cNvPr id="11" name="TextBox 10"/>
          <p:cNvSpPr txBox="1"/>
          <p:nvPr/>
        </p:nvSpPr>
        <p:spPr>
          <a:xfrm>
            <a:off x="850392" y="1755648"/>
            <a:ext cx="2596896" cy="256032"/>
          </a:xfrm>
          <a:prstGeom prst="rect">
            <a:avLst/>
          </a:prstGeom>
          <a:noFill/>
        </p:spPr>
        <p:txBody>
          <a:bodyPr wrap="square" anchor="t">
            <a:spAutoFit/>
          </a:bodyPr>
          <a:lstStyle/>
          <a:p>
            <a:r>
              <a:rPr lang="en-US" noProof="0" dirty="0"/>
              <a:t>CORE LINE</a:t>
            </a:r>
          </a:p>
        </p:txBody>
      </p:sp>
      <p:sp>
        <p:nvSpPr>
          <p:cNvPr id="12" name="TextBox 11"/>
          <p:cNvSpPr txBox="1"/>
          <p:nvPr/>
        </p:nvSpPr>
        <p:spPr>
          <a:xfrm>
            <a:off x="850392" y="2029968"/>
            <a:ext cx="2596896" cy="384048"/>
          </a:xfrm>
          <a:prstGeom prst="rect">
            <a:avLst/>
          </a:prstGeom>
          <a:noFill/>
        </p:spPr>
        <p:txBody>
          <a:bodyPr wrap="square" anchor="t">
            <a:spAutoFit/>
          </a:bodyPr>
          <a:lstStyle/>
          <a:p>
            <a:r>
              <a:rPr lang="en-US" noProof="0" dirty="0"/>
              <a:t>BHS corrugator</a:t>
            </a:r>
          </a:p>
        </p:txBody>
      </p:sp>
      <p:sp>
        <p:nvSpPr>
          <p:cNvPr id="13" name="TextBox 12"/>
          <p:cNvSpPr txBox="1"/>
          <p:nvPr/>
        </p:nvSpPr>
        <p:spPr>
          <a:xfrm>
            <a:off x="850392" y="2441448"/>
            <a:ext cx="2596896" cy="841248"/>
          </a:xfrm>
          <a:prstGeom prst="rect">
            <a:avLst/>
          </a:prstGeom>
          <a:noFill/>
        </p:spPr>
        <p:txBody>
          <a:bodyPr wrap="square" anchor="t">
            <a:spAutoFit/>
          </a:bodyPr>
          <a:lstStyle/>
          <a:p>
            <a:r>
              <a:rPr lang="en-US" noProof="0" dirty="0"/>
              <a:t>Base 2.500 mm, wet-end and dry-end duplex, </a:t>
            </a:r>
            <a:r>
              <a:rPr lang="en-US" noProof="0" dirty="0" err="1"/>
              <a:t>activos</a:t>
            </a:r>
            <a:r>
              <a:rPr lang="en-US" noProof="0" dirty="0"/>
              <a:t> 1997-2017</a:t>
            </a:r>
          </a:p>
        </p:txBody>
      </p:sp>
      <p:sp>
        <p:nvSpPr>
          <p:cNvPr id="14" name="Rounded Rectangle 13"/>
          <p:cNvSpPr/>
          <p:nvPr/>
        </p:nvSpPr>
        <p:spPr>
          <a:xfrm>
            <a:off x="4133087" y="1645920"/>
            <a:ext cx="2926080" cy="1737360"/>
          </a:xfrm>
          <a:prstGeom prst="roundRect">
            <a:avLst/>
          </a:prstGeom>
          <a:solidFill>
            <a:srgbClr val="FFFFFF"/>
          </a:solidFill>
          <a:ln>
            <a:solidFill>
              <a:srgbClr val="E3E5E8"/>
            </a:solidFill>
          </a:ln>
        </p:spPr>
        <p:style>
          <a:lnRef idx="1">
            <a:schemeClr val="accent1"/>
          </a:lnRef>
          <a:fillRef idx="3">
            <a:schemeClr val="accent1"/>
          </a:fillRef>
          <a:effectRef idx="2">
            <a:schemeClr val="accent1"/>
          </a:effectRef>
          <a:fontRef idx="minor">
            <a:schemeClr val="lt1"/>
          </a:fontRef>
        </p:style>
        <p:txBody>
          <a:bodyPr rtlCol="0" anchor="ctr"/>
          <a:lstStyle/>
          <a:p>
            <a:endParaRPr lang="en-US" noProof="0" dirty="0"/>
          </a:p>
        </p:txBody>
      </p:sp>
      <p:sp>
        <p:nvSpPr>
          <p:cNvPr id="15" name="TextBox 14"/>
          <p:cNvSpPr txBox="1"/>
          <p:nvPr/>
        </p:nvSpPr>
        <p:spPr>
          <a:xfrm>
            <a:off x="4297679" y="1755648"/>
            <a:ext cx="2596896" cy="256032"/>
          </a:xfrm>
          <a:prstGeom prst="rect">
            <a:avLst/>
          </a:prstGeom>
          <a:noFill/>
        </p:spPr>
        <p:txBody>
          <a:bodyPr wrap="square" anchor="t">
            <a:spAutoFit/>
          </a:bodyPr>
          <a:lstStyle/>
          <a:p>
            <a:r>
              <a:rPr lang="en-US" noProof="0" dirty="0"/>
              <a:t>SERVICES</a:t>
            </a:r>
          </a:p>
        </p:txBody>
      </p:sp>
      <p:sp>
        <p:nvSpPr>
          <p:cNvPr id="16" name="TextBox 15"/>
          <p:cNvSpPr txBox="1"/>
          <p:nvPr/>
        </p:nvSpPr>
        <p:spPr>
          <a:xfrm>
            <a:off x="4297679" y="2029968"/>
            <a:ext cx="2596896" cy="384048"/>
          </a:xfrm>
          <a:prstGeom prst="rect">
            <a:avLst/>
          </a:prstGeom>
          <a:noFill/>
        </p:spPr>
        <p:txBody>
          <a:bodyPr wrap="square" anchor="t">
            <a:spAutoFit/>
          </a:bodyPr>
          <a:lstStyle/>
          <a:p>
            <a:r>
              <a:rPr lang="en-US" noProof="0" dirty="0"/>
              <a:t>Disassembly + assembly</a:t>
            </a:r>
          </a:p>
        </p:txBody>
      </p:sp>
      <p:sp>
        <p:nvSpPr>
          <p:cNvPr id="17" name="TextBox 16"/>
          <p:cNvSpPr txBox="1"/>
          <p:nvPr/>
        </p:nvSpPr>
        <p:spPr>
          <a:xfrm>
            <a:off x="4297679" y="2441448"/>
            <a:ext cx="2596896" cy="841248"/>
          </a:xfrm>
          <a:prstGeom prst="rect">
            <a:avLst/>
          </a:prstGeom>
          <a:noFill/>
        </p:spPr>
        <p:txBody>
          <a:bodyPr wrap="square" anchor="t">
            <a:spAutoFit/>
          </a:bodyPr>
          <a:lstStyle/>
          <a:p>
            <a:r>
              <a:rPr lang="en-US" noProof="0" dirty="0" err="1"/>
              <a:t>Despiece</a:t>
            </a:r>
            <a:r>
              <a:rPr lang="en-US" noProof="0" dirty="0"/>
              <a:t>, </a:t>
            </a:r>
            <a:r>
              <a:rPr lang="en-US" noProof="0" dirty="0" err="1"/>
              <a:t>marcado</a:t>
            </a:r>
            <a:r>
              <a:rPr lang="en-US" noProof="0" dirty="0"/>
              <a:t>, </a:t>
            </a:r>
            <a:r>
              <a:rPr lang="en-US" noProof="0" dirty="0" err="1"/>
              <a:t>documentacion</a:t>
            </a:r>
            <a:r>
              <a:rPr lang="en-US" noProof="0" dirty="0"/>
              <a:t>, cranes, </a:t>
            </a:r>
            <a:r>
              <a:rPr lang="en-US" noProof="0" dirty="0" err="1"/>
              <a:t>viajes</a:t>
            </a:r>
            <a:r>
              <a:rPr lang="en-US" noProof="0" dirty="0"/>
              <a:t> e </a:t>
            </a:r>
            <a:r>
              <a:rPr lang="en-US" noProof="0" dirty="0" err="1"/>
              <a:t>instalacion</a:t>
            </a:r>
            <a:endParaRPr lang="en-US" noProof="0" dirty="0"/>
          </a:p>
        </p:txBody>
      </p:sp>
      <p:sp>
        <p:nvSpPr>
          <p:cNvPr id="18" name="Rounded Rectangle 17"/>
          <p:cNvSpPr/>
          <p:nvPr/>
        </p:nvSpPr>
        <p:spPr>
          <a:xfrm>
            <a:off x="7580375" y="1645920"/>
            <a:ext cx="2926080" cy="1737360"/>
          </a:xfrm>
          <a:prstGeom prst="roundRect">
            <a:avLst/>
          </a:prstGeom>
          <a:solidFill>
            <a:srgbClr val="FCF2EB"/>
          </a:solidFill>
          <a:ln>
            <a:solidFill>
              <a:srgbClr val="E3E5E8"/>
            </a:solidFill>
          </a:ln>
        </p:spPr>
        <p:style>
          <a:lnRef idx="1">
            <a:schemeClr val="accent1"/>
          </a:lnRef>
          <a:fillRef idx="3">
            <a:schemeClr val="accent1"/>
          </a:fillRef>
          <a:effectRef idx="2">
            <a:schemeClr val="accent1"/>
          </a:effectRef>
          <a:fontRef idx="minor">
            <a:schemeClr val="lt1"/>
          </a:fontRef>
        </p:style>
        <p:txBody>
          <a:bodyPr rtlCol="0" anchor="ctr"/>
          <a:lstStyle/>
          <a:p>
            <a:endParaRPr lang="en-US" noProof="0" dirty="0"/>
          </a:p>
        </p:txBody>
      </p:sp>
      <p:sp>
        <p:nvSpPr>
          <p:cNvPr id="19" name="TextBox 18"/>
          <p:cNvSpPr txBox="1"/>
          <p:nvPr/>
        </p:nvSpPr>
        <p:spPr>
          <a:xfrm>
            <a:off x="7744967" y="1755648"/>
            <a:ext cx="2596896" cy="256032"/>
          </a:xfrm>
          <a:prstGeom prst="rect">
            <a:avLst/>
          </a:prstGeom>
          <a:noFill/>
        </p:spPr>
        <p:txBody>
          <a:bodyPr wrap="square" anchor="t">
            <a:spAutoFit/>
          </a:bodyPr>
          <a:lstStyle/>
          <a:p>
            <a:r>
              <a:rPr lang="en-US" noProof="0" dirty="0"/>
              <a:t>ROLL HANDLING</a:t>
            </a:r>
          </a:p>
        </p:txBody>
      </p:sp>
      <p:sp>
        <p:nvSpPr>
          <p:cNvPr id="20" name="TextBox 19"/>
          <p:cNvSpPr txBox="1"/>
          <p:nvPr/>
        </p:nvSpPr>
        <p:spPr>
          <a:xfrm>
            <a:off x="7744967" y="2029968"/>
            <a:ext cx="2596896" cy="384048"/>
          </a:xfrm>
          <a:prstGeom prst="rect">
            <a:avLst/>
          </a:prstGeom>
          <a:noFill/>
        </p:spPr>
        <p:txBody>
          <a:bodyPr wrap="square" anchor="t">
            <a:spAutoFit/>
          </a:bodyPr>
          <a:lstStyle/>
          <a:p>
            <a:r>
              <a:rPr lang="en-US" noProof="0" dirty="0"/>
              <a:t>IIM roll stand</a:t>
            </a:r>
          </a:p>
        </p:txBody>
      </p:sp>
      <p:sp>
        <p:nvSpPr>
          <p:cNvPr id="21" name="TextBox 20"/>
          <p:cNvSpPr txBox="1"/>
          <p:nvPr/>
        </p:nvSpPr>
        <p:spPr>
          <a:xfrm>
            <a:off x="7744967" y="2441448"/>
            <a:ext cx="2596896" cy="841248"/>
          </a:xfrm>
          <a:prstGeom prst="rect">
            <a:avLst/>
          </a:prstGeom>
          <a:noFill/>
        </p:spPr>
        <p:txBody>
          <a:bodyPr wrap="square" anchor="t">
            <a:spAutoFit/>
          </a:bodyPr>
          <a:lstStyle/>
          <a:p>
            <a:r>
              <a:rPr lang="en-US" noProof="0" dirty="0"/>
              <a:t>Shaftless hydraulic roll stand 305 m/min with RE chucks and RE brakes</a:t>
            </a:r>
          </a:p>
        </p:txBody>
      </p:sp>
      <p:sp>
        <p:nvSpPr>
          <p:cNvPr id="22" name="Rounded Rectangle 21"/>
          <p:cNvSpPr/>
          <p:nvPr/>
        </p:nvSpPr>
        <p:spPr>
          <a:xfrm>
            <a:off x="685800" y="3749039"/>
            <a:ext cx="2926080" cy="1737360"/>
          </a:xfrm>
          <a:prstGeom prst="roundRect">
            <a:avLst/>
          </a:prstGeom>
          <a:solidFill>
            <a:srgbClr val="FFFFFF"/>
          </a:solidFill>
          <a:ln>
            <a:solidFill>
              <a:srgbClr val="E3E5E8"/>
            </a:solidFill>
          </a:ln>
        </p:spPr>
        <p:style>
          <a:lnRef idx="1">
            <a:schemeClr val="accent1"/>
          </a:lnRef>
          <a:fillRef idx="3">
            <a:schemeClr val="accent1"/>
          </a:fillRef>
          <a:effectRef idx="2">
            <a:schemeClr val="accent1"/>
          </a:effectRef>
          <a:fontRef idx="minor">
            <a:schemeClr val="lt1"/>
          </a:fontRef>
        </p:style>
        <p:txBody>
          <a:bodyPr rtlCol="0" anchor="ctr"/>
          <a:lstStyle/>
          <a:p>
            <a:endParaRPr lang="en-US" noProof="0" dirty="0"/>
          </a:p>
        </p:txBody>
      </p:sp>
      <p:sp>
        <p:nvSpPr>
          <p:cNvPr id="23" name="TextBox 22"/>
          <p:cNvSpPr txBox="1"/>
          <p:nvPr/>
        </p:nvSpPr>
        <p:spPr>
          <a:xfrm>
            <a:off x="850392" y="3858767"/>
            <a:ext cx="2596896" cy="256032"/>
          </a:xfrm>
          <a:prstGeom prst="rect">
            <a:avLst/>
          </a:prstGeom>
          <a:noFill/>
        </p:spPr>
        <p:txBody>
          <a:bodyPr wrap="square" anchor="t">
            <a:spAutoFit/>
          </a:bodyPr>
          <a:lstStyle/>
          <a:p>
            <a:r>
              <a:rPr lang="en-US" noProof="0" dirty="0"/>
              <a:t>PERIPHERALS</a:t>
            </a:r>
          </a:p>
        </p:txBody>
      </p:sp>
      <p:sp>
        <p:nvSpPr>
          <p:cNvPr id="24" name="TextBox 23"/>
          <p:cNvSpPr txBox="1"/>
          <p:nvPr/>
        </p:nvSpPr>
        <p:spPr>
          <a:xfrm>
            <a:off x="850392" y="4133087"/>
            <a:ext cx="2596896" cy="384048"/>
          </a:xfrm>
          <a:prstGeom prst="rect">
            <a:avLst/>
          </a:prstGeom>
          <a:noFill/>
        </p:spPr>
        <p:txBody>
          <a:bodyPr wrap="square" anchor="t">
            <a:spAutoFit/>
          </a:bodyPr>
          <a:lstStyle/>
          <a:p>
            <a:r>
              <a:rPr lang="en-US" noProof="0" dirty="0"/>
              <a:t>Kitchen + utilities</a:t>
            </a:r>
          </a:p>
        </p:txBody>
      </p:sp>
      <p:sp>
        <p:nvSpPr>
          <p:cNvPr id="25" name="TextBox 24"/>
          <p:cNvSpPr txBox="1"/>
          <p:nvPr/>
        </p:nvSpPr>
        <p:spPr>
          <a:xfrm>
            <a:off x="850392" y="4544567"/>
            <a:ext cx="2596896" cy="841248"/>
          </a:xfrm>
          <a:prstGeom prst="rect">
            <a:avLst/>
          </a:prstGeom>
          <a:noFill/>
        </p:spPr>
        <p:txBody>
          <a:bodyPr wrap="square" anchor="t">
            <a:spAutoFit/>
          </a:bodyPr>
          <a:lstStyle/>
          <a:p>
            <a:r>
              <a:rPr lang="en-US" noProof="0" dirty="0" err="1"/>
              <a:t>Flexamix</a:t>
            </a:r>
            <a:r>
              <a:rPr lang="en-US" noProof="0" dirty="0"/>
              <a:t>, </a:t>
            </a:r>
            <a:r>
              <a:rPr lang="en-US" noProof="0" dirty="0" err="1"/>
              <a:t>tuberias</a:t>
            </a:r>
            <a:r>
              <a:rPr lang="en-US" noProof="0" dirty="0"/>
              <a:t>, boiler, steam tubes and </a:t>
            </a:r>
            <a:r>
              <a:rPr lang="en-US" noProof="0" dirty="0" err="1"/>
              <a:t>auxiliares</a:t>
            </a:r>
            <a:endParaRPr lang="en-US" noProof="0" dirty="0"/>
          </a:p>
        </p:txBody>
      </p:sp>
      <p:sp>
        <p:nvSpPr>
          <p:cNvPr id="26" name="Rounded Rectangle 25"/>
          <p:cNvSpPr/>
          <p:nvPr/>
        </p:nvSpPr>
        <p:spPr>
          <a:xfrm>
            <a:off x="4133087" y="3749039"/>
            <a:ext cx="2926080" cy="1737360"/>
          </a:xfrm>
          <a:prstGeom prst="roundRect">
            <a:avLst/>
          </a:prstGeom>
          <a:solidFill>
            <a:srgbClr val="E3ECF4"/>
          </a:solidFill>
          <a:ln>
            <a:solidFill>
              <a:srgbClr val="E3E5E8"/>
            </a:solidFill>
          </a:ln>
        </p:spPr>
        <p:style>
          <a:lnRef idx="1">
            <a:schemeClr val="accent1"/>
          </a:lnRef>
          <a:fillRef idx="3">
            <a:schemeClr val="accent1"/>
          </a:fillRef>
          <a:effectRef idx="2">
            <a:schemeClr val="accent1"/>
          </a:effectRef>
          <a:fontRef idx="minor">
            <a:schemeClr val="lt1"/>
          </a:fontRef>
        </p:style>
        <p:txBody>
          <a:bodyPr rtlCol="0" anchor="ctr"/>
          <a:lstStyle/>
          <a:p>
            <a:endParaRPr lang="en-US" noProof="0" dirty="0"/>
          </a:p>
        </p:txBody>
      </p:sp>
      <p:sp>
        <p:nvSpPr>
          <p:cNvPr id="27" name="TextBox 26"/>
          <p:cNvSpPr txBox="1"/>
          <p:nvPr/>
        </p:nvSpPr>
        <p:spPr>
          <a:xfrm>
            <a:off x="4297679" y="3858767"/>
            <a:ext cx="2596896" cy="256032"/>
          </a:xfrm>
          <a:prstGeom prst="rect">
            <a:avLst/>
          </a:prstGeom>
          <a:noFill/>
        </p:spPr>
        <p:txBody>
          <a:bodyPr wrap="square" anchor="t">
            <a:spAutoFit/>
          </a:bodyPr>
          <a:lstStyle/>
          <a:p>
            <a:r>
              <a:rPr lang="en-US" noProof="0" dirty="0"/>
              <a:t>FLOW</a:t>
            </a:r>
          </a:p>
        </p:txBody>
      </p:sp>
      <p:sp>
        <p:nvSpPr>
          <p:cNvPr id="28" name="TextBox 27"/>
          <p:cNvSpPr txBox="1"/>
          <p:nvPr/>
        </p:nvSpPr>
        <p:spPr>
          <a:xfrm>
            <a:off x="4297679" y="4133087"/>
            <a:ext cx="2596896" cy="384048"/>
          </a:xfrm>
          <a:prstGeom prst="rect">
            <a:avLst/>
          </a:prstGeom>
          <a:noFill/>
        </p:spPr>
        <p:txBody>
          <a:bodyPr wrap="square" anchor="t">
            <a:spAutoFit/>
          </a:bodyPr>
          <a:lstStyle/>
          <a:p>
            <a:r>
              <a:rPr lang="en-US" noProof="0" dirty="0"/>
              <a:t>CONVEYORS + WIP</a:t>
            </a:r>
          </a:p>
        </p:txBody>
      </p:sp>
      <p:sp>
        <p:nvSpPr>
          <p:cNvPr id="29" name="TextBox 28"/>
          <p:cNvSpPr txBox="1"/>
          <p:nvPr/>
        </p:nvSpPr>
        <p:spPr>
          <a:xfrm>
            <a:off x="4297679" y="4544567"/>
            <a:ext cx="2596896" cy="841248"/>
          </a:xfrm>
          <a:prstGeom prst="rect">
            <a:avLst/>
          </a:prstGeom>
          <a:noFill/>
        </p:spPr>
        <p:txBody>
          <a:bodyPr wrap="square" anchor="t">
            <a:spAutoFit/>
          </a:bodyPr>
          <a:lstStyle/>
          <a:p>
            <a:r>
              <a:rPr lang="en-US" noProof="0" dirty="0"/>
              <a:t>Double stacker with strappers, AMR-ready reception and home area</a:t>
            </a:r>
          </a:p>
        </p:txBody>
      </p:sp>
      <p:sp>
        <p:nvSpPr>
          <p:cNvPr id="30" name="Rounded Rectangle 29"/>
          <p:cNvSpPr/>
          <p:nvPr/>
        </p:nvSpPr>
        <p:spPr>
          <a:xfrm>
            <a:off x="7580375" y="3749039"/>
            <a:ext cx="2926080" cy="1737360"/>
          </a:xfrm>
          <a:prstGeom prst="roundRect">
            <a:avLst/>
          </a:prstGeom>
          <a:solidFill>
            <a:srgbClr val="FCECEC"/>
          </a:solidFill>
          <a:ln>
            <a:solidFill>
              <a:srgbClr val="E3E5E8"/>
            </a:solidFill>
          </a:ln>
        </p:spPr>
        <p:style>
          <a:lnRef idx="1">
            <a:schemeClr val="accent1"/>
          </a:lnRef>
          <a:fillRef idx="3">
            <a:schemeClr val="accent1"/>
          </a:fillRef>
          <a:effectRef idx="2">
            <a:schemeClr val="accent1"/>
          </a:effectRef>
          <a:fontRef idx="minor">
            <a:schemeClr val="lt1"/>
          </a:fontRef>
        </p:style>
        <p:txBody>
          <a:bodyPr rtlCol="0" anchor="ctr"/>
          <a:lstStyle/>
          <a:p>
            <a:endParaRPr lang="en-US" noProof="0" dirty="0"/>
          </a:p>
        </p:txBody>
      </p:sp>
      <p:sp>
        <p:nvSpPr>
          <p:cNvPr id="31" name="TextBox 30"/>
          <p:cNvSpPr txBox="1"/>
          <p:nvPr/>
        </p:nvSpPr>
        <p:spPr>
          <a:xfrm>
            <a:off x="7744967" y="3858767"/>
            <a:ext cx="2596896" cy="256032"/>
          </a:xfrm>
          <a:prstGeom prst="rect">
            <a:avLst/>
          </a:prstGeom>
          <a:noFill/>
        </p:spPr>
        <p:txBody>
          <a:bodyPr wrap="square" anchor="t">
            <a:spAutoFit/>
          </a:bodyPr>
          <a:lstStyle/>
          <a:p>
            <a:r>
              <a:rPr lang="en-US" noProof="0" dirty="0"/>
              <a:t>CONTROLS</a:t>
            </a:r>
          </a:p>
        </p:txBody>
      </p:sp>
      <p:sp>
        <p:nvSpPr>
          <p:cNvPr id="32" name="TextBox 31"/>
          <p:cNvSpPr txBox="1"/>
          <p:nvPr/>
        </p:nvSpPr>
        <p:spPr>
          <a:xfrm>
            <a:off x="7744967" y="4133087"/>
            <a:ext cx="2596896" cy="384048"/>
          </a:xfrm>
          <a:prstGeom prst="rect">
            <a:avLst/>
          </a:prstGeom>
          <a:noFill/>
        </p:spPr>
        <p:txBody>
          <a:bodyPr wrap="square" anchor="t">
            <a:spAutoFit/>
          </a:bodyPr>
          <a:lstStyle/>
          <a:p>
            <a:r>
              <a:rPr lang="en-US" noProof="0" dirty="0"/>
              <a:t>Software + integration</a:t>
            </a:r>
          </a:p>
        </p:txBody>
      </p:sp>
      <p:sp>
        <p:nvSpPr>
          <p:cNvPr id="33" name="TextBox 32"/>
          <p:cNvSpPr txBox="1"/>
          <p:nvPr/>
        </p:nvSpPr>
        <p:spPr>
          <a:xfrm>
            <a:off x="7744967" y="4544567"/>
            <a:ext cx="2596896" cy="841248"/>
          </a:xfrm>
          <a:prstGeom prst="rect">
            <a:avLst/>
          </a:prstGeom>
          <a:noFill/>
        </p:spPr>
        <p:txBody>
          <a:bodyPr wrap="square" anchor="t">
            <a:spAutoFit/>
          </a:bodyPr>
          <a:lstStyle/>
          <a:p>
            <a:r>
              <a:rPr lang="en-US" noProof="0" dirty="0"/>
              <a:t>Cuadros </a:t>
            </a:r>
            <a:r>
              <a:rPr lang="en-US" noProof="0" dirty="0" err="1"/>
              <a:t>electricos</a:t>
            </a:r>
            <a:r>
              <a:rPr lang="en-US" noProof="0" dirty="0"/>
              <a:t>, software, FAT/SAT and </a:t>
            </a:r>
            <a:r>
              <a:rPr lang="en-US" noProof="0" dirty="0" err="1"/>
              <a:t>entrenamiento</a:t>
            </a:r>
            <a:endParaRPr lang="en-US" noProof="0" dirty="0"/>
          </a:p>
        </p:txBody>
      </p:sp>
      <p:sp>
        <p:nvSpPr>
          <p:cNvPr id="34" name="Rectangle 33"/>
          <p:cNvSpPr/>
          <p:nvPr/>
        </p:nvSpPr>
        <p:spPr>
          <a:xfrm>
            <a:off x="0" y="0"/>
            <a:ext cx="12191695" cy="109728"/>
          </a:xfrm>
          <a:prstGeom prst="rect">
            <a:avLst/>
          </a:prstGeom>
          <a:solidFill>
            <a:srgbClr val="FF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lang="en-US" noProof="0" dirty="0"/>
          </a:p>
        </p:txBody>
      </p:sp>
      <p:sp>
        <p:nvSpPr>
          <p:cNvPr id="35" name="Rectangle 34"/>
          <p:cNvSpPr/>
          <p:nvPr/>
        </p:nvSpPr>
        <p:spPr>
          <a:xfrm>
            <a:off x="0" y="6729984"/>
            <a:ext cx="12191695" cy="128016"/>
          </a:xfrm>
          <a:prstGeom prst="rect">
            <a:avLst/>
          </a:prstGeom>
          <a:solidFill>
            <a:srgbClr val="FF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lang="en-US" noProof="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Rectangle 2"/>
          <p:cNvSpPr/>
          <p:nvPr/>
        </p:nvSpPr>
        <p:spPr>
          <a:xfrm>
            <a:off x="0" y="6473952"/>
            <a:ext cx="12191695" cy="384048"/>
          </a:xfrm>
          <a:prstGeom prst="rect">
            <a:avLst/>
          </a:prstGeom>
          <a:solidFill>
            <a:srgbClr val="15385E"/>
          </a:solidFill>
          <a:ln>
            <a:solidFill>
              <a:srgbClr val="15385E"/>
            </a:solidFill>
          </a:ln>
        </p:spPr>
        <p:style>
          <a:lnRef idx="1">
            <a:schemeClr val="accent1"/>
          </a:lnRef>
          <a:fillRef idx="3">
            <a:schemeClr val="accent1"/>
          </a:fillRef>
          <a:effectRef idx="2">
            <a:schemeClr val="accent1"/>
          </a:effectRef>
          <a:fontRef idx="minor">
            <a:schemeClr val="lt1"/>
          </a:fontRef>
        </p:style>
        <p:txBody>
          <a:bodyPr rtlCol="0" anchor="ctr"/>
          <a:lstStyle/>
          <a:p>
            <a:endParaRPr lang="en-US" noProof="0" dirty="0"/>
          </a:p>
        </p:txBody>
      </p:sp>
      <p:sp>
        <p:nvSpPr>
          <p:cNvPr id="4" name="TextBox 3"/>
          <p:cNvSpPr txBox="1"/>
          <p:nvPr/>
        </p:nvSpPr>
        <p:spPr>
          <a:xfrm>
            <a:off x="411480" y="201168"/>
            <a:ext cx="4572000" cy="274320"/>
          </a:xfrm>
          <a:prstGeom prst="rect">
            <a:avLst/>
          </a:prstGeom>
          <a:noFill/>
        </p:spPr>
        <p:txBody>
          <a:bodyPr wrap="square" anchor="t">
            <a:spAutoFit/>
          </a:bodyPr>
          <a:lstStyle/>
          <a:p>
            <a:r>
              <a:rPr lang="en-US" noProof="0" dirty="0"/>
              <a:t>INSTALLED BASE</a:t>
            </a:r>
          </a:p>
        </p:txBody>
      </p:sp>
      <p:sp>
        <p:nvSpPr>
          <p:cNvPr id="6" name="TextBox 5"/>
          <p:cNvSpPr txBox="1"/>
          <p:nvPr/>
        </p:nvSpPr>
        <p:spPr>
          <a:xfrm>
            <a:off x="11155680" y="6519672"/>
            <a:ext cx="640080" cy="201168"/>
          </a:xfrm>
          <a:prstGeom prst="rect">
            <a:avLst/>
          </a:prstGeom>
          <a:noFill/>
        </p:spPr>
        <p:txBody>
          <a:bodyPr wrap="square" anchor="t">
            <a:spAutoFit/>
          </a:bodyPr>
          <a:lstStyle/>
          <a:p>
            <a:r>
              <a:rPr lang="en-US" noProof="0" dirty="0"/>
              <a:t>5</a:t>
            </a:r>
          </a:p>
        </p:txBody>
      </p:sp>
      <p:sp>
        <p:nvSpPr>
          <p:cNvPr id="9" name="TextBox 8"/>
          <p:cNvSpPr txBox="1"/>
          <p:nvPr/>
        </p:nvSpPr>
        <p:spPr>
          <a:xfrm>
            <a:off x="548640" y="1005840"/>
            <a:ext cx="7772400" cy="320040"/>
          </a:xfrm>
          <a:prstGeom prst="rect">
            <a:avLst/>
          </a:prstGeom>
          <a:noFill/>
        </p:spPr>
        <p:txBody>
          <a:bodyPr wrap="square" anchor="t">
            <a:spAutoFit/>
          </a:bodyPr>
          <a:lstStyle/>
          <a:p>
            <a:r>
              <a:rPr lang="en-US" noProof="0" dirty="0"/>
              <a:t>Inventory of corrugator reviewed in the dossier of second hand</a:t>
            </a:r>
          </a:p>
        </p:txBody>
      </p:sp>
      <p:pic>
        <p:nvPicPr>
          <p:cNvPr id="10" name="Picture 9" descr="secondhand_page3.png"/>
          <p:cNvPicPr>
            <a:picLocks noChangeAspect="1"/>
          </p:cNvPicPr>
          <p:nvPr/>
        </p:nvPicPr>
        <p:blipFill>
          <a:blip r:embed="rId3"/>
          <a:stretch>
            <a:fillRect/>
          </a:stretch>
        </p:blipFill>
        <p:spPr>
          <a:xfrm>
            <a:off x="471156" y="1445974"/>
            <a:ext cx="6964520" cy="4907883"/>
          </a:xfrm>
          <a:prstGeom prst="rect">
            <a:avLst/>
          </a:prstGeom>
        </p:spPr>
      </p:pic>
      <p:sp>
        <p:nvSpPr>
          <p:cNvPr id="11" name="Rounded Rectangle 10"/>
          <p:cNvSpPr/>
          <p:nvPr/>
        </p:nvSpPr>
        <p:spPr>
          <a:xfrm>
            <a:off x="7818120" y="1600200"/>
            <a:ext cx="3017520" cy="1097280"/>
          </a:xfrm>
          <a:prstGeom prst="roundRect">
            <a:avLst/>
          </a:prstGeom>
          <a:solidFill>
            <a:srgbClr val="FFFFFF"/>
          </a:solidFill>
          <a:ln>
            <a:solidFill>
              <a:srgbClr val="E3E5E8"/>
            </a:solidFill>
          </a:ln>
        </p:spPr>
        <p:style>
          <a:lnRef idx="1">
            <a:schemeClr val="accent1"/>
          </a:lnRef>
          <a:fillRef idx="3">
            <a:schemeClr val="accent1"/>
          </a:fillRef>
          <a:effectRef idx="2">
            <a:schemeClr val="accent1"/>
          </a:effectRef>
          <a:fontRef idx="minor">
            <a:schemeClr val="lt1"/>
          </a:fontRef>
        </p:style>
        <p:txBody>
          <a:bodyPr rtlCol="0" anchor="ctr"/>
          <a:lstStyle/>
          <a:p>
            <a:endParaRPr lang="en-US" noProof="0" dirty="0"/>
          </a:p>
        </p:txBody>
      </p:sp>
      <p:sp>
        <p:nvSpPr>
          <p:cNvPr id="12" name="TextBox 11"/>
          <p:cNvSpPr txBox="1"/>
          <p:nvPr/>
        </p:nvSpPr>
        <p:spPr>
          <a:xfrm>
            <a:off x="7982712" y="1709928"/>
            <a:ext cx="2688336" cy="256032"/>
          </a:xfrm>
          <a:prstGeom prst="rect">
            <a:avLst/>
          </a:prstGeom>
          <a:noFill/>
        </p:spPr>
        <p:txBody>
          <a:bodyPr wrap="square" anchor="t">
            <a:spAutoFit/>
          </a:bodyPr>
          <a:lstStyle/>
          <a:p>
            <a:r>
              <a:rPr lang="en-US" noProof="0" dirty="0"/>
              <a:t>WIDTH</a:t>
            </a:r>
          </a:p>
        </p:txBody>
      </p:sp>
      <p:sp>
        <p:nvSpPr>
          <p:cNvPr id="13" name="TextBox 12"/>
          <p:cNvSpPr txBox="1"/>
          <p:nvPr/>
        </p:nvSpPr>
        <p:spPr>
          <a:xfrm>
            <a:off x="7982712" y="1984248"/>
            <a:ext cx="2688336" cy="384048"/>
          </a:xfrm>
          <a:prstGeom prst="rect">
            <a:avLst/>
          </a:prstGeom>
          <a:noFill/>
        </p:spPr>
        <p:txBody>
          <a:bodyPr wrap="square" anchor="t">
            <a:spAutoFit/>
          </a:bodyPr>
          <a:lstStyle/>
          <a:p>
            <a:r>
              <a:rPr lang="en-US" noProof="0" dirty="0"/>
              <a:t>2.500 mm</a:t>
            </a:r>
          </a:p>
        </p:txBody>
      </p:sp>
      <p:sp>
        <p:nvSpPr>
          <p:cNvPr id="14" name="TextBox 13"/>
          <p:cNvSpPr txBox="1"/>
          <p:nvPr/>
        </p:nvSpPr>
        <p:spPr>
          <a:xfrm>
            <a:off x="7982712" y="2395728"/>
            <a:ext cx="2688336" cy="201168"/>
          </a:xfrm>
          <a:prstGeom prst="rect">
            <a:avLst/>
          </a:prstGeom>
          <a:noFill/>
        </p:spPr>
        <p:txBody>
          <a:bodyPr wrap="square" anchor="t">
            <a:spAutoFit/>
          </a:bodyPr>
          <a:lstStyle/>
          <a:p>
            <a:r>
              <a:rPr lang="en-US" noProof="0" dirty="0"/>
              <a:t>Working width </a:t>
            </a:r>
            <a:r>
              <a:rPr lang="en-US" noProof="0" dirty="0" err="1"/>
              <a:t>declarada</a:t>
            </a:r>
            <a:r>
              <a:rPr lang="en-US" noProof="0" dirty="0"/>
              <a:t> in </a:t>
            </a:r>
            <a:r>
              <a:rPr lang="en-US" noProof="0" dirty="0" err="1"/>
              <a:t>el</a:t>
            </a:r>
            <a:r>
              <a:rPr lang="en-US" noProof="0" dirty="0"/>
              <a:t> dossier</a:t>
            </a:r>
          </a:p>
        </p:txBody>
      </p:sp>
      <p:sp>
        <p:nvSpPr>
          <p:cNvPr id="15" name="Rounded Rectangle 14"/>
          <p:cNvSpPr/>
          <p:nvPr/>
        </p:nvSpPr>
        <p:spPr>
          <a:xfrm>
            <a:off x="7798308" y="2939796"/>
            <a:ext cx="3017520" cy="1097280"/>
          </a:xfrm>
          <a:prstGeom prst="roundRect">
            <a:avLst/>
          </a:prstGeom>
          <a:solidFill>
            <a:srgbClr val="FFFFFF"/>
          </a:solidFill>
          <a:ln>
            <a:solidFill>
              <a:srgbClr val="E3E5E8"/>
            </a:solidFill>
          </a:ln>
        </p:spPr>
        <p:style>
          <a:lnRef idx="1">
            <a:schemeClr val="accent1"/>
          </a:lnRef>
          <a:fillRef idx="3">
            <a:schemeClr val="accent1"/>
          </a:fillRef>
          <a:effectRef idx="2">
            <a:schemeClr val="accent1"/>
          </a:effectRef>
          <a:fontRef idx="minor">
            <a:schemeClr val="lt1"/>
          </a:fontRef>
        </p:style>
        <p:txBody>
          <a:bodyPr rtlCol="0" anchor="ctr"/>
          <a:lstStyle/>
          <a:p>
            <a:endParaRPr lang="en-US" noProof="0" dirty="0"/>
          </a:p>
        </p:txBody>
      </p:sp>
      <p:sp>
        <p:nvSpPr>
          <p:cNvPr id="16" name="TextBox 15"/>
          <p:cNvSpPr txBox="1"/>
          <p:nvPr/>
        </p:nvSpPr>
        <p:spPr>
          <a:xfrm>
            <a:off x="7982712" y="2944368"/>
            <a:ext cx="2688336" cy="256032"/>
          </a:xfrm>
          <a:prstGeom prst="rect">
            <a:avLst/>
          </a:prstGeom>
          <a:noFill/>
        </p:spPr>
        <p:txBody>
          <a:bodyPr wrap="square" anchor="t">
            <a:spAutoFit/>
          </a:bodyPr>
          <a:lstStyle/>
          <a:p>
            <a:r>
              <a:rPr lang="en-US" noProof="0" dirty="0"/>
              <a:t>CONFIGURATION</a:t>
            </a:r>
          </a:p>
        </p:txBody>
      </p:sp>
      <p:sp>
        <p:nvSpPr>
          <p:cNvPr id="17" name="TextBox 16"/>
          <p:cNvSpPr txBox="1"/>
          <p:nvPr/>
        </p:nvSpPr>
        <p:spPr>
          <a:xfrm>
            <a:off x="7982712" y="3218688"/>
            <a:ext cx="2688336" cy="384048"/>
          </a:xfrm>
          <a:prstGeom prst="rect">
            <a:avLst/>
          </a:prstGeom>
          <a:noFill/>
        </p:spPr>
        <p:txBody>
          <a:bodyPr wrap="square" anchor="t">
            <a:spAutoFit/>
          </a:bodyPr>
          <a:lstStyle/>
          <a:p>
            <a:r>
              <a:rPr lang="en-US" noProof="0" dirty="0"/>
              <a:t>Duplex / Duplex</a:t>
            </a:r>
          </a:p>
        </p:txBody>
      </p:sp>
      <p:sp>
        <p:nvSpPr>
          <p:cNvPr id="19" name="Rounded Rectangle 18"/>
          <p:cNvSpPr/>
          <p:nvPr/>
        </p:nvSpPr>
        <p:spPr>
          <a:xfrm>
            <a:off x="9174480" y="3867912"/>
            <a:ext cx="3017520" cy="1097280"/>
          </a:xfrm>
          <a:prstGeom prst="roundRect">
            <a:avLst/>
          </a:prstGeom>
          <a:solidFill>
            <a:srgbClr val="FFFFFF"/>
          </a:solidFill>
          <a:ln>
            <a:solidFill>
              <a:srgbClr val="E3E5E8"/>
            </a:solidFill>
          </a:ln>
        </p:spPr>
        <p:style>
          <a:lnRef idx="1">
            <a:schemeClr val="accent1"/>
          </a:lnRef>
          <a:fillRef idx="3">
            <a:schemeClr val="accent1"/>
          </a:fillRef>
          <a:effectRef idx="2">
            <a:schemeClr val="accent1"/>
          </a:effectRef>
          <a:fontRef idx="minor">
            <a:schemeClr val="lt1"/>
          </a:fontRef>
        </p:style>
        <p:txBody>
          <a:bodyPr rtlCol="0" anchor="ctr"/>
          <a:lstStyle/>
          <a:p>
            <a:endParaRPr lang="en-US" noProof="0" dirty="0"/>
          </a:p>
        </p:txBody>
      </p:sp>
      <p:sp>
        <p:nvSpPr>
          <p:cNvPr id="24" name="Rectangle 23"/>
          <p:cNvSpPr/>
          <p:nvPr/>
        </p:nvSpPr>
        <p:spPr>
          <a:xfrm>
            <a:off x="0" y="0"/>
            <a:ext cx="12191695" cy="109728"/>
          </a:xfrm>
          <a:prstGeom prst="rect">
            <a:avLst/>
          </a:prstGeom>
          <a:solidFill>
            <a:srgbClr val="FF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lang="en-US" noProof="0" dirty="0"/>
          </a:p>
        </p:txBody>
      </p:sp>
      <p:sp>
        <p:nvSpPr>
          <p:cNvPr id="25" name="Rectangle 24"/>
          <p:cNvSpPr/>
          <p:nvPr/>
        </p:nvSpPr>
        <p:spPr>
          <a:xfrm>
            <a:off x="0" y="6729984"/>
            <a:ext cx="12191695" cy="128016"/>
          </a:xfrm>
          <a:prstGeom prst="rect">
            <a:avLst/>
          </a:prstGeom>
          <a:solidFill>
            <a:srgbClr val="FF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lang="en-US" noProof="0" dirty="0"/>
          </a:p>
        </p:txBody>
      </p:sp>
      <p:sp>
        <p:nvSpPr>
          <p:cNvPr id="18" name="TextBox 17"/>
          <p:cNvSpPr txBox="1"/>
          <p:nvPr/>
        </p:nvSpPr>
        <p:spPr>
          <a:xfrm>
            <a:off x="9439656" y="4024057"/>
            <a:ext cx="2688336" cy="201168"/>
          </a:xfrm>
          <a:prstGeom prst="rect">
            <a:avLst/>
          </a:prstGeom>
          <a:noFill/>
        </p:spPr>
        <p:txBody>
          <a:bodyPr wrap="square" anchor="t">
            <a:spAutoFit/>
          </a:bodyPr>
          <a:lstStyle/>
          <a:p>
            <a:r>
              <a:rPr lang="en-US" noProof="0" dirty="0"/>
              <a:t>Wet-end and dry-end duplex</a:t>
            </a:r>
          </a:p>
        </p:txBody>
      </p:sp>
      <p:sp>
        <p:nvSpPr>
          <p:cNvPr id="26" name="Rounded Rectangle 18">
            <a:extLst>
              <a:ext uri="{FF2B5EF4-FFF2-40B4-BE49-F238E27FC236}">
                <a16:creationId xmlns:a16="http://schemas.microsoft.com/office/drawing/2014/main" id="{3F1AE1C0-58BC-D6AF-3216-BAAB713F4084}"/>
              </a:ext>
            </a:extLst>
          </p:cNvPr>
          <p:cNvSpPr/>
          <p:nvPr/>
        </p:nvSpPr>
        <p:spPr>
          <a:xfrm>
            <a:off x="8147027" y="4773168"/>
            <a:ext cx="3017520" cy="1097280"/>
          </a:xfrm>
          <a:prstGeom prst="roundRect">
            <a:avLst/>
          </a:prstGeom>
          <a:solidFill>
            <a:srgbClr val="FFFFFF"/>
          </a:solidFill>
          <a:ln>
            <a:solidFill>
              <a:srgbClr val="E3E5E8"/>
            </a:solidFill>
          </a:ln>
        </p:spPr>
        <p:style>
          <a:lnRef idx="1">
            <a:schemeClr val="accent1"/>
          </a:lnRef>
          <a:fillRef idx="3">
            <a:schemeClr val="accent1"/>
          </a:fillRef>
          <a:effectRef idx="2">
            <a:schemeClr val="accent1"/>
          </a:effectRef>
          <a:fontRef idx="minor">
            <a:schemeClr val="lt1"/>
          </a:fontRef>
        </p:style>
        <p:txBody>
          <a:bodyPr rtlCol="0" anchor="ctr"/>
          <a:lstStyle/>
          <a:p>
            <a:endParaRPr lang="en-US" noProof="0" dirty="0"/>
          </a:p>
        </p:txBody>
      </p:sp>
      <p:sp>
        <p:nvSpPr>
          <p:cNvPr id="20" name="TextBox 19"/>
          <p:cNvSpPr txBox="1"/>
          <p:nvPr/>
        </p:nvSpPr>
        <p:spPr>
          <a:xfrm>
            <a:off x="8447532" y="5093208"/>
            <a:ext cx="2688336" cy="256032"/>
          </a:xfrm>
          <a:prstGeom prst="rect">
            <a:avLst/>
          </a:prstGeom>
          <a:noFill/>
        </p:spPr>
        <p:txBody>
          <a:bodyPr wrap="square" anchor="t">
            <a:spAutoFit/>
          </a:bodyPr>
          <a:lstStyle/>
          <a:p>
            <a:r>
              <a:rPr lang="en-US" noProof="0" dirty="0"/>
              <a:t>FLUTES</a:t>
            </a:r>
          </a:p>
        </p:txBody>
      </p:sp>
      <p:sp>
        <p:nvSpPr>
          <p:cNvPr id="21" name="TextBox 20"/>
          <p:cNvSpPr txBox="1"/>
          <p:nvPr/>
        </p:nvSpPr>
        <p:spPr>
          <a:xfrm>
            <a:off x="8467344" y="5300933"/>
            <a:ext cx="2688336" cy="384048"/>
          </a:xfrm>
          <a:prstGeom prst="rect">
            <a:avLst/>
          </a:prstGeom>
          <a:noFill/>
        </p:spPr>
        <p:txBody>
          <a:bodyPr wrap="square" anchor="t">
            <a:spAutoFit/>
          </a:bodyPr>
          <a:lstStyle/>
          <a:p>
            <a:r>
              <a:rPr lang="en-US" noProof="0" dirty="0"/>
              <a:t>B/E + C/B</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TextBox 3"/>
          <p:cNvSpPr txBox="1"/>
          <p:nvPr/>
        </p:nvSpPr>
        <p:spPr>
          <a:xfrm>
            <a:off x="411480" y="201168"/>
            <a:ext cx="4572000" cy="274320"/>
          </a:xfrm>
          <a:prstGeom prst="rect">
            <a:avLst/>
          </a:prstGeom>
          <a:noFill/>
        </p:spPr>
        <p:txBody>
          <a:bodyPr wrap="square" anchor="t">
            <a:spAutoFit/>
          </a:bodyPr>
          <a:lstStyle/>
          <a:p>
            <a:r>
              <a:rPr lang="en-US" noProof="0" dirty="0"/>
              <a:t>MODERNIZATION</a:t>
            </a:r>
          </a:p>
        </p:txBody>
      </p:sp>
      <p:sp>
        <p:nvSpPr>
          <p:cNvPr id="6" name="TextBox 5"/>
          <p:cNvSpPr txBox="1"/>
          <p:nvPr/>
        </p:nvSpPr>
        <p:spPr>
          <a:xfrm>
            <a:off x="11155680" y="6519672"/>
            <a:ext cx="640080" cy="201168"/>
          </a:xfrm>
          <a:prstGeom prst="rect">
            <a:avLst/>
          </a:prstGeom>
          <a:noFill/>
        </p:spPr>
        <p:txBody>
          <a:bodyPr wrap="square" anchor="t">
            <a:spAutoFit/>
          </a:bodyPr>
          <a:lstStyle/>
          <a:p>
            <a:r>
              <a:rPr lang="en-US" noProof="0" dirty="0"/>
              <a:t>6</a:t>
            </a:r>
          </a:p>
        </p:txBody>
      </p:sp>
      <p:sp>
        <p:nvSpPr>
          <p:cNvPr id="8" name="TextBox 7"/>
          <p:cNvSpPr txBox="1"/>
          <p:nvPr/>
        </p:nvSpPr>
        <p:spPr>
          <a:xfrm>
            <a:off x="548640" y="566928"/>
            <a:ext cx="7863840" cy="369332"/>
          </a:xfrm>
          <a:prstGeom prst="rect">
            <a:avLst/>
          </a:prstGeom>
          <a:noFill/>
        </p:spPr>
        <p:txBody>
          <a:bodyPr wrap="square" anchor="t">
            <a:spAutoFit/>
          </a:bodyPr>
          <a:lstStyle/>
          <a:p>
            <a:r>
              <a:rPr lang="en-US" noProof="0" dirty="0"/>
              <a:t>upgrade by obsolescence</a:t>
            </a:r>
          </a:p>
        </p:txBody>
      </p:sp>
      <p:sp>
        <p:nvSpPr>
          <p:cNvPr id="9" name="TextBox 8"/>
          <p:cNvSpPr txBox="1"/>
          <p:nvPr/>
        </p:nvSpPr>
        <p:spPr>
          <a:xfrm>
            <a:off x="548640" y="1005840"/>
            <a:ext cx="7772400" cy="320040"/>
          </a:xfrm>
          <a:prstGeom prst="rect">
            <a:avLst/>
          </a:prstGeom>
          <a:noFill/>
        </p:spPr>
        <p:txBody>
          <a:bodyPr wrap="square" anchor="t">
            <a:spAutoFit/>
          </a:bodyPr>
          <a:lstStyle/>
          <a:p>
            <a:r>
              <a:rPr lang="en-US" noProof="0" dirty="0"/>
              <a:t>The logic of the not project is to keep the old: it is to rebuild a reliable PLATFORM</a:t>
            </a:r>
          </a:p>
        </p:txBody>
      </p:sp>
      <p:sp>
        <p:nvSpPr>
          <p:cNvPr id="10" name="Rounded Rectangle 9"/>
          <p:cNvSpPr/>
          <p:nvPr/>
        </p:nvSpPr>
        <p:spPr>
          <a:xfrm>
            <a:off x="731520" y="1508760"/>
            <a:ext cx="5212080" cy="4526280"/>
          </a:xfrm>
          <a:prstGeom prst="roundRect">
            <a:avLst/>
          </a:prstGeom>
          <a:solidFill>
            <a:srgbClr val="FFFFFF"/>
          </a:solidFill>
          <a:ln>
            <a:solidFill>
              <a:srgbClr val="E3E5E8"/>
            </a:solidFill>
          </a:ln>
        </p:spPr>
        <p:style>
          <a:lnRef idx="1">
            <a:schemeClr val="accent1"/>
          </a:lnRef>
          <a:fillRef idx="3">
            <a:schemeClr val="accent1"/>
          </a:fillRef>
          <a:effectRef idx="2">
            <a:schemeClr val="accent1"/>
          </a:effectRef>
          <a:fontRef idx="minor">
            <a:schemeClr val="lt1"/>
          </a:fontRef>
        </p:style>
        <p:txBody>
          <a:bodyPr rtlCol="0" anchor="ctr"/>
          <a:lstStyle/>
          <a:p>
            <a:endParaRPr lang="en-US" noProof="0" dirty="0"/>
          </a:p>
        </p:txBody>
      </p:sp>
      <p:sp>
        <p:nvSpPr>
          <p:cNvPr id="11" name="TextBox 10"/>
          <p:cNvSpPr txBox="1"/>
          <p:nvPr/>
        </p:nvSpPr>
        <p:spPr>
          <a:xfrm>
            <a:off x="960120" y="1783080"/>
            <a:ext cx="2011680" cy="274320"/>
          </a:xfrm>
          <a:prstGeom prst="rect">
            <a:avLst/>
          </a:prstGeom>
          <a:noFill/>
        </p:spPr>
        <p:txBody>
          <a:bodyPr wrap="square" anchor="t">
            <a:spAutoFit/>
          </a:bodyPr>
          <a:lstStyle/>
          <a:p>
            <a:r>
              <a:rPr lang="en-US" noProof="0" dirty="0"/>
              <a:t>LEGACY BASE</a:t>
            </a:r>
          </a:p>
        </p:txBody>
      </p:sp>
      <p:sp>
        <p:nvSpPr>
          <p:cNvPr id="12" name="TextBox 11"/>
          <p:cNvSpPr txBox="1"/>
          <p:nvPr/>
        </p:nvSpPr>
        <p:spPr>
          <a:xfrm>
            <a:off x="960120" y="2148840"/>
            <a:ext cx="4480560" cy="3474720"/>
          </a:xfrm>
          <a:prstGeom prst="rect">
            <a:avLst/>
          </a:prstGeom>
          <a:noFill/>
        </p:spPr>
        <p:txBody>
          <a:bodyPr wrap="square">
            <a:spAutoFit/>
          </a:bodyPr>
          <a:lstStyle/>
          <a:p>
            <a:r>
              <a:rPr lang="en-US" noProof="0" dirty="0"/>
              <a:t>Teams of origin 1997 with specific upgrades 2007, 2009, 2012, 2015 and 2017. Robust BHS reel stands and splicers but dependent on a more current integration. Natural risk of dispersion of support, spare parts and learning curve if the set is not re-architected.</a:t>
            </a:r>
          </a:p>
        </p:txBody>
      </p:sp>
      <p:sp>
        <p:nvSpPr>
          <p:cNvPr id="13" name="Rounded Rectangle 12"/>
          <p:cNvSpPr/>
          <p:nvPr/>
        </p:nvSpPr>
        <p:spPr>
          <a:xfrm>
            <a:off x="6217920" y="1508760"/>
            <a:ext cx="5212080" cy="4526280"/>
          </a:xfrm>
          <a:prstGeom prst="roundRect">
            <a:avLst/>
          </a:prstGeom>
          <a:solidFill>
            <a:srgbClr val="E3ECF4"/>
          </a:solidFill>
          <a:ln>
            <a:solidFill>
              <a:srgbClr val="E3ECF4"/>
            </a:solidFill>
          </a:ln>
        </p:spPr>
        <p:style>
          <a:lnRef idx="1">
            <a:schemeClr val="accent1"/>
          </a:lnRef>
          <a:fillRef idx="3">
            <a:schemeClr val="accent1"/>
          </a:fillRef>
          <a:effectRef idx="2">
            <a:schemeClr val="accent1"/>
          </a:effectRef>
          <a:fontRef idx="minor">
            <a:schemeClr val="lt1"/>
          </a:fontRef>
        </p:style>
        <p:txBody>
          <a:bodyPr rtlCol="0" anchor="ctr"/>
          <a:lstStyle/>
          <a:p>
            <a:endParaRPr lang="en-US" noProof="0" dirty="0"/>
          </a:p>
        </p:txBody>
      </p:sp>
      <p:sp>
        <p:nvSpPr>
          <p:cNvPr id="14" name="TextBox 13"/>
          <p:cNvSpPr txBox="1"/>
          <p:nvPr/>
        </p:nvSpPr>
        <p:spPr>
          <a:xfrm>
            <a:off x="6446519" y="1783080"/>
            <a:ext cx="4173855" cy="369332"/>
          </a:xfrm>
          <a:prstGeom prst="rect">
            <a:avLst/>
          </a:prstGeom>
          <a:noFill/>
        </p:spPr>
        <p:txBody>
          <a:bodyPr wrap="square" anchor="t">
            <a:spAutoFit/>
          </a:bodyPr>
          <a:lstStyle/>
          <a:p>
            <a:r>
              <a:rPr lang="en-US" noProof="0" dirty="0"/>
              <a:t>TARGET STATE: Offered Upgrades</a:t>
            </a:r>
          </a:p>
        </p:txBody>
      </p:sp>
      <p:sp>
        <p:nvSpPr>
          <p:cNvPr id="15" name="TextBox 14"/>
          <p:cNvSpPr txBox="1"/>
          <p:nvPr/>
        </p:nvSpPr>
        <p:spPr>
          <a:xfrm>
            <a:off x="6446520" y="2148840"/>
            <a:ext cx="4480560" cy="4095993"/>
          </a:xfrm>
          <a:prstGeom prst="rect">
            <a:avLst/>
          </a:prstGeom>
          <a:noFill/>
        </p:spPr>
        <p:txBody>
          <a:bodyPr wrap="square">
            <a:spAutoFit/>
          </a:bodyPr>
          <a:lstStyle/>
          <a:p>
            <a:pPr>
              <a:spcAft>
                <a:spcPts val="1000"/>
              </a:spcAft>
              <a:defRPr sz="1400">
                <a:solidFill>
                  <a:srgbClr val="3C3C3C"/>
                </a:solidFill>
              </a:defRPr>
            </a:pPr>
            <a:r>
              <a:rPr lang="en-US" sz="1100" dirty="0"/>
              <a:t>ELIMINATE CRITICAL OBSOLESCENCE:</a:t>
            </a:r>
          </a:p>
          <a:p>
            <a:pPr>
              <a:spcAft>
                <a:spcPts val="1000"/>
              </a:spcAft>
              <a:defRPr sz="1400">
                <a:solidFill>
                  <a:srgbClr val="3C3C3C"/>
                </a:solidFill>
              </a:defRPr>
            </a:pPr>
            <a:r>
              <a:rPr lang="en-US" sz="1100" dirty="0"/>
              <a:t>• TIA Portal</a:t>
            </a:r>
          </a:p>
          <a:p>
            <a:pPr>
              <a:spcAft>
                <a:spcPts val="1000"/>
              </a:spcAft>
              <a:defRPr sz="1400">
                <a:solidFill>
                  <a:srgbClr val="3C3C3C"/>
                </a:solidFill>
              </a:defRPr>
            </a:pPr>
            <a:r>
              <a:rPr lang="en-US" sz="1100" dirty="0"/>
              <a:t>• Critical spare parts unavailable globally</a:t>
            </a:r>
          </a:p>
          <a:p>
            <a:pPr>
              <a:spcAft>
                <a:spcPts val="1000"/>
              </a:spcAft>
              <a:defRPr sz="1400">
                <a:solidFill>
                  <a:srgbClr val="3C3C3C"/>
                </a:solidFill>
              </a:defRPr>
            </a:pPr>
            <a:r>
              <a:rPr lang="en-US" sz="1100" dirty="0"/>
              <a:t>• Weeks of unplanned downtime risk</a:t>
            </a:r>
          </a:p>
          <a:p>
            <a:r>
              <a:rPr lang="es-ES" sz="1050" dirty="0">
                <a:solidFill>
                  <a:srgbClr val="FF0000"/>
                </a:solidFill>
              </a:rPr>
              <a:t>   1  </a:t>
            </a:r>
            <a:r>
              <a:rPr lang="es-ES" sz="1050" dirty="0" err="1">
                <a:solidFill>
                  <a:srgbClr val="FF0000"/>
                </a:solidFill>
              </a:rPr>
              <a:t>Cabeçote</a:t>
            </a:r>
            <a:r>
              <a:rPr lang="es-ES" sz="1050" dirty="0">
                <a:solidFill>
                  <a:srgbClr val="FF0000"/>
                </a:solidFill>
              </a:rPr>
              <a:t> </a:t>
            </a:r>
            <a:r>
              <a:rPr lang="es-ES" sz="1050" dirty="0" err="1">
                <a:solidFill>
                  <a:srgbClr val="FF0000"/>
                </a:solidFill>
              </a:rPr>
              <a:t>Modul</a:t>
            </a:r>
            <a:r>
              <a:rPr lang="es-ES" sz="1050" dirty="0">
                <a:solidFill>
                  <a:srgbClr val="FF0000"/>
                </a:solidFill>
              </a:rPr>
              <a:t> Facer</a:t>
            </a:r>
          </a:p>
          <a:p>
            <a:r>
              <a:rPr lang="es-ES" sz="1050" dirty="0">
                <a:solidFill>
                  <a:srgbClr val="FF0000"/>
                </a:solidFill>
              </a:rPr>
              <a:t> Dry End  Completo- Rotary Shear</a:t>
            </a:r>
          </a:p>
          <a:p>
            <a:r>
              <a:rPr lang="es-ES" sz="1050" dirty="0">
                <a:solidFill>
                  <a:srgbClr val="FF0000"/>
                </a:solidFill>
              </a:rPr>
              <a:t>                               </a:t>
            </a:r>
            <a:r>
              <a:rPr lang="es-ES" sz="1050" dirty="0" err="1">
                <a:solidFill>
                  <a:srgbClr val="FF0000"/>
                </a:solidFill>
              </a:rPr>
              <a:t>Slitter</a:t>
            </a:r>
            <a:r>
              <a:rPr lang="es-ES" sz="1050" dirty="0">
                <a:solidFill>
                  <a:srgbClr val="FF0000"/>
                </a:solidFill>
              </a:rPr>
              <a:t> </a:t>
            </a:r>
            <a:r>
              <a:rPr lang="es-ES" sz="1050" dirty="0" err="1">
                <a:solidFill>
                  <a:srgbClr val="FF0000"/>
                </a:solidFill>
              </a:rPr>
              <a:t>Scorer</a:t>
            </a:r>
            <a:endParaRPr lang="es-ES" sz="1050" dirty="0">
              <a:solidFill>
                <a:srgbClr val="FF0000"/>
              </a:solidFill>
            </a:endParaRPr>
          </a:p>
          <a:p>
            <a:r>
              <a:rPr lang="es-ES" sz="1050" dirty="0">
                <a:solidFill>
                  <a:srgbClr val="FF0000"/>
                </a:solidFill>
              </a:rPr>
              <a:t>                               </a:t>
            </a:r>
            <a:r>
              <a:rPr lang="es-ES" sz="1050" dirty="0" err="1">
                <a:solidFill>
                  <a:srgbClr val="FF0000"/>
                </a:solidFill>
              </a:rPr>
              <a:t>Duplex</a:t>
            </a:r>
            <a:r>
              <a:rPr lang="es-ES" sz="1050" dirty="0">
                <a:solidFill>
                  <a:srgbClr val="FF0000"/>
                </a:solidFill>
              </a:rPr>
              <a:t> </a:t>
            </a:r>
            <a:r>
              <a:rPr lang="es-ES" sz="1050" dirty="0" err="1">
                <a:solidFill>
                  <a:srgbClr val="FF0000"/>
                </a:solidFill>
              </a:rPr>
              <a:t>Cut</a:t>
            </a:r>
            <a:r>
              <a:rPr lang="es-ES" sz="1050" dirty="0">
                <a:solidFill>
                  <a:srgbClr val="FF0000"/>
                </a:solidFill>
              </a:rPr>
              <a:t> Off</a:t>
            </a:r>
          </a:p>
          <a:p>
            <a:r>
              <a:rPr lang="es-ES" sz="1050" dirty="0">
                <a:solidFill>
                  <a:srgbClr val="FF0000"/>
                </a:solidFill>
              </a:rPr>
              <a:t>                                Duplex Stacker</a:t>
            </a:r>
          </a:p>
          <a:p>
            <a:r>
              <a:rPr lang="es-ES" sz="1050" dirty="0">
                <a:solidFill>
                  <a:srgbClr val="FF0000"/>
                </a:solidFill>
              </a:rPr>
              <a:t>       IHM, .</a:t>
            </a:r>
            <a:r>
              <a:rPr lang="es-ES" sz="1050" dirty="0" err="1">
                <a:solidFill>
                  <a:srgbClr val="FF0000"/>
                </a:solidFill>
              </a:rPr>
              <a:t>CLPs</a:t>
            </a:r>
            <a:r>
              <a:rPr lang="es-ES" sz="1050" dirty="0">
                <a:solidFill>
                  <a:srgbClr val="FF0000"/>
                </a:solidFill>
              </a:rPr>
              <a:t>,.CPU,. Drives </a:t>
            </a:r>
            <a:r>
              <a:rPr lang="es-ES" sz="1050" dirty="0" err="1">
                <a:solidFill>
                  <a:srgbClr val="FF0000"/>
                </a:solidFill>
              </a:rPr>
              <a:t>Serão</a:t>
            </a:r>
            <a:r>
              <a:rPr lang="es-ES" sz="1050" dirty="0">
                <a:solidFill>
                  <a:srgbClr val="FF0000"/>
                </a:solidFill>
              </a:rPr>
              <a:t> </a:t>
            </a:r>
            <a:r>
              <a:rPr lang="es-ES" sz="1050" dirty="0" err="1">
                <a:solidFill>
                  <a:srgbClr val="FF0000"/>
                </a:solidFill>
              </a:rPr>
              <a:t>substituídos</a:t>
            </a:r>
            <a:endParaRPr lang="es-ES" sz="1050" dirty="0">
              <a:solidFill>
                <a:srgbClr val="FF0000"/>
              </a:solidFill>
            </a:endParaRPr>
          </a:p>
          <a:p>
            <a:r>
              <a:rPr lang="es-ES" sz="1050" dirty="0"/>
              <a:t> </a:t>
            </a:r>
          </a:p>
          <a:p>
            <a:r>
              <a:rPr lang="es-ES" sz="1050" dirty="0"/>
              <a:t> </a:t>
            </a:r>
          </a:p>
          <a:p>
            <a:r>
              <a:rPr lang="es-ES" sz="1050" dirty="0"/>
              <a:t> </a:t>
            </a:r>
            <a:endParaRPr lang="en-US" sz="700" dirty="0"/>
          </a:p>
          <a:p>
            <a:pPr>
              <a:spcAft>
                <a:spcPts val="1000"/>
              </a:spcAft>
              <a:defRPr sz="1400">
                <a:solidFill>
                  <a:srgbClr val="3C3C3C"/>
                </a:solidFill>
              </a:defRPr>
            </a:pPr>
            <a:endParaRPr lang="en-US" sz="1100" dirty="0"/>
          </a:p>
          <a:p>
            <a:pPr>
              <a:spcAft>
                <a:spcPts val="1000"/>
              </a:spcAft>
              <a:defRPr sz="1400">
                <a:solidFill>
                  <a:srgbClr val="3C3C3C"/>
                </a:solidFill>
              </a:defRPr>
            </a:pPr>
            <a:r>
              <a:rPr lang="en-US" sz="1100" dirty="0"/>
              <a:t>PREPARE FOR INDUSTRY 4.0:</a:t>
            </a:r>
          </a:p>
          <a:p>
            <a:pPr>
              <a:spcAft>
                <a:spcPts val="1000"/>
              </a:spcAft>
              <a:defRPr sz="1400">
                <a:solidFill>
                  <a:srgbClr val="3C3C3C"/>
                </a:solidFill>
              </a:defRPr>
            </a:pPr>
            <a:r>
              <a:rPr lang="en-US" sz="1100" dirty="0"/>
              <a:t>• Open Siemens S7 architecture</a:t>
            </a:r>
          </a:p>
          <a:p>
            <a:pPr>
              <a:spcAft>
                <a:spcPts val="1000"/>
              </a:spcAft>
              <a:defRPr sz="1400">
                <a:solidFill>
                  <a:srgbClr val="3C3C3C"/>
                </a:solidFill>
              </a:defRPr>
            </a:pPr>
            <a:r>
              <a:rPr lang="en-US" sz="1100" dirty="0"/>
              <a:t>• MES/ERP integration ready</a:t>
            </a:r>
          </a:p>
          <a:p>
            <a:pPr>
              <a:spcAft>
                <a:spcPts val="1000"/>
              </a:spcAft>
              <a:defRPr sz="1400">
                <a:solidFill>
                  <a:srgbClr val="3C3C3C"/>
                </a:solidFill>
              </a:defRPr>
            </a:pPr>
            <a:r>
              <a:rPr lang="en-US" sz="1100" dirty="0"/>
              <a:t>•</a:t>
            </a:r>
            <a:endParaRPr lang="en-US" sz="1400" noProof="0" dirty="0"/>
          </a:p>
        </p:txBody>
      </p:sp>
      <p:sp>
        <p:nvSpPr>
          <p:cNvPr id="16" name="Rectangle 15"/>
          <p:cNvSpPr/>
          <p:nvPr/>
        </p:nvSpPr>
        <p:spPr>
          <a:xfrm>
            <a:off x="0" y="0"/>
            <a:ext cx="12191695" cy="109728"/>
          </a:xfrm>
          <a:prstGeom prst="rect">
            <a:avLst/>
          </a:prstGeom>
          <a:solidFill>
            <a:srgbClr val="FF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lang="en-US" noProof="0" dirty="0"/>
          </a:p>
        </p:txBody>
      </p:sp>
      <p:sp>
        <p:nvSpPr>
          <p:cNvPr id="17" name="Rectangle 16"/>
          <p:cNvSpPr/>
          <p:nvPr/>
        </p:nvSpPr>
        <p:spPr>
          <a:xfrm>
            <a:off x="0" y="6729984"/>
            <a:ext cx="12191695" cy="128016"/>
          </a:xfrm>
          <a:prstGeom prst="rect">
            <a:avLst/>
          </a:prstGeom>
          <a:solidFill>
            <a:srgbClr val="FF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lang="en-US" noProof="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4" name="Chevron 10">
            <a:extLst>
              <a:ext uri="{FF2B5EF4-FFF2-40B4-BE49-F238E27FC236}">
                <a16:creationId xmlns:a16="http://schemas.microsoft.com/office/drawing/2014/main" id="{60DE732D-A5AF-A23C-80F8-D408B6F0AD91}"/>
              </a:ext>
            </a:extLst>
          </p:cNvPr>
          <p:cNvSpPr/>
          <p:nvPr/>
        </p:nvSpPr>
        <p:spPr>
          <a:xfrm>
            <a:off x="2627377" y="1816608"/>
            <a:ext cx="1508760" cy="731520"/>
          </a:xfrm>
          <a:prstGeom prst="chevron">
            <a:avLst/>
          </a:prstGeom>
          <a:solidFill>
            <a:schemeClr val="accent6"/>
          </a:solidFill>
          <a:ln>
            <a:solidFill>
              <a:srgbClr val="296299"/>
            </a:solidFill>
          </a:ln>
        </p:spPr>
        <p:style>
          <a:lnRef idx="1">
            <a:schemeClr val="accent1"/>
          </a:lnRef>
          <a:fillRef idx="3">
            <a:schemeClr val="accent1"/>
          </a:fillRef>
          <a:effectRef idx="2">
            <a:schemeClr val="accent1"/>
          </a:effectRef>
          <a:fontRef idx="minor">
            <a:schemeClr val="lt1"/>
          </a:fontRef>
        </p:style>
        <p:txBody>
          <a:bodyPr rtlCol="0" anchor="ctr"/>
          <a:lstStyle/>
          <a:p>
            <a:r>
              <a:rPr lang="en-US" noProof="0" dirty="0">
                <a:solidFill>
                  <a:schemeClr val="tx1"/>
                </a:solidFill>
              </a:rPr>
              <a:t>DISASEMBLY AND SHIPING</a:t>
            </a:r>
          </a:p>
        </p:txBody>
      </p:sp>
      <p:sp>
        <p:nvSpPr>
          <p:cNvPr id="4" name="TextBox 3"/>
          <p:cNvSpPr txBox="1"/>
          <p:nvPr/>
        </p:nvSpPr>
        <p:spPr>
          <a:xfrm>
            <a:off x="411480" y="201168"/>
            <a:ext cx="4572000" cy="274320"/>
          </a:xfrm>
          <a:prstGeom prst="rect">
            <a:avLst/>
          </a:prstGeom>
          <a:noFill/>
        </p:spPr>
        <p:txBody>
          <a:bodyPr wrap="square" anchor="t">
            <a:spAutoFit/>
          </a:bodyPr>
          <a:lstStyle/>
          <a:p>
            <a:r>
              <a:rPr lang="en-US" noProof="0" dirty="0"/>
              <a:t>RELOCATION</a:t>
            </a:r>
          </a:p>
        </p:txBody>
      </p:sp>
      <p:sp>
        <p:nvSpPr>
          <p:cNvPr id="6" name="TextBox 5"/>
          <p:cNvSpPr txBox="1"/>
          <p:nvPr/>
        </p:nvSpPr>
        <p:spPr>
          <a:xfrm>
            <a:off x="11155680" y="6519672"/>
            <a:ext cx="640080" cy="201168"/>
          </a:xfrm>
          <a:prstGeom prst="rect">
            <a:avLst/>
          </a:prstGeom>
          <a:noFill/>
        </p:spPr>
        <p:txBody>
          <a:bodyPr wrap="square" anchor="t">
            <a:spAutoFit/>
          </a:bodyPr>
          <a:lstStyle/>
          <a:p>
            <a:r>
              <a:rPr lang="en-US" noProof="0" dirty="0"/>
              <a:t>7</a:t>
            </a:r>
          </a:p>
        </p:txBody>
      </p:sp>
      <p:sp>
        <p:nvSpPr>
          <p:cNvPr id="8" name="TextBox 7"/>
          <p:cNvSpPr txBox="1"/>
          <p:nvPr/>
        </p:nvSpPr>
        <p:spPr>
          <a:xfrm>
            <a:off x="548640" y="566928"/>
            <a:ext cx="7863840" cy="594360"/>
          </a:xfrm>
          <a:prstGeom prst="rect">
            <a:avLst/>
          </a:prstGeom>
          <a:noFill/>
        </p:spPr>
        <p:txBody>
          <a:bodyPr wrap="square" anchor="t">
            <a:spAutoFit/>
          </a:bodyPr>
          <a:lstStyle/>
          <a:p>
            <a:r>
              <a:rPr lang="en-US" noProof="0" dirty="0"/>
              <a:t>Layout of RELOCATION and roadmap </a:t>
            </a:r>
            <a:r>
              <a:rPr lang="en-US" noProof="0" dirty="0" err="1"/>
              <a:t>fisico</a:t>
            </a:r>
            <a:endParaRPr lang="en-US" noProof="0" dirty="0"/>
          </a:p>
        </p:txBody>
      </p:sp>
      <p:sp>
        <p:nvSpPr>
          <p:cNvPr id="9" name="TextBox 8"/>
          <p:cNvSpPr txBox="1"/>
          <p:nvPr/>
        </p:nvSpPr>
        <p:spPr>
          <a:xfrm>
            <a:off x="548640" y="1005840"/>
            <a:ext cx="7772400" cy="320040"/>
          </a:xfrm>
          <a:prstGeom prst="rect">
            <a:avLst/>
          </a:prstGeom>
          <a:noFill/>
        </p:spPr>
        <p:txBody>
          <a:bodyPr wrap="square" anchor="t">
            <a:spAutoFit/>
          </a:bodyPr>
          <a:lstStyle/>
          <a:p>
            <a:r>
              <a:rPr lang="en-US" noProof="0" dirty="0"/>
              <a:t>A controlled, documented relocation designed for smoother startup</a:t>
            </a:r>
          </a:p>
        </p:txBody>
      </p:sp>
      <p:sp>
        <p:nvSpPr>
          <p:cNvPr id="11" name="Chevron 10"/>
          <p:cNvSpPr/>
          <p:nvPr/>
        </p:nvSpPr>
        <p:spPr>
          <a:xfrm>
            <a:off x="5166360" y="1801368"/>
            <a:ext cx="1508760" cy="731520"/>
          </a:xfrm>
          <a:prstGeom prst="chevron">
            <a:avLst/>
          </a:prstGeom>
          <a:solidFill>
            <a:schemeClr val="accent6"/>
          </a:solidFill>
          <a:ln>
            <a:solidFill>
              <a:srgbClr val="296299"/>
            </a:solidFill>
          </a:ln>
        </p:spPr>
        <p:style>
          <a:lnRef idx="1">
            <a:schemeClr val="accent1"/>
          </a:lnRef>
          <a:fillRef idx="3">
            <a:schemeClr val="accent1"/>
          </a:fillRef>
          <a:effectRef idx="2">
            <a:schemeClr val="accent1"/>
          </a:effectRef>
          <a:fontRef idx="minor">
            <a:schemeClr val="lt1"/>
          </a:fontRef>
        </p:style>
        <p:txBody>
          <a:bodyPr rtlCol="0" anchor="ctr"/>
          <a:lstStyle/>
          <a:p>
            <a:endParaRPr lang="en-US" noProof="0" dirty="0"/>
          </a:p>
        </p:txBody>
      </p:sp>
      <p:sp>
        <p:nvSpPr>
          <p:cNvPr id="13" name="Chevron 12"/>
          <p:cNvSpPr/>
          <p:nvPr/>
        </p:nvSpPr>
        <p:spPr>
          <a:xfrm>
            <a:off x="8165592" y="1828800"/>
            <a:ext cx="1508760" cy="731520"/>
          </a:xfrm>
          <a:prstGeom prst="chevron">
            <a:avLst/>
          </a:prstGeom>
          <a:solidFill>
            <a:schemeClr val="accent6"/>
          </a:solidFill>
          <a:ln>
            <a:solidFill>
              <a:srgbClr val="D62E38"/>
            </a:solidFill>
          </a:ln>
        </p:spPr>
        <p:style>
          <a:lnRef idx="1">
            <a:schemeClr val="accent1"/>
          </a:lnRef>
          <a:fillRef idx="3">
            <a:schemeClr val="accent1"/>
          </a:fillRef>
          <a:effectRef idx="2">
            <a:schemeClr val="accent1"/>
          </a:effectRef>
          <a:fontRef idx="minor">
            <a:schemeClr val="lt1"/>
          </a:fontRef>
        </p:style>
        <p:txBody>
          <a:bodyPr rtlCol="0" anchor="ctr"/>
          <a:lstStyle/>
          <a:p>
            <a:endParaRPr lang="en-US" noProof="0" dirty="0"/>
          </a:p>
        </p:txBody>
      </p:sp>
      <p:sp>
        <p:nvSpPr>
          <p:cNvPr id="14" name="TextBox 13"/>
          <p:cNvSpPr txBox="1"/>
          <p:nvPr/>
        </p:nvSpPr>
        <p:spPr>
          <a:xfrm>
            <a:off x="5833491" y="1879306"/>
            <a:ext cx="1252728" cy="548640"/>
          </a:xfrm>
          <a:prstGeom prst="rect">
            <a:avLst/>
          </a:prstGeom>
          <a:noFill/>
        </p:spPr>
        <p:txBody>
          <a:bodyPr wrap="square" anchor="ctr">
            <a:spAutoFit/>
          </a:bodyPr>
          <a:lstStyle/>
          <a:p>
            <a:r>
              <a:rPr lang="en-US" noProof="0" dirty="0"/>
              <a:t>SHIPPING</a:t>
            </a:r>
          </a:p>
        </p:txBody>
      </p:sp>
      <p:sp>
        <p:nvSpPr>
          <p:cNvPr id="15" name="Chevron 14"/>
          <p:cNvSpPr/>
          <p:nvPr/>
        </p:nvSpPr>
        <p:spPr>
          <a:xfrm>
            <a:off x="9656064" y="1828800"/>
            <a:ext cx="1508760" cy="731520"/>
          </a:xfrm>
          <a:prstGeom prst="chevron">
            <a:avLst/>
          </a:prstGeom>
          <a:solidFill>
            <a:schemeClr val="accent6"/>
          </a:solidFill>
          <a:ln>
            <a:solidFill>
              <a:srgbClr val="E86F37"/>
            </a:solidFill>
          </a:ln>
        </p:spPr>
        <p:style>
          <a:lnRef idx="1">
            <a:schemeClr val="accent1"/>
          </a:lnRef>
          <a:fillRef idx="3">
            <a:schemeClr val="accent1"/>
          </a:fillRef>
          <a:effectRef idx="2">
            <a:schemeClr val="accent1"/>
          </a:effectRef>
          <a:fontRef idx="minor">
            <a:schemeClr val="lt1"/>
          </a:fontRef>
        </p:style>
        <p:txBody>
          <a:bodyPr rtlCol="0" anchor="ctr"/>
          <a:lstStyle/>
          <a:p>
            <a:endParaRPr lang="en-US" noProof="0" dirty="0"/>
          </a:p>
        </p:txBody>
      </p:sp>
      <p:sp>
        <p:nvSpPr>
          <p:cNvPr id="17" name="TextBox 16"/>
          <p:cNvSpPr txBox="1"/>
          <p:nvPr/>
        </p:nvSpPr>
        <p:spPr>
          <a:xfrm>
            <a:off x="1291590" y="4011012"/>
            <a:ext cx="10031730" cy="1477328"/>
          </a:xfrm>
          <a:prstGeom prst="rect">
            <a:avLst/>
          </a:prstGeom>
          <a:noFill/>
        </p:spPr>
        <p:txBody>
          <a:bodyPr wrap="square">
            <a:spAutoFit/>
          </a:bodyPr>
          <a:lstStyle/>
          <a:p>
            <a:r>
              <a:rPr lang="en-US" dirty="0"/>
              <a:t>Layout design and production flow……..</a:t>
            </a:r>
            <a:r>
              <a:rPr lang="en-US" dirty="0" err="1"/>
              <a:t>Extender`planos</a:t>
            </a:r>
            <a:r>
              <a:rPr lang="en-US" dirty="0"/>
              <a:t> </a:t>
            </a:r>
            <a:r>
              <a:rPr lang="en-US" dirty="0" err="1"/>
              <a:t>obra</a:t>
            </a:r>
            <a:r>
              <a:rPr lang="en-US" dirty="0"/>
              <a:t> civil….</a:t>
            </a:r>
            <a:r>
              <a:rPr lang="en-US" dirty="0" err="1"/>
              <a:t>etc</a:t>
            </a:r>
            <a:r>
              <a:rPr lang="en-US" dirty="0"/>
              <a:t>….</a:t>
            </a:r>
            <a:r>
              <a:rPr lang="en-US" dirty="0" err="1"/>
              <a:t>desplazamientos</a:t>
            </a:r>
            <a:r>
              <a:rPr lang="en-US" dirty="0"/>
              <a:t> para </a:t>
            </a:r>
            <a:r>
              <a:rPr lang="en-US" dirty="0" err="1"/>
              <a:t>validaciones</a:t>
            </a:r>
            <a:r>
              <a:rPr lang="en-US" dirty="0"/>
              <a:t> y </a:t>
            </a:r>
            <a:r>
              <a:rPr lang="en-US" dirty="0" err="1"/>
              <a:t>mediciones</a:t>
            </a:r>
            <a:r>
              <a:rPr lang="en-US" dirty="0"/>
              <a:t>….  and </a:t>
            </a:r>
            <a:r>
              <a:rPr lang="en-US" noProof="0" dirty="0"/>
              <a:t>Complete dismantling with documentary marking of mechanical and electrical installations. Preparation,,,,,</a:t>
            </a:r>
            <a:r>
              <a:rPr lang="en-US" noProof="0" dirty="0" err="1"/>
              <a:t>texto</a:t>
            </a:r>
            <a:r>
              <a:rPr lang="en-US" noProof="0" dirty="0"/>
              <a:t> </a:t>
            </a:r>
            <a:r>
              <a:rPr lang="en-US" noProof="0" dirty="0" err="1"/>
              <a:t>seccion</a:t>
            </a:r>
            <a:r>
              <a:rPr lang="en-US" noProof="0" dirty="0"/>
              <a:t> upgrade </a:t>
            </a:r>
            <a:r>
              <a:rPr lang="en-US" noProof="0" dirty="0" err="1"/>
              <a:t>electronico</a:t>
            </a:r>
            <a:r>
              <a:rPr lang="en-US" noProof="0" dirty="0"/>
              <a:t>…..</a:t>
            </a:r>
            <a:r>
              <a:rPr lang="en-US" noProof="0" dirty="0" err="1"/>
              <a:t>maritim</a:t>
            </a:r>
            <a:r>
              <a:rPr lang="en-US" noProof="0" dirty="0"/>
              <a:t> packaging…. for container loading and coordination of cranial operations. Assembly in the USA with local equipment, commissioning and acceptance testing.</a:t>
            </a:r>
          </a:p>
        </p:txBody>
      </p:sp>
      <p:sp>
        <p:nvSpPr>
          <p:cNvPr id="18" name="Rounded Rectangle 17"/>
          <p:cNvSpPr/>
          <p:nvPr/>
        </p:nvSpPr>
        <p:spPr>
          <a:xfrm>
            <a:off x="6720840" y="5533847"/>
            <a:ext cx="4434840" cy="868680"/>
          </a:xfrm>
          <a:prstGeom prst="roundRect">
            <a:avLst/>
          </a:prstGeom>
          <a:solidFill>
            <a:srgbClr val="FCF2EB"/>
          </a:solidFill>
          <a:ln>
            <a:solidFill>
              <a:srgbClr val="FCF2EB"/>
            </a:solidFill>
          </a:ln>
        </p:spPr>
        <p:style>
          <a:lnRef idx="1">
            <a:schemeClr val="accent1"/>
          </a:lnRef>
          <a:fillRef idx="3">
            <a:schemeClr val="accent1"/>
          </a:fillRef>
          <a:effectRef idx="2">
            <a:schemeClr val="accent1"/>
          </a:effectRef>
          <a:fontRef idx="minor">
            <a:schemeClr val="lt1"/>
          </a:fontRef>
        </p:style>
        <p:txBody>
          <a:bodyPr rtlCol="0" anchor="ctr"/>
          <a:lstStyle/>
          <a:p>
            <a:endParaRPr lang="en-US" noProof="0" dirty="0"/>
          </a:p>
        </p:txBody>
      </p:sp>
      <p:sp>
        <p:nvSpPr>
          <p:cNvPr id="19" name="TextBox 18"/>
          <p:cNvSpPr txBox="1"/>
          <p:nvPr/>
        </p:nvSpPr>
        <p:spPr>
          <a:xfrm>
            <a:off x="6940296" y="5491152"/>
            <a:ext cx="3840480" cy="274320"/>
          </a:xfrm>
          <a:prstGeom prst="rect">
            <a:avLst/>
          </a:prstGeom>
          <a:noFill/>
        </p:spPr>
        <p:txBody>
          <a:bodyPr wrap="square" anchor="t">
            <a:spAutoFit/>
          </a:bodyPr>
          <a:lstStyle/>
          <a:p>
            <a:r>
              <a:rPr lang="en-US" noProof="0" dirty="0"/>
              <a:t>The services sheet includes disassembly, cranes, installation and related expenses.</a:t>
            </a:r>
          </a:p>
        </p:txBody>
      </p:sp>
      <p:sp>
        <p:nvSpPr>
          <p:cNvPr id="20" name="Rectangle 19"/>
          <p:cNvSpPr/>
          <p:nvPr/>
        </p:nvSpPr>
        <p:spPr>
          <a:xfrm>
            <a:off x="0" y="0"/>
            <a:ext cx="12191695" cy="109728"/>
          </a:xfrm>
          <a:prstGeom prst="rect">
            <a:avLst/>
          </a:prstGeom>
          <a:solidFill>
            <a:srgbClr val="FF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lang="en-US" noProof="0" dirty="0"/>
          </a:p>
        </p:txBody>
      </p:sp>
      <p:sp>
        <p:nvSpPr>
          <p:cNvPr id="21" name="Rectangle 20"/>
          <p:cNvSpPr/>
          <p:nvPr/>
        </p:nvSpPr>
        <p:spPr>
          <a:xfrm>
            <a:off x="0" y="6729984"/>
            <a:ext cx="12191695" cy="128016"/>
          </a:xfrm>
          <a:prstGeom prst="rect">
            <a:avLst/>
          </a:prstGeom>
          <a:solidFill>
            <a:srgbClr val="FF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lang="en-US" noProof="0" dirty="0"/>
          </a:p>
        </p:txBody>
      </p:sp>
      <p:sp>
        <p:nvSpPr>
          <p:cNvPr id="22" name="Chevron 10">
            <a:extLst>
              <a:ext uri="{FF2B5EF4-FFF2-40B4-BE49-F238E27FC236}">
                <a16:creationId xmlns:a16="http://schemas.microsoft.com/office/drawing/2014/main" id="{58F24B91-C232-EA4C-308D-EB6AE2EFF1B1}"/>
              </a:ext>
            </a:extLst>
          </p:cNvPr>
          <p:cNvSpPr/>
          <p:nvPr/>
        </p:nvSpPr>
        <p:spPr>
          <a:xfrm>
            <a:off x="6647688" y="1824228"/>
            <a:ext cx="1508760" cy="731520"/>
          </a:xfrm>
          <a:prstGeom prst="chevron">
            <a:avLst/>
          </a:prstGeom>
          <a:solidFill>
            <a:schemeClr val="accent6"/>
          </a:solidFill>
          <a:ln>
            <a:solidFill>
              <a:srgbClr val="296299"/>
            </a:solidFill>
          </a:ln>
        </p:spPr>
        <p:style>
          <a:lnRef idx="1">
            <a:schemeClr val="accent1"/>
          </a:lnRef>
          <a:fillRef idx="3">
            <a:schemeClr val="accent1"/>
          </a:fillRef>
          <a:effectRef idx="2">
            <a:schemeClr val="accent1"/>
          </a:effectRef>
          <a:fontRef idx="minor">
            <a:schemeClr val="lt1"/>
          </a:fontRef>
        </p:style>
        <p:txBody>
          <a:bodyPr rtlCol="0" anchor="ctr"/>
          <a:lstStyle/>
          <a:p>
            <a:endParaRPr lang="en-US" noProof="0" dirty="0"/>
          </a:p>
        </p:txBody>
      </p:sp>
      <p:sp>
        <p:nvSpPr>
          <p:cNvPr id="23" name="TextBox 22">
            <a:extLst>
              <a:ext uri="{FF2B5EF4-FFF2-40B4-BE49-F238E27FC236}">
                <a16:creationId xmlns:a16="http://schemas.microsoft.com/office/drawing/2014/main" id="{2A7CA24A-2DBC-C7AD-FB3C-8A5B025CCD41}"/>
              </a:ext>
            </a:extLst>
          </p:cNvPr>
          <p:cNvSpPr txBox="1"/>
          <p:nvPr/>
        </p:nvSpPr>
        <p:spPr>
          <a:xfrm>
            <a:off x="4250437" y="1842283"/>
            <a:ext cx="1252728" cy="646331"/>
          </a:xfrm>
          <a:prstGeom prst="rect">
            <a:avLst/>
          </a:prstGeom>
          <a:noFill/>
        </p:spPr>
        <p:txBody>
          <a:bodyPr wrap="square" anchor="ctr">
            <a:spAutoFit/>
          </a:bodyPr>
          <a:lstStyle/>
          <a:p>
            <a:r>
              <a:rPr lang="en-US" noProof="0" dirty="0"/>
              <a:t>INGECART UPGRADES</a:t>
            </a:r>
          </a:p>
        </p:txBody>
      </p:sp>
      <p:sp>
        <p:nvSpPr>
          <p:cNvPr id="26" name="Chevron 10">
            <a:extLst>
              <a:ext uri="{FF2B5EF4-FFF2-40B4-BE49-F238E27FC236}">
                <a16:creationId xmlns:a16="http://schemas.microsoft.com/office/drawing/2014/main" id="{153B3525-16C6-8F23-9EE3-13499B353D9E}"/>
              </a:ext>
            </a:extLst>
          </p:cNvPr>
          <p:cNvSpPr/>
          <p:nvPr/>
        </p:nvSpPr>
        <p:spPr>
          <a:xfrm>
            <a:off x="880872" y="1816608"/>
            <a:ext cx="1508760" cy="731520"/>
          </a:xfrm>
          <a:prstGeom prst="chevron">
            <a:avLst/>
          </a:prstGeom>
          <a:solidFill>
            <a:schemeClr val="accent6"/>
          </a:solidFill>
          <a:ln>
            <a:solidFill>
              <a:srgbClr val="296299"/>
            </a:solidFill>
          </a:ln>
        </p:spPr>
        <p:style>
          <a:lnRef idx="1">
            <a:schemeClr val="accent1"/>
          </a:lnRef>
          <a:fillRef idx="3">
            <a:schemeClr val="accent1"/>
          </a:fillRef>
          <a:effectRef idx="2">
            <a:schemeClr val="accent1"/>
          </a:effectRef>
          <a:fontRef idx="minor">
            <a:schemeClr val="lt1"/>
          </a:fontRef>
        </p:style>
        <p:txBody>
          <a:bodyPr rtlCol="0" anchor="ctr"/>
          <a:lstStyle/>
          <a:p>
            <a:endParaRPr lang="en-US" noProof="0" dirty="0"/>
          </a:p>
        </p:txBody>
      </p:sp>
      <p:sp>
        <p:nvSpPr>
          <p:cNvPr id="27" name="TextBox 26">
            <a:extLst>
              <a:ext uri="{FF2B5EF4-FFF2-40B4-BE49-F238E27FC236}">
                <a16:creationId xmlns:a16="http://schemas.microsoft.com/office/drawing/2014/main" id="{65679BF8-0DCC-9CA9-045A-19E6086015AE}"/>
              </a:ext>
            </a:extLst>
          </p:cNvPr>
          <p:cNvSpPr txBox="1"/>
          <p:nvPr/>
        </p:nvSpPr>
        <p:spPr>
          <a:xfrm>
            <a:off x="643127" y="1997703"/>
            <a:ext cx="1636777" cy="369332"/>
          </a:xfrm>
          <a:prstGeom prst="rect">
            <a:avLst/>
          </a:prstGeom>
          <a:noFill/>
        </p:spPr>
        <p:txBody>
          <a:bodyPr wrap="square" anchor="ctr">
            <a:spAutoFit/>
          </a:bodyPr>
          <a:lstStyle/>
          <a:p>
            <a:r>
              <a:rPr lang="en-US" noProof="0" dirty="0"/>
              <a:t>ENGINEERING</a:t>
            </a:r>
          </a:p>
        </p:txBody>
      </p:sp>
      <p:sp>
        <p:nvSpPr>
          <p:cNvPr id="28" name="TextBox 27">
            <a:extLst>
              <a:ext uri="{FF2B5EF4-FFF2-40B4-BE49-F238E27FC236}">
                <a16:creationId xmlns:a16="http://schemas.microsoft.com/office/drawing/2014/main" id="{9D4707FB-5EA0-F030-F52A-6E6C223396DF}"/>
              </a:ext>
            </a:extLst>
          </p:cNvPr>
          <p:cNvSpPr txBox="1"/>
          <p:nvPr/>
        </p:nvSpPr>
        <p:spPr>
          <a:xfrm>
            <a:off x="752855" y="2689967"/>
            <a:ext cx="1636777" cy="923330"/>
          </a:xfrm>
          <a:prstGeom prst="rect">
            <a:avLst/>
          </a:prstGeom>
          <a:noFill/>
        </p:spPr>
        <p:txBody>
          <a:bodyPr wrap="square" anchor="ctr">
            <a:spAutoFit/>
          </a:bodyPr>
          <a:lstStyle/>
          <a:p>
            <a:r>
              <a:rPr lang="en-US" noProof="0" dirty="0"/>
              <a:t>AUDITING &amp; PROJECT MANAGEMENT</a:t>
            </a:r>
          </a:p>
        </p:txBody>
      </p:sp>
      <p:sp>
        <p:nvSpPr>
          <p:cNvPr id="29" name="TextBox 28">
            <a:extLst>
              <a:ext uri="{FF2B5EF4-FFF2-40B4-BE49-F238E27FC236}">
                <a16:creationId xmlns:a16="http://schemas.microsoft.com/office/drawing/2014/main" id="{147F180B-7100-9FEF-3B3C-94F007FAB8BE}"/>
              </a:ext>
            </a:extLst>
          </p:cNvPr>
          <p:cNvSpPr txBox="1"/>
          <p:nvPr/>
        </p:nvSpPr>
        <p:spPr>
          <a:xfrm>
            <a:off x="8681466" y="1863652"/>
            <a:ext cx="2196084" cy="646331"/>
          </a:xfrm>
          <a:prstGeom prst="rect">
            <a:avLst/>
          </a:prstGeom>
          <a:noFill/>
        </p:spPr>
        <p:txBody>
          <a:bodyPr wrap="square" anchor="ctr">
            <a:spAutoFit/>
          </a:bodyPr>
          <a:lstStyle/>
          <a:p>
            <a:r>
              <a:rPr lang="en-US" noProof="0" dirty="0"/>
              <a:t>INSTALLATION &amp;COMMSISSIONING</a:t>
            </a:r>
          </a:p>
        </p:txBody>
      </p:sp>
      <p:sp>
        <p:nvSpPr>
          <p:cNvPr id="16" name="TextBox 15"/>
          <p:cNvSpPr txBox="1"/>
          <p:nvPr/>
        </p:nvSpPr>
        <p:spPr>
          <a:xfrm>
            <a:off x="7388352" y="1879306"/>
            <a:ext cx="1252728" cy="548640"/>
          </a:xfrm>
          <a:prstGeom prst="rect">
            <a:avLst/>
          </a:prstGeom>
          <a:noFill/>
        </p:spPr>
        <p:txBody>
          <a:bodyPr wrap="square" anchor="ctr">
            <a:spAutoFit/>
          </a:bodyPr>
          <a:lstStyle/>
          <a:p>
            <a:r>
              <a:rPr lang="en-US" noProof="0" dirty="0"/>
              <a:t>VISALIA</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7" name="Rounded Rectangle 9">
            <a:extLst>
              <a:ext uri="{FF2B5EF4-FFF2-40B4-BE49-F238E27FC236}">
                <a16:creationId xmlns:a16="http://schemas.microsoft.com/office/drawing/2014/main" id="{2CA77152-E22D-5B8B-D98E-77C3B90B1A93}"/>
              </a:ext>
            </a:extLst>
          </p:cNvPr>
          <p:cNvSpPr/>
          <p:nvPr/>
        </p:nvSpPr>
        <p:spPr>
          <a:xfrm>
            <a:off x="5904547" y="5285231"/>
            <a:ext cx="5381625" cy="1788283"/>
          </a:xfrm>
          <a:prstGeom prst="roundRect">
            <a:avLst/>
          </a:prstGeom>
          <a:solidFill>
            <a:schemeClr val="accent6"/>
          </a:solidFill>
          <a:ln>
            <a:solidFill>
              <a:srgbClr val="E3E5E8"/>
            </a:solidFill>
          </a:ln>
        </p:spPr>
        <p:style>
          <a:lnRef idx="1">
            <a:schemeClr val="accent1"/>
          </a:lnRef>
          <a:fillRef idx="3">
            <a:schemeClr val="accent1"/>
          </a:fillRef>
          <a:effectRef idx="2">
            <a:schemeClr val="accent1"/>
          </a:effectRef>
          <a:fontRef idx="minor">
            <a:schemeClr val="lt1"/>
          </a:fontRef>
        </p:style>
        <p:txBody>
          <a:bodyPr rtlCol="0" anchor="ctr"/>
          <a:lstStyle/>
          <a:p>
            <a:endParaRPr lang="en-US" noProof="0" dirty="0"/>
          </a:p>
        </p:txBody>
      </p:sp>
      <p:sp>
        <p:nvSpPr>
          <p:cNvPr id="4" name="TextBox 3"/>
          <p:cNvSpPr txBox="1"/>
          <p:nvPr/>
        </p:nvSpPr>
        <p:spPr>
          <a:xfrm>
            <a:off x="411480" y="201168"/>
            <a:ext cx="4572000" cy="274320"/>
          </a:xfrm>
          <a:prstGeom prst="rect">
            <a:avLst/>
          </a:prstGeom>
          <a:noFill/>
        </p:spPr>
        <p:txBody>
          <a:bodyPr wrap="square" anchor="t">
            <a:spAutoFit/>
          </a:bodyPr>
          <a:lstStyle/>
          <a:p>
            <a:r>
              <a:rPr lang="en-US" noProof="0" dirty="0"/>
              <a:t>BHS SUPPORT</a:t>
            </a:r>
          </a:p>
        </p:txBody>
      </p:sp>
      <p:sp>
        <p:nvSpPr>
          <p:cNvPr id="6" name="TextBox 5"/>
          <p:cNvSpPr txBox="1"/>
          <p:nvPr/>
        </p:nvSpPr>
        <p:spPr>
          <a:xfrm>
            <a:off x="11155680" y="6519672"/>
            <a:ext cx="640080" cy="201168"/>
          </a:xfrm>
          <a:prstGeom prst="rect">
            <a:avLst/>
          </a:prstGeom>
          <a:noFill/>
        </p:spPr>
        <p:txBody>
          <a:bodyPr wrap="square" anchor="t">
            <a:spAutoFit/>
          </a:bodyPr>
          <a:lstStyle/>
          <a:p>
            <a:r>
              <a:rPr lang="en-US" noProof="0" dirty="0"/>
              <a:t>11</a:t>
            </a:r>
          </a:p>
        </p:txBody>
      </p:sp>
      <p:sp>
        <p:nvSpPr>
          <p:cNvPr id="8" name="TextBox 7"/>
          <p:cNvSpPr txBox="1"/>
          <p:nvPr/>
        </p:nvSpPr>
        <p:spPr>
          <a:xfrm>
            <a:off x="548640" y="566928"/>
            <a:ext cx="7863840" cy="594360"/>
          </a:xfrm>
          <a:prstGeom prst="rect">
            <a:avLst/>
          </a:prstGeom>
          <a:noFill/>
        </p:spPr>
        <p:txBody>
          <a:bodyPr wrap="square" anchor="t">
            <a:spAutoFit/>
          </a:bodyPr>
          <a:lstStyle/>
          <a:p>
            <a:r>
              <a:rPr lang="en-US" noProof="0" dirty="0"/>
              <a:t>BHS integration and support condition</a:t>
            </a:r>
          </a:p>
        </p:txBody>
      </p:sp>
      <p:sp>
        <p:nvSpPr>
          <p:cNvPr id="9" name="TextBox 8"/>
          <p:cNvSpPr txBox="1"/>
          <p:nvPr/>
        </p:nvSpPr>
        <p:spPr>
          <a:xfrm>
            <a:off x="548640" y="1005840"/>
            <a:ext cx="7772400" cy="320040"/>
          </a:xfrm>
          <a:prstGeom prst="rect">
            <a:avLst/>
          </a:prstGeom>
          <a:noFill/>
        </p:spPr>
        <p:txBody>
          <a:bodyPr wrap="square" anchor="t">
            <a:spAutoFit/>
          </a:bodyPr>
          <a:lstStyle/>
          <a:p>
            <a:r>
              <a:rPr lang="en-US" noProof="0" dirty="0"/>
              <a:t>What the reviewed letter asks to formalize for a safe project close</a:t>
            </a:r>
          </a:p>
        </p:txBody>
      </p:sp>
      <p:sp>
        <p:nvSpPr>
          <p:cNvPr id="10" name="Rounded Rectangle 9"/>
          <p:cNvSpPr/>
          <p:nvPr/>
        </p:nvSpPr>
        <p:spPr>
          <a:xfrm>
            <a:off x="749808" y="1572768"/>
            <a:ext cx="5029200" cy="4480560"/>
          </a:xfrm>
          <a:prstGeom prst="roundRect">
            <a:avLst/>
          </a:prstGeom>
          <a:solidFill>
            <a:srgbClr val="FFFFFF"/>
          </a:solidFill>
          <a:ln>
            <a:solidFill>
              <a:srgbClr val="E3E5E8"/>
            </a:solidFill>
          </a:ln>
        </p:spPr>
        <p:style>
          <a:lnRef idx="1">
            <a:schemeClr val="accent1"/>
          </a:lnRef>
          <a:fillRef idx="3">
            <a:schemeClr val="accent1"/>
          </a:fillRef>
          <a:effectRef idx="2">
            <a:schemeClr val="accent1"/>
          </a:effectRef>
          <a:fontRef idx="minor">
            <a:schemeClr val="lt1"/>
          </a:fontRef>
        </p:style>
        <p:txBody>
          <a:bodyPr rtlCol="0" anchor="ctr"/>
          <a:lstStyle/>
          <a:p>
            <a:endParaRPr lang="en-US" noProof="0" dirty="0"/>
          </a:p>
        </p:txBody>
      </p:sp>
      <p:sp>
        <p:nvSpPr>
          <p:cNvPr id="11" name="TextBox 10"/>
          <p:cNvSpPr txBox="1"/>
          <p:nvPr/>
        </p:nvSpPr>
        <p:spPr>
          <a:xfrm>
            <a:off x="1005840" y="1828800"/>
            <a:ext cx="4389120" cy="274320"/>
          </a:xfrm>
          <a:prstGeom prst="rect">
            <a:avLst/>
          </a:prstGeom>
          <a:noFill/>
        </p:spPr>
        <p:txBody>
          <a:bodyPr wrap="square" anchor="t">
            <a:spAutoFit/>
          </a:bodyPr>
          <a:lstStyle/>
          <a:p>
            <a:r>
              <a:rPr lang="en-US" noProof="0" dirty="0"/>
              <a:t>SUPPORT FRAMEWORK REQUESTED</a:t>
            </a:r>
          </a:p>
        </p:txBody>
      </p:sp>
      <p:sp>
        <p:nvSpPr>
          <p:cNvPr id="12" name="TextBox 11"/>
          <p:cNvSpPr txBox="1"/>
          <p:nvPr/>
        </p:nvSpPr>
        <p:spPr>
          <a:xfrm>
            <a:off x="960120" y="2212848"/>
            <a:ext cx="4434840" cy="3474720"/>
          </a:xfrm>
          <a:prstGeom prst="rect">
            <a:avLst/>
          </a:prstGeom>
          <a:noFill/>
        </p:spPr>
        <p:txBody>
          <a:bodyPr wrap="square">
            <a:spAutoFit/>
          </a:bodyPr>
          <a:lstStyle/>
          <a:p>
            <a:r>
              <a:rPr lang="en-US" noProof="0" dirty="0"/>
              <a:t>Technical supervision during the machine disassembly in Turkey. Crane operations management and support. Local or nearby service in the United States after installation and acceptance. Maintenance training and process training. Spare parts supply plus technical service and after-sales support.</a:t>
            </a:r>
          </a:p>
        </p:txBody>
      </p:sp>
      <p:pic>
        <p:nvPicPr>
          <p:cNvPr id="13" name="Picture 12" descr="bhs_support_letter_page2.png"/>
          <p:cNvPicPr>
            <a:picLocks noChangeAspect="1"/>
          </p:cNvPicPr>
          <p:nvPr/>
        </p:nvPicPr>
        <p:blipFill>
          <a:blip r:embed="rId2"/>
          <a:srcRect t="15274" b="43532"/>
          <a:stretch>
            <a:fillRect/>
          </a:stretch>
        </p:blipFill>
        <p:spPr>
          <a:xfrm>
            <a:off x="5650992" y="1572768"/>
            <a:ext cx="7910942" cy="2906530"/>
          </a:xfrm>
          <a:prstGeom prst="rect">
            <a:avLst/>
          </a:prstGeom>
          <a:ln w="76200">
            <a:solidFill>
              <a:srgbClr val="FF0000"/>
            </a:solidFill>
          </a:ln>
        </p:spPr>
      </p:pic>
      <p:sp>
        <p:nvSpPr>
          <p:cNvPr id="14" name="TextBox 13"/>
          <p:cNvSpPr txBox="1"/>
          <p:nvPr/>
        </p:nvSpPr>
        <p:spPr>
          <a:xfrm>
            <a:off x="6172200" y="5806440"/>
            <a:ext cx="4846320" cy="256032"/>
          </a:xfrm>
          <a:prstGeom prst="rect">
            <a:avLst/>
          </a:prstGeom>
          <a:noFill/>
        </p:spPr>
        <p:txBody>
          <a:bodyPr wrap="square" anchor="t">
            <a:spAutoFit/>
          </a:bodyPr>
          <a:lstStyle/>
          <a:p>
            <a:r>
              <a:rPr lang="en-US" noProof="0" dirty="0"/>
              <a:t>Important note: the reviewed document is a written confirmation request, not a final letter issued by BHS.</a:t>
            </a:r>
          </a:p>
        </p:txBody>
      </p:sp>
      <p:sp>
        <p:nvSpPr>
          <p:cNvPr id="15" name="Rectangle 14"/>
          <p:cNvSpPr/>
          <p:nvPr/>
        </p:nvSpPr>
        <p:spPr>
          <a:xfrm>
            <a:off x="0" y="0"/>
            <a:ext cx="12191695" cy="109728"/>
          </a:xfrm>
          <a:prstGeom prst="rect">
            <a:avLst/>
          </a:prstGeom>
          <a:solidFill>
            <a:srgbClr val="FF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lang="en-US" noProof="0" dirty="0"/>
          </a:p>
        </p:txBody>
      </p:sp>
      <p:sp>
        <p:nvSpPr>
          <p:cNvPr id="16" name="Rectangle 15"/>
          <p:cNvSpPr/>
          <p:nvPr/>
        </p:nvSpPr>
        <p:spPr>
          <a:xfrm>
            <a:off x="0" y="6729984"/>
            <a:ext cx="12191695" cy="128016"/>
          </a:xfrm>
          <a:prstGeom prst="rect">
            <a:avLst/>
          </a:prstGeom>
          <a:solidFill>
            <a:srgbClr val="FF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lang="en-US" noProof="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64592"/>
          </a:xfrm>
          <a:prstGeom prst="rect">
            <a:avLst/>
          </a:prstGeom>
          <a:solidFill>
            <a:srgbClr val="D62E38"/>
          </a:solidFill>
          <a:ln>
            <a:solidFill>
              <a:srgbClr val="D62E38"/>
            </a:solidFill>
          </a:ln>
        </p:spPr>
        <p:style>
          <a:lnRef idx="1">
            <a:schemeClr val="accent1"/>
          </a:lnRef>
          <a:fillRef idx="3">
            <a:schemeClr val="accent1"/>
          </a:fillRef>
          <a:effectRef idx="2">
            <a:schemeClr val="accent1"/>
          </a:effectRef>
          <a:fontRef idx="minor">
            <a:schemeClr val="lt1"/>
          </a:fontRef>
        </p:style>
        <p:txBody>
          <a:bodyPr rtlCol="0" anchor="ctr"/>
          <a:lstStyle/>
          <a:p>
            <a:endParaRPr lang="en-US" noProof="0" dirty="0"/>
          </a:p>
        </p:txBody>
      </p:sp>
      <p:sp>
        <p:nvSpPr>
          <p:cNvPr id="3" name="Rectangle 2"/>
          <p:cNvSpPr/>
          <p:nvPr/>
        </p:nvSpPr>
        <p:spPr>
          <a:xfrm>
            <a:off x="0" y="6473952"/>
            <a:ext cx="12191695" cy="384048"/>
          </a:xfrm>
          <a:prstGeom prst="rect">
            <a:avLst/>
          </a:prstGeom>
          <a:solidFill>
            <a:srgbClr val="15385E"/>
          </a:solidFill>
          <a:ln>
            <a:solidFill>
              <a:srgbClr val="15385E"/>
            </a:solidFill>
          </a:ln>
        </p:spPr>
        <p:style>
          <a:lnRef idx="1">
            <a:schemeClr val="accent1"/>
          </a:lnRef>
          <a:fillRef idx="3">
            <a:schemeClr val="accent1"/>
          </a:fillRef>
          <a:effectRef idx="2">
            <a:schemeClr val="accent1"/>
          </a:effectRef>
          <a:fontRef idx="minor">
            <a:schemeClr val="lt1"/>
          </a:fontRef>
        </p:style>
        <p:txBody>
          <a:bodyPr rtlCol="0" anchor="ctr"/>
          <a:lstStyle/>
          <a:p>
            <a:endParaRPr lang="en-US" noProof="0" dirty="0"/>
          </a:p>
        </p:txBody>
      </p:sp>
      <p:sp>
        <p:nvSpPr>
          <p:cNvPr id="4" name="TextBox 3"/>
          <p:cNvSpPr txBox="1"/>
          <p:nvPr/>
        </p:nvSpPr>
        <p:spPr>
          <a:xfrm>
            <a:off x="411480" y="201168"/>
            <a:ext cx="4572000" cy="274320"/>
          </a:xfrm>
          <a:prstGeom prst="rect">
            <a:avLst/>
          </a:prstGeom>
          <a:noFill/>
        </p:spPr>
        <p:txBody>
          <a:bodyPr wrap="square" anchor="t">
            <a:spAutoFit/>
          </a:bodyPr>
          <a:lstStyle/>
          <a:p>
            <a:r>
              <a:rPr lang="en-US" noProof="0" dirty="0"/>
              <a:t>INVESTMENT</a:t>
            </a:r>
          </a:p>
        </p:txBody>
      </p:sp>
      <p:sp>
        <p:nvSpPr>
          <p:cNvPr id="5" name="TextBox 4"/>
          <p:cNvSpPr txBox="1"/>
          <p:nvPr/>
        </p:nvSpPr>
        <p:spPr>
          <a:xfrm>
            <a:off x="411480" y="6537960"/>
            <a:ext cx="8046720" cy="182880"/>
          </a:xfrm>
          <a:prstGeom prst="rect">
            <a:avLst/>
          </a:prstGeom>
          <a:noFill/>
        </p:spPr>
        <p:txBody>
          <a:bodyPr wrap="square" anchor="t">
            <a:spAutoFit/>
          </a:bodyPr>
          <a:lstStyle/>
          <a:p>
            <a:r>
              <a:rPr lang="en-US" noProof="0" dirty="0"/>
              <a:t>INGECART ENGINEERING &amp; AUDITING</a:t>
            </a:r>
          </a:p>
          <a:p>
            <a:r>
              <a:rPr lang="en-US" noProof="0" dirty="0"/>
              <a:t>LINETEX COMMERCIAL CHANNEL USA</a:t>
            </a:r>
          </a:p>
        </p:txBody>
      </p:sp>
      <p:sp>
        <p:nvSpPr>
          <p:cNvPr id="6" name="TextBox 5"/>
          <p:cNvSpPr txBox="1"/>
          <p:nvPr/>
        </p:nvSpPr>
        <p:spPr>
          <a:xfrm>
            <a:off x="11155680" y="6519672"/>
            <a:ext cx="640080" cy="201168"/>
          </a:xfrm>
          <a:prstGeom prst="rect">
            <a:avLst/>
          </a:prstGeom>
          <a:noFill/>
        </p:spPr>
        <p:txBody>
          <a:bodyPr wrap="square" anchor="t">
            <a:spAutoFit/>
          </a:bodyPr>
          <a:lstStyle/>
          <a:p>
            <a:r>
              <a:rPr lang="en-US" noProof="0" dirty="0"/>
              <a:t>17</a:t>
            </a:r>
          </a:p>
        </p:txBody>
      </p:sp>
      <p:pic>
        <p:nvPicPr>
          <p:cNvPr id="7" name="Picture 6" descr="Copia%20de%20sello%202%20(1)_edited.png"/>
          <p:cNvPicPr>
            <a:picLocks noChangeAspect="1"/>
          </p:cNvPicPr>
          <p:nvPr/>
        </p:nvPicPr>
        <p:blipFill>
          <a:blip r:embed="rId2"/>
          <a:stretch>
            <a:fillRect/>
          </a:stretch>
        </p:blipFill>
        <p:spPr>
          <a:xfrm>
            <a:off x="10771632" y="182880"/>
            <a:ext cx="987552" cy="384048"/>
          </a:xfrm>
          <a:prstGeom prst="rect">
            <a:avLst/>
          </a:prstGeom>
        </p:spPr>
      </p:pic>
      <p:sp>
        <p:nvSpPr>
          <p:cNvPr id="8" name="TextBox 7"/>
          <p:cNvSpPr txBox="1"/>
          <p:nvPr/>
        </p:nvSpPr>
        <p:spPr>
          <a:xfrm>
            <a:off x="548640" y="566928"/>
            <a:ext cx="7863840" cy="594360"/>
          </a:xfrm>
          <a:prstGeom prst="rect">
            <a:avLst/>
          </a:prstGeom>
          <a:noFill/>
        </p:spPr>
        <p:txBody>
          <a:bodyPr wrap="square" anchor="t">
            <a:spAutoFit/>
          </a:bodyPr>
          <a:lstStyle/>
          <a:p>
            <a:r>
              <a:rPr lang="en-US" noProof="0" dirty="0"/>
              <a:t>Vista of INVESTMENT</a:t>
            </a:r>
          </a:p>
        </p:txBody>
      </p:sp>
      <p:sp>
        <p:nvSpPr>
          <p:cNvPr id="9" name="TextBox 8"/>
          <p:cNvSpPr txBox="1"/>
          <p:nvPr/>
        </p:nvSpPr>
        <p:spPr>
          <a:xfrm>
            <a:off x="548640" y="1005840"/>
            <a:ext cx="7772400" cy="320040"/>
          </a:xfrm>
          <a:prstGeom prst="rect">
            <a:avLst/>
          </a:prstGeom>
          <a:noFill/>
        </p:spPr>
        <p:txBody>
          <a:bodyPr wrap="square" anchor="t">
            <a:spAutoFit/>
          </a:bodyPr>
          <a:lstStyle/>
          <a:p>
            <a:r>
              <a:rPr lang="en-US" noProof="0" dirty="0"/>
              <a:t>VISIBLE SUBTOTALS in las hojas </a:t>
            </a:r>
            <a:r>
              <a:rPr lang="en-US" noProof="0" dirty="0" err="1"/>
              <a:t>comerciales</a:t>
            </a:r>
            <a:r>
              <a:rPr lang="en-US" noProof="0" dirty="0"/>
              <a:t> </a:t>
            </a:r>
            <a:r>
              <a:rPr lang="en-US" noProof="0" dirty="0" err="1"/>
              <a:t>revisadas</a:t>
            </a:r>
            <a:endParaRPr lang="en-US" noProof="0" dirty="0"/>
          </a:p>
        </p:txBody>
      </p:sp>
      <p:sp>
        <p:nvSpPr>
          <p:cNvPr id="10" name="TextBox 9"/>
          <p:cNvSpPr txBox="1"/>
          <p:nvPr/>
        </p:nvSpPr>
        <p:spPr>
          <a:xfrm>
            <a:off x="868680" y="2029968"/>
            <a:ext cx="1554480" cy="228600"/>
          </a:xfrm>
          <a:prstGeom prst="rect">
            <a:avLst/>
          </a:prstGeom>
          <a:noFill/>
        </p:spPr>
        <p:txBody>
          <a:bodyPr wrap="square" anchor="t">
            <a:spAutoFit/>
          </a:bodyPr>
          <a:lstStyle/>
          <a:p>
            <a:r>
              <a:rPr lang="en-US" noProof="0" dirty="0"/>
              <a:t>Services</a:t>
            </a:r>
          </a:p>
        </p:txBody>
      </p:sp>
      <p:sp>
        <p:nvSpPr>
          <p:cNvPr id="11" name="Rounded Rectangle 10"/>
          <p:cNvSpPr/>
          <p:nvPr/>
        </p:nvSpPr>
        <p:spPr>
          <a:xfrm>
            <a:off x="2103120" y="1920240"/>
            <a:ext cx="5605635" cy="438912"/>
          </a:xfrm>
          <a:prstGeom prst="roundRect">
            <a:avLst/>
          </a:prstGeom>
          <a:solidFill>
            <a:srgbClr val="296299"/>
          </a:solidFill>
          <a:ln>
            <a:solidFill>
              <a:srgbClr val="296299"/>
            </a:solidFill>
          </a:ln>
        </p:spPr>
        <p:style>
          <a:lnRef idx="1">
            <a:schemeClr val="accent1"/>
          </a:lnRef>
          <a:fillRef idx="3">
            <a:schemeClr val="accent1"/>
          </a:fillRef>
          <a:effectRef idx="2">
            <a:schemeClr val="accent1"/>
          </a:effectRef>
          <a:fontRef idx="minor">
            <a:schemeClr val="lt1"/>
          </a:fontRef>
        </p:style>
        <p:txBody>
          <a:bodyPr rtlCol="0" anchor="ctr"/>
          <a:lstStyle/>
          <a:p>
            <a:endParaRPr lang="en-US" noProof="0" dirty="0"/>
          </a:p>
        </p:txBody>
      </p:sp>
      <p:sp>
        <p:nvSpPr>
          <p:cNvPr id="12" name="TextBox 11"/>
          <p:cNvSpPr txBox="1"/>
          <p:nvPr/>
        </p:nvSpPr>
        <p:spPr>
          <a:xfrm>
            <a:off x="9326880" y="1993392"/>
            <a:ext cx="1645920" cy="228600"/>
          </a:xfrm>
          <a:prstGeom prst="rect">
            <a:avLst/>
          </a:prstGeom>
          <a:noFill/>
        </p:spPr>
        <p:txBody>
          <a:bodyPr wrap="square" anchor="t">
            <a:spAutoFit/>
          </a:bodyPr>
          <a:lstStyle/>
          <a:p>
            <a:r>
              <a:rPr lang="en-US" noProof="0" dirty="0"/>
              <a:t>USD 3.041M</a:t>
            </a:r>
          </a:p>
        </p:txBody>
      </p:sp>
      <p:sp>
        <p:nvSpPr>
          <p:cNvPr id="13" name="TextBox 12"/>
          <p:cNvSpPr txBox="1"/>
          <p:nvPr/>
        </p:nvSpPr>
        <p:spPr>
          <a:xfrm>
            <a:off x="868680" y="2779776"/>
            <a:ext cx="1554480" cy="228600"/>
          </a:xfrm>
          <a:prstGeom prst="rect">
            <a:avLst/>
          </a:prstGeom>
          <a:noFill/>
        </p:spPr>
        <p:txBody>
          <a:bodyPr wrap="square" anchor="t">
            <a:spAutoFit/>
          </a:bodyPr>
          <a:lstStyle/>
          <a:p>
            <a:r>
              <a:rPr lang="en-US" noProof="0" dirty="0"/>
              <a:t>Peripherals</a:t>
            </a:r>
          </a:p>
        </p:txBody>
      </p:sp>
      <p:sp>
        <p:nvSpPr>
          <p:cNvPr id="14" name="Rounded Rectangle 13"/>
          <p:cNvSpPr/>
          <p:nvPr/>
        </p:nvSpPr>
        <p:spPr>
          <a:xfrm>
            <a:off x="2103120" y="2670048"/>
            <a:ext cx="4173350" cy="438912"/>
          </a:xfrm>
          <a:prstGeom prst="roundRect">
            <a:avLst/>
          </a:prstGeom>
          <a:solidFill>
            <a:srgbClr val="15385E"/>
          </a:solidFill>
          <a:ln>
            <a:solidFill>
              <a:srgbClr val="15385E"/>
            </a:solidFill>
          </a:ln>
        </p:spPr>
        <p:style>
          <a:lnRef idx="1">
            <a:schemeClr val="accent1"/>
          </a:lnRef>
          <a:fillRef idx="3">
            <a:schemeClr val="accent1"/>
          </a:fillRef>
          <a:effectRef idx="2">
            <a:schemeClr val="accent1"/>
          </a:effectRef>
          <a:fontRef idx="minor">
            <a:schemeClr val="lt1"/>
          </a:fontRef>
        </p:style>
        <p:txBody>
          <a:bodyPr rtlCol="0" anchor="ctr"/>
          <a:lstStyle/>
          <a:p>
            <a:endParaRPr lang="en-US" noProof="0" dirty="0"/>
          </a:p>
        </p:txBody>
      </p:sp>
      <p:sp>
        <p:nvSpPr>
          <p:cNvPr id="15" name="TextBox 14"/>
          <p:cNvSpPr txBox="1"/>
          <p:nvPr/>
        </p:nvSpPr>
        <p:spPr>
          <a:xfrm>
            <a:off x="9326880" y="2743200"/>
            <a:ext cx="1645920" cy="228600"/>
          </a:xfrm>
          <a:prstGeom prst="rect">
            <a:avLst/>
          </a:prstGeom>
          <a:noFill/>
        </p:spPr>
        <p:txBody>
          <a:bodyPr wrap="square" anchor="t">
            <a:spAutoFit/>
          </a:bodyPr>
          <a:lstStyle/>
          <a:p>
            <a:r>
              <a:rPr lang="en-US" noProof="0" dirty="0"/>
              <a:t>USD 2.264M</a:t>
            </a:r>
          </a:p>
        </p:txBody>
      </p:sp>
      <p:sp>
        <p:nvSpPr>
          <p:cNvPr id="16" name="TextBox 15"/>
          <p:cNvSpPr txBox="1"/>
          <p:nvPr/>
        </p:nvSpPr>
        <p:spPr>
          <a:xfrm>
            <a:off x="868680" y="3529584"/>
            <a:ext cx="1554480" cy="228600"/>
          </a:xfrm>
          <a:prstGeom prst="rect">
            <a:avLst/>
          </a:prstGeom>
          <a:noFill/>
        </p:spPr>
        <p:txBody>
          <a:bodyPr wrap="square" anchor="t">
            <a:spAutoFit/>
          </a:bodyPr>
          <a:lstStyle/>
          <a:p>
            <a:r>
              <a:rPr lang="en-US" noProof="0" dirty="0"/>
              <a:t>CONVEYORS</a:t>
            </a:r>
          </a:p>
        </p:txBody>
      </p:sp>
      <p:sp>
        <p:nvSpPr>
          <p:cNvPr id="17" name="Rounded Rectangle 16"/>
          <p:cNvSpPr/>
          <p:nvPr/>
        </p:nvSpPr>
        <p:spPr>
          <a:xfrm>
            <a:off x="2103120" y="3419856"/>
            <a:ext cx="6949440" cy="438912"/>
          </a:xfrm>
          <a:prstGeom prst="roundRect">
            <a:avLst/>
          </a:prstGeom>
          <a:solidFill>
            <a:srgbClr val="D62E38"/>
          </a:solidFill>
          <a:ln>
            <a:solidFill>
              <a:srgbClr val="D62E38"/>
            </a:solidFill>
          </a:ln>
        </p:spPr>
        <p:style>
          <a:lnRef idx="1">
            <a:schemeClr val="accent1"/>
          </a:lnRef>
          <a:fillRef idx="3">
            <a:schemeClr val="accent1"/>
          </a:fillRef>
          <a:effectRef idx="2">
            <a:schemeClr val="accent1"/>
          </a:effectRef>
          <a:fontRef idx="minor">
            <a:schemeClr val="lt1"/>
          </a:fontRef>
        </p:style>
        <p:txBody>
          <a:bodyPr rtlCol="0" anchor="ctr"/>
          <a:lstStyle/>
          <a:p>
            <a:endParaRPr lang="en-US" noProof="0" dirty="0"/>
          </a:p>
        </p:txBody>
      </p:sp>
      <p:sp>
        <p:nvSpPr>
          <p:cNvPr id="18" name="TextBox 17"/>
          <p:cNvSpPr txBox="1"/>
          <p:nvPr/>
        </p:nvSpPr>
        <p:spPr>
          <a:xfrm>
            <a:off x="9326880" y="3493008"/>
            <a:ext cx="1645920" cy="228600"/>
          </a:xfrm>
          <a:prstGeom prst="rect">
            <a:avLst/>
          </a:prstGeom>
          <a:noFill/>
        </p:spPr>
        <p:txBody>
          <a:bodyPr wrap="square" anchor="t">
            <a:spAutoFit/>
          </a:bodyPr>
          <a:lstStyle/>
          <a:p>
            <a:r>
              <a:rPr lang="en-US" noProof="0" dirty="0"/>
              <a:t>USD 3.770M</a:t>
            </a:r>
          </a:p>
        </p:txBody>
      </p:sp>
      <p:sp>
        <p:nvSpPr>
          <p:cNvPr id="19" name="TextBox 18"/>
          <p:cNvSpPr txBox="1"/>
          <p:nvPr/>
        </p:nvSpPr>
        <p:spPr>
          <a:xfrm>
            <a:off x="868680" y="4279392"/>
            <a:ext cx="1554480" cy="228600"/>
          </a:xfrm>
          <a:prstGeom prst="rect">
            <a:avLst/>
          </a:prstGeom>
          <a:noFill/>
        </p:spPr>
        <p:txBody>
          <a:bodyPr wrap="square" anchor="t">
            <a:spAutoFit/>
          </a:bodyPr>
          <a:lstStyle/>
          <a:p>
            <a:r>
              <a:rPr lang="en-US" noProof="0" dirty="0" err="1"/>
              <a:t>Ingetrans</a:t>
            </a:r>
            <a:endParaRPr lang="en-US" noProof="0" dirty="0"/>
          </a:p>
        </p:txBody>
      </p:sp>
      <p:sp>
        <p:nvSpPr>
          <p:cNvPr id="20" name="Rounded Rectangle 19"/>
          <p:cNvSpPr/>
          <p:nvPr/>
        </p:nvSpPr>
        <p:spPr>
          <a:xfrm>
            <a:off x="2103120" y="4169664"/>
            <a:ext cx="5478444" cy="438912"/>
          </a:xfrm>
          <a:prstGeom prst="roundRect">
            <a:avLst/>
          </a:prstGeom>
          <a:solidFill>
            <a:srgbClr val="E86F37"/>
          </a:solidFill>
          <a:ln>
            <a:solidFill>
              <a:srgbClr val="E86F37"/>
            </a:solidFill>
          </a:ln>
        </p:spPr>
        <p:style>
          <a:lnRef idx="1">
            <a:schemeClr val="accent1"/>
          </a:lnRef>
          <a:fillRef idx="3">
            <a:schemeClr val="accent1"/>
          </a:fillRef>
          <a:effectRef idx="2">
            <a:schemeClr val="accent1"/>
          </a:effectRef>
          <a:fontRef idx="minor">
            <a:schemeClr val="lt1"/>
          </a:fontRef>
        </p:style>
        <p:txBody>
          <a:bodyPr rtlCol="0" anchor="ctr"/>
          <a:lstStyle/>
          <a:p>
            <a:endParaRPr lang="en-US" noProof="0" dirty="0"/>
          </a:p>
        </p:txBody>
      </p:sp>
      <p:sp>
        <p:nvSpPr>
          <p:cNvPr id="21" name="TextBox 20"/>
          <p:cNvSpPr txBox="1"/>
          <p:nvPr/>
        </p:nvSpPr>
        <p:spPr>
          <a:xfrm>
            <a:off x="9326880" y="4242816"/>
            <a:ext cx="1645920" cy="228600"/>
          </a:xfrm>
          <a:prstGeom prst="rect">
            <a:avLst/>
          </a:prstGeom>
          <a:noFill/>
        </p:spPr>
        <p:txBody>
          <a:bodyPr wrap="square" anchor="t">
            <a:spAutoFit/>
          </a:bodyPr>
          <a:lstStyle/>
          <a:p>
            <a:r>
              <a:rPr lang="en-US" noProof="0" dirty="0"/>
              <a:t>USD 2.972M</a:t>
            </a:r>
          </a:p>
        </p:txBody>
      </p:sp>
      <p:sp>
        <p:nvSpPr>
          <p:cNvPr id="22" name="Rounded Rectangle 21"/>
          <p:cNvSpPr/>
          <p:nvPr/>
        </p:nvSpPr>
        <p:spPr>
          <a:xfrm>
            <a:off x="868680" y="5212080"/>
            <a:ext cx="10241280" cy="822960"/>
          </a:xfrm>
          <a:prstGeom prst="roundRect">
            <a:avLst/>
          </a:prstGeom>
          <a:solidFill>
            <a:srgbClr val="FCECEC"/>
          </a:solidFill>
          <a:ln>
            <a:solidFill>
              <a:srgbClr val="FCECEC"/>
            </a:solidFill>
          </a:ln>
        </p:spPr>
        <p:style>
          <a:lnRef idx="1">
            <a:schemeClr val="accent1"/>
          </a:lnRef>
          <a:fillRef idx="3">
            <a:schemeClr val="accent1"/>
          </a:fillRef>
          <a:effectRef idx="2">
            <a:schemeClr val="accent1"/>
          </a:effectRef>
          <a:fontRef idx="minor">
            <a:schemeClr val="lt1"/>
          </a:fontRef>
        </p:style>
        <p:txBody>
          <a:bodyPr rtlCol="0" anchor="ctr"/>
          <a:lstStyle/>
          <a:p>
            <a:endParaRPr lang="en-US" noProof="0" dirty="0"/>
          </a:p>
        </p:txBody>
      </p:sp>
      <p:sp>
        <p:nvSpPr>
          <p:cNvPr id="23" name="TextBox 22"/>
          <p:cNvSpPr txBox="1"/>
          <p:nvPr/>
        </p:nvSpPr>
        <p:spPr>
          <a:xfrm>
            <a:off x="1143000" y="5468112"/>
            <a:ext cx="9738360" cy="256032"/>
          </a:xfrm>
          <a:prstGeom prst="rect">
            <a:avLst/>
          </a:prstGeom>
          <a:noFill/>
        </p:spPr>
        <p:txBody>
          <a:bodyPr wrap="square" anchor="t">
            <a:spAutoFit/>
          </a:bodyPr>
          <a:lstStyle/>
          <a:p>
            <a:r>
              <a:rPr lang="en-US" noProof="0" dirty="0"/>
              <a:t>Note: This slide shows the visible subtotal of the revised sheets. It must be contrasted with the final commercial close before issuing a final offer.</a:t>
            </a:r>
          </a:p>
        </p:txBody>
      </p:sp>
      <p:sp>
        <p:nvSpPr>
          <p:cNvPr id="24" name="Rectangle 23"/>
          <p:cNvSpPr/>
          <p:nvPr/>
        </p:nvSpPr>
        <p:spPr>
          <a:xfrm>
            <a:off x="0" y="0"/>
            <a:ext cx="12191695" cy="109728"/>
          </a:xfrm>
          <a:prstGeom prst="rect">
            <a:avLst/>
          </a:prstGeom>
          <a:solidFill>
            <a:srgbClr val="FF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lang="en-US" noProof="0" dirty="0"/>
          </a:p>
        </p:txBody>
      </p:sp>
      <p:sp>
        <p:nvSpPr>
          <p:cNvPr id="25" name="Rectangle 24"/>
          <p:cNvSpPr/>
          <p:nvPr/>
        </p:nvSpPr>
        <p:spPr>
          <a:xfrm>
            <a:off x="0" y="6729984"/>
            <a:ext cx="12191695" cy="128016"/>
          </a:xfrm>
          <a:prstGeom prst="rect">
            <a:avLst/>
          </a:prstGeom>
          <a:solidFill>
            <a:srgbClr val="FF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lang="en-US" noProof="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64592"/>
          </a:xfrm>
          <a:prstGeom prst="rect">
            <a:avLst/>
          </a:prstGeom>
          <a:solidFill>
            <a:srgbClr val="D62E38"/>
          </a:solidFill>
          <a:ln>
            <a:solidFill>
              <a:srgbClr val="D62E38"/>
            </a:solidFill>
          </a:ln>
        </p:spPr>
        <p:style>
          <a:lnRef idx="1">
            <a:schemeClr val="accent1"/>
          </a:lnRef>
          <a:fillRef idx="3">
            <a:schemeClr val="accent1"/>
          </a:fillRef>
          <a:effectRef idx="2">
            <a:schemeClr val="accent1"/>
          </a:effectRef>
          <a:fontRef idx="minor">
            <a:schemeClr val="lt1"/>
          </a:fontRef>
        </p:style>
        <p:txBody>
          <a:bodyPr rtlCol="0" anchor="ctr"/>
          <a:lstStyle/>
          <a:p>
            <a:endParaRPr lang="en-US" noProof="0" dirty="0"/>
          </a:p>
        </p:txBody>
      </p:sp>
      <p:sp>
        <p:nvSpPr>
          <p:cNvPr id="3" name="Rectangle 2"/>
          <p:cNvSpPr/>
          <p:nvPr/>
        </p:nvSpPr>
        <p:spPr>
          <a:xfrm>
            <a:off x="0" y="6473952"/>
            <a:ext cx="12191695" cy="384048"/>
          </a:xfrm>
          <a:prstGeom prst="rect">
            <a:avLst/>
          </a:prstGeom>
          <a:solidFill>
            <a:srgbClr val="15385E"/>
          </a:solidFill>
          <a:ln>
            <a:solidFill>
              <a:srgbClr val="15385E"/>
            </a:solidFill>
          </a:ln>
        </p:spPr>
        <p:style>
          <a:lnRef idx="1">
            <a:schemeClr val="accent1"/>
          </a:lnRef>
          <a:fillRef idx="3">
            <a:schemeClr val="accent1"/>
          </a:fillRef>
          <a:effectRef idx="2">
            <a:schemeClr val="accent1"/>
          </a:effectRef>
          <a:fontRef idx="minor">
            <a:schemeClr val="lt1"/>
          </a:fontRef>
        </p:style>
        <p:txBody>
          <a:bodyPr rtlCol="0" anchor="ctr"/>
          <a:lstStyle/>
          <a:p>
            <a:endParaRPr lang="en-US" noProof="0" dirty="0"/>
          </a:p>
        </p:txBody>
      </p:sp>
      <p:sp>
        <p:nvSpPr>
          <p:cNvPr id="4" name="TextBox 3"/>
          <p:cNvSpPr txBox="1"/>
          <p:nvPr/>
        </p:nvSpPr>
        <p:spPr>
          <a:xfrm>
            <a:off x="411480" y="201168"/>
            <a:ext cx="4572000" cy="274320"/>
          </a:xfrm>
          <a:prstGeom prst="rect">
            <a:avLst/>
          </a:prstGeom>
          <a:noFill/>
        </p:spPr>
        <p:txBody>
          <a:bodyPr wrap="square" anchor="t">
            <a:spAutoFit/>
          </a:bodyPr>
          <a:lstStyle/>
          <a:p>
            <a:r>
              <a:rPr lang="en-US" noProof="0" dirty="0"/>
              <a:t>OPERATION</a:t>
            </a:r>
          </a:p>
        </p:txBody>
      </p:sp>
      <p:sp>
        <p:nvSpPr>
          <p:cNvPr id="5" name="TextBox 4"/>
          <p:cNvSpPr txBox="1"/>
          <p:nvPr/>
        </p:nvSpPr>
        <p:spPr>
          <a:xfrm>
            <a:off x="411480" y="6537960"/>
            <a:ext cx="8046720" cy="182880"/>
          </a:xfrm>
          <a:prstGeom prst="rect">
            <a:avLst/>
          </a:prstGeom>
          <a:noFill/>
        </p:spPr>
        <p:txBody>
          <a:bodyPr wrap="square" anchor="t">
            <a:spAutoFit/>
          </a:bodyPr>
          <a:lstStyle/>
          <a:p>
            <a:r>
              <a:rPr lang="en-US" noProof="0" dirty="0"/>
              <a:t>INGECART ENGINEERING &amp; AUDITING</a:t>
            </a:r>
          </a:p>
          <a:p>
            <a:r>
              <a:rPr lang="en-US" noProof="0" dirty="0"/>
              <a:t>LINETEX COMMERCIAL CHANNEL USA</a:t>
            </a:r>
          </a:p>
        </p:txBody>
      </p:sp>
      <p:sp>
        <p:nvSpPr>
          <p:cNvPr id="6" name="TextBox 5"/>
          <p:cNvSpPr txBox="1"/>
          <p:nvPr/>
        </p:nvSpPr>
        <p:spPr>
          <a:xfrm>
            <a:off x="11155680" y="6519672"/>
            <a:ext cx="640080" cy="201168"/>
          </a:xfrm>
          <a:prstGeom prst="rect">
            <a:avLst/>
          </a:prstGeom>
          <a:noFill/>
        </p:spPr>
        <p:txBody>
          <a:bodyPr wrap="square" anchor="t">
            <a:spAutoFit/>
          </a:bodyPr>
          <a:lstStyle/>
          <a:p>
            <a:r>
              <a:rPr lang="en-US" noProof="0" dirty="0"/>
              <a:t>10</a:t>
            </a:r>
          </a:p>
        </p:txBody>
      </p:sp>
      <p:pic>
        <p:nvPicPr>
          <p:cNvPr id="7" name="Picture 6" descr="Copia%20de%20sello%202%20(1)_edited.png"/>
          <p:cNvPicPr>
            <a:picLocks noChangeAspect="1"/>
          </p:cNvPicPr>
          <p:nvPr/>
        </p:nvPicPr>
        <p:blipFill>
          <a:blip r:embed="rId2"/>
          <a:stretch>
            <a:fillRect/>
          </a:stretch>
        </p:blipFill>
        <p:spPr>
          <a:xfrm>
            <a:off x="10771632" y="182880"/>
            <a:ext cx="987552" cy="384048"/>
          </a:xfrm>
          <a:prstGeom prst="rect">
            <a:avLst/>
          </a:prstGeom>
        </p:spPr>
      </p:pic>
      <p:sp>
        <p:nvSpPr>
          <p:cNvPr id="8" name="TextBox 7"/>
          <p:cNvSpPr txBox="1"/>
          <p:nvPr/>
        </p:nvSpPr>
        <p:spPr>
          <a:xfrm>
            <a:off x="548640" y="566928"/>
            <a:ext cx="7863840" cy="594360"/>
          </a:xfrm>
          <a:prstGeom prst="rect">
            <a:avLst/>
          </a:prstGeom>
          <a:noFill/>
        </p:spPr>
        <p:txBody>
          <a:bodyPr wrap="square" anchor="t">
            <a:spAutoFit/>
          </a:bodyPr>
          <a:lstStyle/>
          <a:p>
            <a:r>
              <a:rPr lang="en-US" noProof="0" dirty="0"/>
              <a:t>WIP / AMR operating concept</a:t>
            </a:r>
          </a:p>
        </p:txBody>
      </p:sp>
      <p:sp>
        <p:nvSpPr>
          <p:cNvPr id="9" name="TextBox 8"/>
          <p:cNvSpPr txBox="1"/>
          <p:nvPr/>
        </p:nvSpPr>
        <p:spPr>
          <a:xfrm>
            <a:off x="548640" y="1005840"/>
            <a:ext cx="7772400" cy="320040"/>
          </a:xfrm>
          <a:prstGeom prst="rect">
            <a:avLst/>
          </a:prstGeom>
          <a:noFill/>
        </p:spPr>
        <p:txBody>
          <a:bodyPr wrap="square" anchor="t">
            <a:spAutoFit/>
          </a:bodyPr>
          <a:lstStyle/>
          <a:p>
            <a:r>
              <a:rPr lang="en-US" noProof="0" dirty="0"/>
              <a:t>How to interpret the future flow inside the plant</a:t>
            </a:r>
          </a:p>
        </p:txBody>
      </p:sp>
      <p:sp>
        <p:nvSpPr>
          <p:cNvPr id="10" name="Rounded Rectangle 9"/>
          <p:cNvSpPr/>
          <p:nvPr/>
        </p:nvSpPr>
        <p:spPr>
          <a:xfrm>
            <a:off x="822960" y="2011680"/>
            <a:ext cx="1600200" cy="914400"/>
          </a:xfrm>
          <a:prstGeom prst="roundRect">
            <a:avLst/>
          </a:prstGeom>
          <a:solidFill>
            <a:srgbClr val="296299"/>
          </a:solidFill>
          <a:ln>
            <a:solidFill>
              <a:srgbClr val="296299"/>
            </a:solidFill>
          </a:ln>
        </p:spPr>
        <p:style>
          <a:lnRef idx="1">
            <a:schemeClr val="accent1"/>
          </a:lnRef>
          <a:fillRef idx="3">
            <a:schemeClr val="accent1"/>
          </a:fillRef>
          <a:effectRef idx="2">
            <a:schemeClr val="accent1"/>
          </a:effectRef>
          <a:fontRef idx="minor">
            <a:schemeClr val="lt1"/>
          </a:fontRef>
        </p:style>
        <p:txBody>
          <a:bodyPr rtlCol="0" anchor="ctr"/>
          <a:lstStyle/>
          <a:p>
            <a:endParaRPr lang="en-US" noProof="0" dirty="0"/>
          </a:p>
        </p:txBody>
      </p:sp>
      <p:sp>
        <p:nvSpPr>
          <p:cNvPr id="11" name="TextBox 10"/>
          <p:cNvSpPr txBox="1"/>
          <p:nvPr/>
        </p:nvSpPr>
        <p:spPr>
          <a:xfrm>
            <a:off x="914400" y="2212848"/>
            <a:ext cx="1417320" cy="274320"/>
          </a:xfrm>
          <a:prstGeom prst="rect">
            <a:avLst/>
          </a:prstGeom>
          <a:noFill/>
        </p:spPr>
        <p:txBody>
          <a:bodyPr wrap="square" anchor="t">
            <a:spAutoFit/>
          </a:bodyPr>
          <a:lstStyle/>
          <a:p>
            <a:r>
              <a:rPr lang="en-US" noProof="0" dirty="0"/>
              <a:t>1. Paper infeed</a:t>
            </a:r>
          </a:p>
        </p:txBody>
      </p:sp>
      <p:sp>
        <p:nvSpPr>
          <p:cNvPr id="12" name="Rounded Rectangle 11"/>
          <p:cNvSpPr/>
          <p:nvPr/>
        </p:nvSpPr>
        <p:spPr>
          <a:xfrm>
            <a:off x="2606040" y="2011680"/>
            <a:ext cx="1600200" cy="914400"/>
          </a:xfrm>
          <a:prstGeom prst="roundRect">
            <a:avLst/>
          </a:prstGeom>
          <a:solidFill>
            <a:srgbClr val="15385E"/>
          </a:solidFill>
          <a:ln>
            <a:solidFill>
              <a:srgbClr val="15385E"/>
            </a:solidFill>
          </a:ln>
        </p:spPr>
        <p:style>
          <a:lnRef idx="1">
            <a:schemeClr val="accent1"/>
          </a:lnRef>
          <a:fillRef idx="3">
            <a:schemeClr val="accent1"/>
          </a:fillRef>
          <a:effectRef idx="2">
            <a:schemeClr val="accent1"/>
          </a:effectRef>
          <a:fontRef idx="minor">
            <a:schemeClr val="lt1"/>
          </a:fontRef>
        </p:style>
        <p:txBody>
          <a:bodyPr rtlCol="0" anchor="ctr"/>
          <a:lstStyle/>
          <a:p>
            <a:endParaRPr lang="en-US" noProof="0" dirty="0"/>
          </a:p>
        </p:txBody>
      </p:sp>
      <p:sp>
        <p:nvSpPr>
          <p:cNvPr id="13" name="TextBox 12"/>
          <p:cNvSpPr txBox="1"/>
          <p:nvPr/>
        </p:nvSpPr>
        <p:spPr>
          <a:xfrm>
            <a:off x="2697480" y="2212848"/>
            <a:ext cx="1417320" cy="274320"/>
          </a:xfrm>
          <a:prstGeom prst="rect">
            <a:avLst/>
          </a:prstGeom>
          <a:noFill/>
        </p:spPr>
        <p:txBody>
          <a:bodyPr wrap="square" anchor="t">
            <a:spAutoFit/>
          </a:bodyPr>
          <a:lstStyle/>
          <a:p>
            <a:r>
              <a:rPr lang="en-US" noProof="0" dirty="0"/>
              <a:t>2. Corrugator</a:t>
            </a:r>
          </a:p>
        </p:txBody>
      </p:sp>
      <p:sp>
        <p:nvSpPr>
          <p:cNvPr id="14" name="Rounded Rectangle 13"/>
          <p:cNvSpPr/>
          <p:nvPr/>
        </p:nvSpPr>
        <p:spPr>
          <a:xfrm>
            <a:off x="4389120" y="2011680"/>
            <a:ext cx="1600200" cy="914400"/>
          </a:xfrm>
          <a:prstGeom prst="roundRect">
            <a:avLst/>
          </a:prstGeom>
          <a:solidFill>
            <a:srgbClr val="D62E38"/>
          </a:solidFill>
          <a:ln>
            <a:solidFill>
              <a:srgbClr val="D62E38"/>
            </a:solidFill>
          </a:ln>
        </p:spPr>
        <p:style>
          <a:lnRef idx="1">
            <a:schemeClr val="accent1"/>
          </a:lnRef>
          <a:fillRef idx="3">
            <a:schemeClr val="accent1"/>
          </a:fillRef>
          <a:effectRef idx="2">
            <a:schemeClr val="accent1"/>
          </a:effectRef>
          <a:fontRef idx="minor">
            <a:schemeClr val="lt1"/>
          </a:fontRef>
        </p:style>
        <p:txBody>
          <a:bodyPr rtlCol="0" anchor="ctr"/>
          <a:lstStyle/>
          <a:p>
            <a:endParaRPr lang="en-US" noProof="0" dirty="0"/>
          </a:p>
        </p:txBody>
      </p:sp>
      <p:sp>
        <p:nvSpPr>
          <p:cNvPr id="15" name="TextBox 14"/>
          <p:cNvSpPr txBox="1"/>
          <p:nvPr/>
        </p:nvSpPr>
        <p:spPr>
          <a:xfrm>
            <a:off x="4480560" y="2212848"/>
            <a:ext cx="1417320" cy="274320"/>
          </a:xfrm>
          <a:prstGeom prst="rect">
            <a:avLst/>
          </a:prstGeom>
          <a:noFill/>
        </p:spPr>
        <p:txBody>
          <a:bodyPr wrap="square" anchor="t">
            <a:spAutoFit/>
          </a:bodyPr>
          <a:lstStyle/>
          <a:p>
            <a:r>
              <a:rPr lang="en-US" noProof="0" dirty="0"/>
              <a:t>3. Stacking</a:t>
            </a:r>
          </a:p>
        </p:txBody>
      </p:sp>
      <p:sp>
        <p:nvSpPr>
          <p:cNvPr id="16" name="Rounded Rectangle 15"/>
          <p:cNvSpPr/>
          <p:nvPr/>
        </p:nvSpPr>
        <p:spPr>
          <a:xfrm>
            <a:off x="6172200" y="2011680"/>
            <a:ext cx="1600200" cy="914400"/>
          </a:xfrm>
          <a:prstGeom prst="roundRect">
            <a:avLst/>
          </a:prstGeom>
          <a:solidFill>
            <a:srgbClr val="E86F37"/>
          </a:solidFill>
          <a:ln>
            <a:solidFill>
              <a:srgbClr val="E86F37"/>
            </a:solidFill>
          </a:ln>
        </p:spPr>
        <p:style>
          <a:lnRef idx="1">
            <a:schemeClr val="accent1"/>
          </a:lnRef>
          <a:fillRef idx="3">
            <a:schemeClr val="accent1"/>
          </a:fillRef>
          <a:effectRef idx="2">
            <a:schemeClr val="accent1"/>
          </a:effectRef>
          <a:fontRef idx="minor">
            <a:schemeClr val="lt1"/>
          </a:fontRef>
        </p:style>
        <p:txBody>
          <a:bodyPr rtlCol="0" anchor="ctr"/>
          <a:lstStyle/>
          <a:p>
            <a:endParaRPr lang="en-US" noProof="0" dirty="0"/>
          </a:p>
        </p:txBody>
      </p:sp>
      <p:sp>
        <p:nvSpPr>
          <p:cNvPr id="17" name="TextBox 16"/>
          <p:cNvSpPr txBox="1"/>
          <p:nvPr/>
        </p:nvSpPr>
        <p:spPr>
          <a:xfrm>
            <a:off x="6263640" y="2212848"/>
            <a:ext cx="1417320" cy="274320"/>
          </a:xfrm>
          <a:prstGeom prst="rect">
            <a:avLst/>
          </a:prstGeom>
          <a:noFill/>
        </p:spPr>
        <p:txBody>
          <a:bodyPr wrap="square" anchor="t">
            <a:spAutoFit/>
          </a:bodyPr>
          <a:lstStyle/>
          <a:p>
            <a:r>
              <a:rPr lang="en-US" noProof="0" dirty="0"/>
              <a:t>4. AMR handoff</a:t>
            </a:r>
          </a:p>
        </p:txBody>
      </p:sp>
      <p:sp>
        <p:nvSpPr>
          <p:cNvPr id="18" name="Rounded Rectangle 17"/>
          <p:cNvSpPr/>
          <p:nvPr/>
        </p:nvSpPr>
        <p:spPr>
          <a:xfrm>
            <a:off x="7955280" y="2011680"/>
            <a:ext cx="1600200" cy="914400"/>
          </a:xfrm>
          <a:prstGeom prst="roundRect">
            <a:avLst/>
          </a:prstGeom>
          <a:solidFill>
            <a:srgbClr val="296299"/>
          </a:solidFill>
          <a:ln>
            <a:solidFill>
              <a:srgbClr val="296299"/>
            </a:solidFill>
          </a:ln>
        </p:spPr>
        <p:style>
          <a:lnRef idx="1">
            <a:schemeClr val="accent1"/>
          </a:lnRef>
          <a:fillRef idx="3">
            <a:schemeClr val="accent1"/>
          </a:fillRef>
          <a:effectRef idx="2">
            <a:schemeClr val="accent1"/>
          </a:effectRef>
          <a:fontRef idx="minor">
            <a:schemeClr val="lt1"/>
          </a:fontRef>
        </p:style>
        <p:txBody>
          <a:bodyPr rtlCol="0" anchor="ctr"/>
          <a:lstStyle/>
          <a:p>
            <a:endParaRPr lang="en-US" noProof="0" dirty="0"/>
          </a:p>
        </p:txBody>
      </p:sp>
      <p:sp>
        <p:nvSpPr>
          <p:cNvPr id="19" name="TextBox 18"/>
          <p:cNvSpPr txBox="1"/>
          <p:nvPr/>
        </p:nvSpPr>
        <p:spPr>
          <a:xfrm>
            <a:off x="8046720" y="2212848"/>
            <a:ext cx="1417320" cy="274320"/>
          </a:xfrm>
          <a:prstGeom prst="rect">
            <a:avLst/>
          </a:prstGeom>
          <a:noFill/>
        </p:spPr>
        <p:txBody>
          <a:bodyPr wrap="square" anchor="t">
            <a:spAutoFit/>
          </a:bodyPr>
          <a:lstStyle/>
          <a:p>
            <a:r>
              <a:rPr lang="en-US" noProof="0" dirty="0"/>
              <a:t>5. WIP buffer</a:t>
            </a:r>
          </a:p>
        </p:txBody>
      </p:sp>
      <p:sp>
        <p:nvSpPr>
          <p:cNvPr id="20" name="Rounded Rectangle 19"/>
          <p:cNvSpPr/>
          <p:nvPr/>
        </p:nvSpPr>
        <p:spPr>
          <a:xfrm>
            <a:off x="9738360" y="2011680"/>
            <a:ext cx="1600200" cy="914400"/>
          </a:xfrm>
          <a:prstGeom prst="roundRect">
            <a:avLst/>
          </a:prstGeom>
          <a:solidFill>
            <a:schemeClr val="accent5"/>
          </a:solidFill>
          <a:ln>
            <a:solidFill>
              <a:srgbClr val="15385E"/>
            </a:solidFill>
          </a:ln>
        </p:spPr>
        <p:style>
          <a:lnRef idx="1">
            <a:schemeClr val="accent1"/>
          </a:lnRef>
          <a:fillRef idx="3">
            <a:schemeClr val="accent1"/>
          </a:fillRef>
          <a:effectRef idx="2">
            <a:schemeClr val="accent1"/>
          </a:effectRef>
          <a:fontRef idx="minor">
            <a:schemeClr val="lt1"/>
          </a:fontRef>
        </p:style>
        <p:txBody>
          <a:bodyPr rtlCol="0" anchor="ctr"/>
          <a:lstStyle/>
          <a:p>
            <a:endParaRPr lang="en-US" noProof="0" dirty="0"/>
          </a:p>
        </p:txBody>
      </p:sp>
      <p:sp>
        <p:nvSpPr>
          <p:cNvPr id="21" name="TextBox 20"/>
          <p:cNvSpPr txBox="1"/>
          <p:nvPr/>
        </p:nvSpPr>
        <p:spPr>
          <a:xfrm>
            <a:off x="9829800" y="2212848"/>
            <a:ext cx="1417320" cy="274320"/>
          </a:xfrm>
          <a:prstGeom prst="rect">
            <a:avLst/>
          </a:prstGeom>
          <a:noFill/>
        </p:spPr>
        <p:txBody>
          <a:bodyPr wrap="square" anchor="t">
            <a:spAutoFit/>
          </a:bodyPr>
          <a:lstStyle/>
          <a:p>
            <a:r>
              <a:rPr lang="en-US" noProof="0" dirty="0"/>
              <a:t>6. Conversion</a:t>
            </a:r>
          </a:p>
        </p:txBody>
      </p:sp>
      <p:sp>
        <p:nvSpPr>
          <p:cNvPr id="22" name="Rounded Rectangle 21"/>
          <p:cNvSpPr/>
          <p:nvPr/>
        </p:nvSpPr>
        <p:spPr>
          <a:xfrm>
            <a:off x="914400" y="3657600"/>
            <a:ext cx="3246120" cy="1645920"/>
          </a:xfrm>
          <a:prstGeom prst="roundRect">
            <a:avLst/>
          </a:prstGeom>
          <a:solidFill>
            <a:srgbClr val="FFFFFF"/>
          </a:solidFill>
          <a:ln>
            <a:solidFill>
              <a:srgbClr val="E3E5E8"/>
            </a:solidFill>
          </a:ln>
        </p:spPr>
        <p:style>
          <a:lnRef idx="1">
            <a:schemeClr val="accent1"/>
          </a:lnRef>
          <a:fillRef idx="3">
            <a:schemeClr val="accent1"/>
          </a:fillRef>
          <a:effectRef idx="2">
            <a:schemeClr val="accent1"/>
          </a:effectRef>
          <a:fontRef idx="minor">
            <a:schemeClr val="lt1"/>
          </a:fontRef>
        </p:style>
        <p:txBody>
          <a:bodyPr rtlCol="0" anchor="ctr"/>
          <a:lstStyle/>
          <a:p>
            <a:endParaRPr lang="en-US" noProof="0" dirty="0"/>
          </a:p>
        </p:txBody>
      </p:sp>
      <p:sp>
        <p:nvSpPr>
          <p:cNvPr id="23" name="TextBox 22"/>
          <p:cNvSpPr txBox="1"/>
          <p:nvPr/>
        </p:nvSpPr>
        <p:spPr>
          <a:xfrm>
            <a:off x="1188720" y="3959352"/>
            <a:ext cx="2651760" cy="256032"/>
          </a:xfrm>
          <a:prstGeom prst="rect">
            <a:avLst/>
          </a:prstGeom>
          <a:noFill/>
        </p:spPr>
        <p:txBody>
          <a:bodyPr wrap="square" anchor="t">
            <a:spAutoFit/>
          </a:bodyPr>
          <a:lstStyle/>
          <a:p>
            <a:r>
              <a:rPr lang="en-US" noProof="0" dirty="0"/>
              <a:t>PSC GAINS</a:t>
            </a:r>
          </a:p>
        </p:txBody>
      </p:sp>
      <p:sp>
        <p:nvSpPr>
          <p:cNvPr id="24" name="TextBox 23"/>
          <p:cNvSpPr txBox="1"/>
          <p:nvPr/>
        </p:nvSpPr>
        <p:spPr>
          <a:xfrm>
            <a:off x="1143000" y="4279392"/>
            <a:ext cx="2743200" cy="868680"/>
          </a:xfrm>
          <a:prstGeom prst="rect">
            <a:avLst/>
          </a:prstGeom>
          <a:noFill/>
        </p:spPr>
        <p:txBody>
          <a:bodyPr wrap="square">
            <a:spAutoFit/>
          </a:bodyPr>
          <a:lstStyle/>
          <a:p>
            <a:r>
              <a:rPr lang="en-US" noProof="0" dirty="0"/>
              <a:t>Less manual traffic at the output of the corrugator. Greater visual control of the WIP and of the waste. Base </a:t>
            </a:r>
            <a:r>
              <a:rPr lang="en-US" noProof="0" dirty="0" err="1"/>
              <a:t>lista</a:t>
            </a:r>
            <a:r>
              <a:rPr lang="en-US" noProof="0" dirty="0"/>
              <a:t> for integrating logic of traceability.</a:t>
            </a:r>
          </a:p>
        </p:txBody>
      </p:sp>
      <p:sp>
        <p:nvSpPr>
          <p:cNvPr id="25" name="Rounded Rectangle 24"/>
          <p:cNvSpPr/>
          <p:nvPr/>
        </p:nvSpPr>
        <p:spPr>
          <a:xfrm>
            <a:off x="4434840" y="3657600"/>
            <a:ext cx="3246120" cy="1645920"/>
          </a:xfrm>
          <a:prstGeom prst="roundRect">
            <a:avLst/>
          </a:prstGeom>
          <a:solidFill>
            <a:srgbClr val="FCF2EB"/>
          </a:solidFill>
          <a:ln>
            <a:solidFill>
              <a:srgbClr val="FCF2EB"/>
            </a:solidFill>
          </a:ln>
        </p:spPr>
        <p:style>
          <a:lnRef idx="1">
            <a:schemeClr val="accent1"/>
          </a:lnRef>
          <a:fillRef idx="3">
            <a:schemeClr val="accent1"/>
          </a:fillRef>
          <a:effectRef idx="2">
            <a:schemeClr val="accent1"/>
          </a:effectRef>
          <a:fontRef idx="minor">
            <a:schemeClr val="lt1"/>
          </a:fontRef>
        </p:style>
        <p:txBody>
          <a:bodyPr rtlCol="0" anchor="ctr"/>
          <a:lstStyle/>
          <a:p>
            <a:endParaRPr lang="en-US" noProof="0" dirty="0"/>
          </a:p>
        </p:txBody>
      </p:sp>
      <p:sp>
        <p:nvSpPr>
          <p:cNvPr id="26" name="TextBox 25"/>
          <p:cNvSpPr txBox="1"/>
          <p:nvPr/>
        </p:nvSpPr>
        <p:spPr>
          <a:xfrm>
            <a:off x="4709160" y="3959352"/>
            <a:ext cx="2651760" cy="256032"/>
          </a:xfrm>
          <a:prstGeom prst="rect">
            <a:avLst/>
          </a:prstGeom>
          <a:noFill/>
        </p:spPr>
        <p:txBody>
          <a:bodyPr wrap="square" anchor="t">
            <a:spAutoFit/>
          </a:bodyPr>
          <a:lstStyle/>
          <a:p>
            <a:r>
              <a:rPr lang="en-US" noProof="0" dirty="0"/>
              <a:t>ENGINEERING GAINS</a:t>
            </a:r>
          </a:p>
        </p:txBody>
      </p:sp>
      <p:sp>
        <p:nvSpPr>
          <p:cNvPr id="27" name="TextBox 26"/>
          <p:cNvSpPr txBox="1"/>
          <p:nvPr/>
        </p:nvSpPr>
        <p:spPr>
          <a:xfrm>
            <a:off x="4663440" y="4279392"/>
            <a:ext cx="2743200" cy="868680"/>
          </a:xfrm>
          <a:prstGeom prst="rect">
            <a:avLst/>
          </a:prstGeom>
          <a:noFill/>
        </p:spPr>
        <p:txBody>
          <a:bodyPr wrap="square">
            <a:spAutoFit/>
          </a:bodyPr>
          <a:lstStyle/>
          <a:p>
            <a:r>
              <a:rPr lang="en-US" noProof="0" dirty="0"/>
              <a:t>Clear points of integration between mechanics, electricity and software. More defensible fat/sat sequences. An easily scalable SCOPE of automation.</a:t>
            </a:r>
          </a:p>
        </p:txBody>
      </p:sp>
      <p:sp>
        <p:nvSpPr>
          <p:cNvPr id="28" name="Rounded Rectangle 27"/>
          <p:cNvSpPr/>
          <p:nvPr/>
        </p:nvSpPr>
        <p:spPr>
          <a:xfrm>
            <a:off x="7955279" y="3657600"/>
            <a:ext cx="3246120" cy="1645920"/>
          </a:xfrm>
          <a:prstGeom prst="roundRect">
            <a:avLst/>
          </a:prstGeom>
          <a:solidFill>
            <a:srgbClr val="FCECEC"/>
          </a:solidFill>
          <a:ln>
            <a:solidFill>
              <a:srgbClr val="FCECEC"/>
            </a:solidFill>
          </a:ln>
        </p:spPr>
        <p:style>
          <a:lnRef idx="1">
            <a:schemeClr val="accent1"/>
          </a:lnRef>
          <a:fillRef idx="3">
            <a:schemeClr val="accent1"/>
          </a:fillRef>
          <a:effectRef idx="2">
            <a:schemeClr val="accent1"/>
          </a:effectRef>
          <a:fontRef idx="minor">
            <a:schemeClr val="lt1"/>
          </a:fontRef>
        </p:style>
        <p:txBody>
          <a:bodyPr rtlCol="0" anchor="ctr"/>
          <a:lstStyle/>
          <a:p>
            <a:endParaRPr lang="en-US" noProof="0" dirty="0"/>
          </a:p>
        </p:txBody>
      </p:sp>
      <p:sp>
        <p:nvSpPr>
          <p:cNvPr id="30" name="TextBox 29"/>
          <p:cNvSpPr txBox="1"/>
          <p:nvPr/>
        </p:nvSpPr>
        <p:spPr>
          <a:xfrm>
            <a:off x="8206739" y="3926205"/>
            <a:ext cx="2743200" cy="868680"/>
          </a:xfrm>
          <a:prstGeom prst="rect">
            <a:avLst/>
          </a:prstGeom>
          <a:noFill/>
        </p:spPr>
        <p:txBody>
          <a:bodyPr wrap="square">
            <a:spAutoFit/>
          </a:bodyPr>
          <a:lstStyle/>
          <a:p>
            <a:r>
              <a:rPr lang="en-US" noProof="0" dirty="0"/>
              <a:t>Cleaner OPERATION. Capacity of growth without REBUILDING the entire layout. Less friction between corrugation and conversion.</a:t>
            </a:r>
          </a:p>
        </p:txBody>
      </p:sp>
      <p:sp>
        <p:nvSpPr>
          <p:cNvPr id="31" name="Rectangle 30"/>
          <p:cNvSpPr/>
          <p:nvPr/>
        </p:nvSpPr>
        <p:spPr>
          <a:xfrm>
            <a:off x="0" y="0"/>
            <a:ext cx="12191695" cy="109728"/>
          </a:xfrm>
          <a:prstGeom prst="rect">
            <a:avLst/>
          </a:prstGeom>
          <a:solidFill>
            <a:srgbClr val="FF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lang="en-US" noProof="0" dirty="0"/>
          </a:p>
        </p:txBody>
      </p:sp>
      <p:sp>
        <p:nvSpPr>
          <p:cNvPr id="32" name="Rectangle 31"/>
          <p:cNvSpPr/>
          <p:nvPr/>
        </p:nvSpPr>
        <p:spPr>
          <a:xfrm>
            <a:off x="0" y="6729984"/>
            <a:ext cx="12191695" cy="128016"/>
          </a:xfrm>
          <a:prstGeom prst="rect">
            <a:avLst/>
          </a:prstGeom>
          <a:solidFill>
            <a:srgbClr val="FF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lang="en-US" noProof="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64592"/>
          </a:xfrm>
          <a:prstGeom prst="rect">
            <a:avLst/>
          </a:prstGeom>
          <a:solidFill>
            <a:srgbClr val="D62E38"/>
          </a:solidFill>
          <a:ln>
            <a:solidFill>
              <a:srgbClr val="D62E38"/>
            </a:solidFill>
          </a:ln>
        </p:spPr>
        <p:style>
          <a:lnRef idx="1">
            <a:schemeClr val="accent1"/>
          </a:lnRef>
          <a:fillRef idx="3">
            <a:schemeClr val="accent1"/>
          </a:fillRef>
          <a:effectRef idx="2">
            <a:schemeClr val="accent1"/>
          </a:effectRef>
          <a:fontRef idx="minor">
            <a:schemeClr val="lt1"/>
          </a:fontRef>
        </p:style>
        <p:txBody>
          <a:bodyPr rtlCol="0" anchor="ctr"/>
          <a:lstStyle/>
          <a:p>
            <a:endParaRPr lang="en-US" noProof="0" dirty="0"/>
          </a:p>
        </p:txBody>
      </p:sp>
      <p:sp>
        <p:nvSpPr>
          <p:cNvPr id="3" name="Rectangle 2"/>
          <p:cNvSpPr/>
          <p:nvPr/>
        </p:nvSpPr>
        <p:spPr>
          <a:xfrm>
            <a:off x="0" y="6473952"/>
            <a:ext cx="12191695" cy="384048"/>
          </a:xfrm>
          <a:prstGeom prst="rect">
            <a:avLst/>
          </a:prstGeom>
          <a:solidFill>
            <a:srgbClr val="15385E"/>
          </a:solidFill>
          <a:ln>
            <a:solidFill>
              <a:srgbClr val="15385E"/>
            </a:solidFill>
          </a:ln>
        </p:spPr>
        <p:style>
          <a:lnRef idx="1">
            <a:schemeClr val="accent1"/>
          </a:lnRef>
          <a:fillRef idx="3">
            <a:schemeClr val="accent1"/>
          </a:fillRef>
          <a:effectRef idx="2">
            <a:schemeClr val="accent1"/>
          </a:effectRef>
          <a:fontRef idx="minor">
            <a:schemeClr val="lt1"/>
          </a:fontRef>
        </p:style>
        <p:txBody>
          <a:bodyPr rtlCol="0" anchor="ctr"/>
          <a:lstStyle/>
          <a:p>
            <a:endParaRPr lang="en-US" noProof="0" dirty="0"/>
          </a:p>
        </p:txBody>
      </p:sp>
      <p:sp>
        <p:nvSpPr>
          <p:cNvPr id="4" name="TextBox 3"/>
          <p:cNvSpPr txBox="1"/>
          <p:nvPr/>
        </p:nvSpPr>
        <p:spPr>
          <a:xfrm>
            <a:off x="411480" y="201168"/>
            <a:ext cx="4572000" cy="274320"/>
          </a:xfrm>
          <a:prstGeom prst="rect">
            <a:avLst/>
          </a:prstGeom>
          <a:noFill/>
        </p:spPr>
        <p:txBody>
          <a:bodyPr wrap="square" anchor="t">
            <a:spAutoFit/>
          </a:bodyPr>
          <a:lstStyle/>
          <a:p>
            <a:r>
              <a:rPr lang="en-US" noProof="0" dirty="0"/>
              <a:t>ENGINEERING AND SOFTWARE</a:t>
            </a:r>
          </a:p>
        </p:txBody>
      </p:sp>
      <p:sp>
        <p:nvSpPr>
          <p:cNvPr id="5" name="TextBox 4"/>
          <p:cNvSpPr txBox="1"/>
          <p:nvPr/>
        </p:nvSpPr>
        <p:spPr>
          <a:xfrm>
            <a:off x="411480" y="6537960"/>
            <a:ext cx="8046720" cy="182880"/>
          </a:xfrm>
          <a:prstGeom prst="rect">
            <a:avLst/>
          </a:prstGeom>
          <a:noFill/>
        </p:spPr>
        <p:txBody>
          <a:bodyPr wrap="square" anchor="t">
            <a:spAutoFit/>
          </a:bodyPr>
          <a:lstStyle/>
          <a:p>
            <a:r>
              <a:rPr lang="en-US" noProof="0" dirty="0"/>
              <a:t>INGECART ENGINEERING &amp; AUDITING</a:t>
            </a:r>
          </a:p>
          <a:p>
            <a:r>
              <a:rPr lang="en-US" noProof="0" dirty="0"/>
              <a:t>LINETEX COMMERCIAL CHANNEL USA</a:t>
            </a:r>
          </a:p>
        </p:txBody>
      </p:sp>
      <p:sp>
        <p:nvSpPr>
          <p:cNvPr id="6" name="TextBox 5"/>
          <p:cNvSpPr txBox="1"/>
          <p:nvPr/>
        </p:nvSpPr>
        <p:spPr>
          <a:xfrm>
            <a:off x="11155680" y="6519672"/>
            <a:ext cx="640080" cy="201168"/>
          </a:xfrm>
          <a:prstGeom prst="rect">
            <a:avLst/>
          </a:prstGeom>
          <a:noFill/>
        </p:spPr>
        <p:txBody>
          <a:bodyPr wrap="square" anchor="t">
            <a:spAutoFit/>
          </a:bodyPr>
          <a:lstStyle/>
          <a:p>
            <a:r>
              <a:rPr lang="en-US" noProof="0" dirty="0"/>
              <a:t>12</a:t>
            </a:r>
          </a:p>
        </p:txBody>
      </p:sp>
      <p:pic>
        <p:nvPicPr>
          <p:cNvPr id="7" name="Picture 6" descr="Copia%20de%20sello%202%20(1)_edited.png"/>
          <p:cNvPicPr>
            <a:picLocks noChangeAspect="1"/>
          </p:cNvPicPr>
          <p:nvPr/>
        </p:nvPicPr>
        <p:blipFill>
          <a:blip r:embed="rId2"/>
          <a:stretch>
            <a:fillRect/>
          </a:stretch>
        </p:blipFill>
        <p:spPr>
          <a:xfrm>
            <a:off x="10771632" y="182880"/>
            <a:ext cx="987552" cy="384048"/>
          </a:xfrm>
          <a:prstGeom prst="rect">
            <a:avLst/>
          </a:prstGeom>
        </p:spPr>
      </p:pic>
      <p:sp>
        <p:nvSpPr>
          <p:cNvPr id="8" name="TextBox 7"/>
          <p:cNvSpPr txBox="1"/>
          <p:nvPr/>
        </p:nvSpPr>
        <p:spPr>
          <a:xfrm>
            <a:off x="548640" y="566928"/>
            <a:ext cx="7863840" cy="594360"/>
          </a:xfrm>
          <a:prstGeom prst="rect">
            <a:avLst/>
          </a:prstGeom>
          <a:noFill/>
        </p:spPr>
        <p:txBody>
          <a:bodyPr wrap="square" anchor="t">
            <a:spAutoFit/>
          </a:bodyPr>
          <a:lstStyle/>
          <a:p>
            <a:r>
              <a:rPr lang="en-US" noProof="0" dirty="0"/>
              <a:t>Engineering and control architecture</a:t>
            </a:r>
          </a:p>
        </p:txBody>
      </p:sp>
      <p:sp>
        <p:nvSpPr>
          <p:cNvPr id="9" name="TextBox 8"/>
          <p:cNvSpPr txBox="1"/>
          <p:nvPr/>
        </p:nvSpPr>
        <p:spPr>
          <a:xfrm>
            <a:off x="548640" y="1005840"/>
            <a:ext cx="7772400" cy="320040"/>
          </a:xfrm>
          <a:prstGeom prst="rect">
            <a:avLst/>
          </a:prstGeom>
          <a:noFill/>
        </p:spPr>
        <p:txBody>
          <a:bodyPr wrap="square" anchor="t">
            <a:spAutoFit/>
          </a:bodyPr>
          <a:lstStyle/>
          <a:p>
            <a:r>
              <a:rPr lang="en-US" noProof="0" dirty="0"/>
              <a:t>The upgrade needs a coherent technical narrative, not just a list of equipment</a:t>
            </a:r>
          </a:p>
        </p:txBody>
      </p:sp>
      <p:sp>
        <p:nvSpPr>
          <p:cNvPr id="10" name="Rounded Rectangle 9"/>
          <p:cNvSpPr/>
          <p:nvPr/>
        </p:nvSpPr>
        <p:spPr>
          <a:xfrm>
            <a:off x="868680" y="1828800"/>
            <a:ext cx="1828800" cy="914400"/>
          </a:xfrm>
          <a:prstGeom prst="roundRect">
            <a:avLst/>
          </a:prstGeom>
          <a:solidFill>
            <a:srgbClr val="296299"/>
          </a:solidFill>
          <a:ln>
            <a:solidFill>
              <a:srgbClr val="296299"/>
            </a:solidFill>
          </a:ln>
        </p:spPr>
        <p:style>
          <a:lnRef idx="1">
            <a:schemeClr val="accent1"/>
          </a:lnRef>
          <a:fillRef idx="3">
            <a:schemeClr val="accent1"/>
          </a:fillRef>
          <a:effectRef idx="2">
            <a:schemeClr val="accent1"/>
          </a:effectRef>
          <a:fontRef idx="minor">
            <a:schemeClr val="lt1"/>
          </a:fontRef>
        </p:style>
        <p:txBody>
          <a:bodyPr rtlCol="0" anchor="ctr"/>
          <a:lstStyle/>
          <a:p>
            <a:endParaRPr lang="en-US" noProof="0" dirty="0"/>
          </a:p>
        </p:txBody>
      </p:sp>
      <p:sp>
        <p:nvSpPr>
          <p:cNvPr id="11" name="TextBox 10"/>
          <p:cNvSpPr txBox="1"/>
          <p:nvPr/>
        </p:nvSpPr>
        <p:spPr>
          <a:xfrm>
            <a:off x="1005840" y="2157984"/>
            <a:ext cx="1554480" cy="228600"/>
          </a:xfrm>
          <a:prstGeom prst="rect">
            <a:avLst/>
          </a:prstGeom>
          <a:noFill/>
        </p:spPr>
        <p:txBody>
          <a:bodyPr wrap="square" anchor="t">
            <a:spAutoFit/>
          </a:bodyPr>
          <a:lstStyle/>
          <a:p>
            <a:r>
              <a:rPr lang="en-US" noProof="0" dirty="0"/>
              <a:t>SENSORS &amp; MOTION</a:t>
            </a:r>
          </a:p>
        </p:txBody>
      </p:sp>
      <p:sp>
        <p:nvSpPr>
          <p:cNvPr id="12" name="Rounded Rectangle 11"/>
          <p:cNvSpPr/>
          <p:nvPr/>
        </p:nvSpPr>
        <p:spPr>
          <a:xfrm>
            <a:off x="3063240" y="1828800"/>
            <a:ext cx="1828800" cy="914400"/>
          </a:xfrm>
          <a:prstGeom prst="roundRect">
            <a:avLst/>
          </a:prstGeom>
          <a:solidFill>
            <a:srgbClr val="15385E"/>
          </a:solidFill>
          <a:ln>
            <a:solidFill>
              <a:srgbClr val="15385E"/>
            </a:solidFill>
          </a:ln>
        </p:spPr>
        <p:style>
          <a:lnRef idx="1">
            <a:schemeClr val="accent1"/>
          </a:lnRef>
          <a:fillRef idx="3">
            <a:schemeClr val="accent1"/>
          </a:fillRef>
          <a:effectRef idx="2">
            <a:schemeClr val="accent1"/>
          </a:effectRef>
          <a:fontRef idx="minor">
            <a:schemeClr val="lt1"/>
          </a:fontRef>
        </p:style>
        <p:txBody>
          <a:bodyPr rtlCol="0" anchor="ctr"/>
          <a:lstStyle/>
          <a:p>
            <a:endParaRPr lang="en-US" noProof="0" dirty="0"/>
          </a:p>
        </p:txBody>
      </p:sp>
      <p:sp>
        <p:nvSpPr>
          <p:cNvPr id="13" name="TextBox 12"/>
          <p:cNvSpPr txBox="1"/>
          <p:nvPr/>
        </p:nvSpPr>
        <p:spPr>
          <a:xfrm>
            <a:off x="3227832" y="2157984"/>
            <a:ext cx="1481328" cy="228600"/>
          </a:xfrm>
          <a:prstGeom prst="rect">
            <a:avLst/>
          </a:prstGeom>
          <a:noFill/>
        </p:spPr>
        <p:txBody>
          <a:bodyPr wrap="square" anchor="t">
            <a:spAutoFit/>
          </a:bodyPr>
          <a:lstStyle/>
          <a:p>
            <a:r>
              <a:rPr lang="en-US" noProof="0" dirty="0"/>
              <a:t>PLC / HMI LAYER</a:t>
            </a:r>
          </a:p>
        </p:txBody>
      </p:sp>
      <p:sp>
        <p:nvSpPr>
          <p:cNvPr id="14" name="Rounded Rectangle 13"/>
          <p:cNvSpPr/>
          <p:nvPr/>
        </p:nvSpPr>
        <p:spPr>
          <a:xfrm>
            <a:off x="5257800" y="1828800"/>
            <a:ext cx="1828800" cy="914400"/>
          </a:xfrm>
          <a:prstGeom prst="roundRect">
            <a:avLst/>
          </a:prstGeom>
          <a:solidFill>
            <a:srgbClr val="D62E38"/>
          </a:solidFill>
          <a:ln>
            <a:solidFill>
              <a:srgbClr val="D62E38"/>
            </a:solidFill>
          </a:ln>
        </p:spPr>
        <p:style>
          <a:lnRef idx="1">
            <a:schemeClr val="accent1"/>
          </a:lnRef>
          <a:fillRef idx="3">
            <a:schemeClr val="accent1"/>
          </a:fillRef>
          <a:effectRef idx="2">
            <a:schemeClr val="accent1"/>
          </a:effectRef>
          <a:fontRef idx="minor">
            <a:schemeClr val="lt1"/>
          </a:fontRef>
        </p:style>
        <p:txBody>
          <a:bodyPr rtlCol="0" anchor="ctr"/>
          <a:lstStyle/>
          <a:p>
            <a:endParaRPr lang="en-US" noProof="0" dirty="0"/>
          </a:p>
        </p:txBody>
      </p:sp>
      <p:sp>
        <p:nvSpPr>
          <p:cNvPr id="15" name="TextBox 14"/>
          <p:cNvSpPr txBox="1"/>
          <p:nvPr/>
        </p:nvSpPr>
        <p:spPr>
          <a:xfrm>
            <a:off x="5422392" y="2157984"/>
            <a:ext cx="1481328" cy="228600"/>
          </a:xfrm>
          <a:prstGeom prst="rect">
            <a:avLst/>
          </a:prstGeom>
          <a:noFill/>
        </p:spPr>
        <p:txBody>
          <a:bodyPr wrap="square" anchor="t">
            <a:spAutoFit/>
          </a:bodyPr>
          <a:lstStyle/>
          <a:p>
            <a:r>
              <a:rPr lang="en-US" noProof="0" dirty="0"/>
              <a:t>CONVEYORS &amp; WIP</a:t>
            </a:r>
          </a:p>
        </p:txBody>
      </p:sp>
      <p:sp>
        <p:nvSpPr>
          <p:cNvPr id="16" name="Rounded Rectangle 15"/>
          <p:cNvSpPr/>
          <p:nvPr/>
        </p:nvSpPr>
        <p:spPr>
          <a:xfrm>
            <a:off x="7452360" y="1828800"/>
            <a:ext cx="1828800" cy="914400"/>
          </a:xfrm>
          <a:prstGeom prst="roundRect">
            <a:avLst/>
          </a:prstGeom>
          <a:solidFill>
            <a:srgbClr val="E86F37"/>
          </a:solidFill>
          <a:ln>
            <a:solidFill>
              <a:srgbClr val="E86F37"/>
            </a:solidFill>
          </a:ln>
        </p:spPr>
        <p:style>
          <a:lnRef idx="1">
            <a:schemeClr val="accent1"/>
          </a:lnRef>
          <a:fillRef idx="3">
            <a:schemeClr val="accent1"/>
          </a:fillRef>
          <a:effectRef idx="2">
            <a:schemeClr val="accent1"/>
          </a:effectRef>
          <a:fontRef idx="minor">
            <a:schemeClr val="lt1"/>
          </a:fontRef>
        </p:style>
        <p:txBody>
          <a:bodyPr rtlCol="0" anchor="ctr"/>
          <a:lstStyle/>
          <a:p>
            <a:endParaRPr lang="en-US" noProof="0" dirty="0"/>
          </a:p>
        </p:txBody>
      </p:sp>
      <p:sp>
        <p:nvSpPr>
          <p:cNvPr id="17" name="TextBox 16"/>
          <p:cNvSpPr txBox="1"/>
          <p:nvPr/>
        </p:nvSpPr>
        <p:spPr>
          <a:xfrm>
            <a:off x="7635240" y="2157984"/>
            <a:ext cx="1417320" cy="228600"/>
          </a:xfrm>
          <a:prstGeom prst="rect">
            <a:avLst/>
          </a:prstGeom>
          <a:noFill/>
        </p:spPr>
        <p:txBody>
          <a:bodyPr wrap="square" anchor="t">
            <a:spAutoFit/>
          </a:bodyPr>
          <a:lstStyle/>
          <a:p>
            <a:r>
              <a:rPr lang="en-US" noProof="0" dirty="0"/>
              <a:t>MES / REPORTING</a:t>
            </a:r>
          </a:p>
        </p:txBody>
      </p:sp>
      <p:sp>
        <p:nvSpPr>
          <p:cNvPr id="18" name="Rounded Rectangle 17"/>
          <p:cNvSpPr/>
          <p:nvPr/>
        </p:nvSpPr>
        <p:spPr>
          <a:xfrm>
            <a:off x="9646920" y="1828800"/>
            <a:ext cx="1828800" cy="914400"/>
          </a:xfrm>
          <a:prstGeom prst="roundRect">
            <a:avLst/>
          </a:prstGeom>
          <a:solidFill>
            <a:srgbClr val="296299"/>
          </a:solidFill>
          <a:ln>
            <a:solidFill>
              <a:srgbClr val="296299"/>
            </a:solidFill>
          </a:ln>
        </p:spPr>
        <p:style>
          <a:lnRef idx="1">
            <a:schemeClr val="accent1"/>
          </a:lnRef>
          <a:fillRef idx="3">
            <a:schemeClr val="accent1"/>
          </a:fillRef>
          <a:effectRef idx="2">
            <a:schemeClr val="accent1"/>
          </a:effectRef>
          <a:fontRef idx="minor">
            <a:schemeClr val="lt1"/>
          </a:fontRef>
        </p:style>
        <p:txBody>
          <a:bodyPr rtlCol="0" anchor="ctr"/>
          <a:lstStyle/>
          <a:p>
            <a:endParaRPr lang="en-US" noProof="0" dirty="0"/>
          </a:p>
        </p:txBody>
      </p:sp>
      <p:sp>
        <p:nvSpPr>
          <p:cNvPr id="19" name="TextBox 18"/>
          <p:cNvSpPr txBox="1"/>
          <p:nvPr/>
        </p:nvSpPr>
        <p:spPr>
          <a:xfrm>
            <a:off x="9829800" y="2157984"/>
            <a:ext cx="1417320" cy="228600"/>
          </a:xfrm>
          <a:prstGeom prst="rect">
            <a:avLst/>
          </a:prstGeom>
          <a:noFill/>
        </p:spPr>
        <p:txBody>
          <a:bodyPr wrap="square" anchor="t">
            <a:spAutoFit/>
          </a:bodyPr>
          <a:lstStyle/>
          <a:p>
            <a:r>
              <a:rPr lang="en-US" noProof="0" dirty="0"/>
              <a:t>REMOTE SERVICE</a:t>
            </a:r>
          </a:p>
        </p:txBody>
      </p:sp>
      <p:sp>
        <p:nvSpPr>
          <p:cNvPr id="20" name="TextBox 19"/>
          <p:cNvSpPr txBox="1"/>
          <p:nvPr/>
        </p:nvSpPr>
        <p:spPr>
          <a:xfrm>
            <a:off x="914400" y="3657600"/>
            <a:ext cx="4800600" cy="1828800"/>
          </a:xfrm>
          <a:prstGeom prst="rect">
            <a:avLst/>
          </a:prstGeom>
          <a:noFill/>
        </p:spPr>
        <p:txBody>
          <a:bodyPr wrap="square">
            <a:spAutoFit/>
          </a:bodyPr>
          <a:lstStyle/>
          <a:p>
            <a:r>
              <a:rPr lang="en-US" noProof="0" dirty="0"/>
              <a:t>The offer of the roll stand already cites Allen Bradley PLC and M-18 sensors with coil diameter logic. The </a:t>
            </a:r>
            <a:r>
              <a:rPr lang="en-US" noProof="0" dirty="0" err="1"/>
              <a:t>Ingetrans</a:t>
            </a:r>
            <a:r>
              <a:rPr lang="en-US" noProof="0" dirty="0"/>
              <a:t> sheet incorporates electrical panels and software as part of the SCOPE. The presentation must sell total integration: mechanics, control, WIP and maintenance.</a:t>
            </a:r>
          </a:p>
        </p:txBody>
      </p:sp>
      <p:pic>
        <p:nvPicPr>
          <p:cNvPr id="21" name="Picture 20" descr="Robot%20FFG-2.jpg"/>
          <p:cNvPicPr>
            <a:picLocks noChangeAspect="1"/>
          </p:cNvPicPr>
          <p:nvPr/>
        </p:nvPicPr>
        <p:blipFill>
          <a:blip r:embed="rId3"/>
          <a:stretch>
            <a:fillRect/>
          </a:stretch>
        </p:blipFill>
        <p:spPr>
          <a:xfrm>
            <a:off x="6629400" y="3246120"/>
            <a:ext cx="4480560" cy="2240280"/>
          </a:xfrm>
          <a:prstGeom prst="rect">
            <a:avLst/>
          </a:prstGeom>
        </p:spPr>
      </p:pic>
      <p:sp>
        <p:nvSpPr>
          <p:cNvPr id="22" name="Rectangle 21"/>
          <p:cNvSpPr/>
          <p:nvPr/>
        </p:nvSpPr>
        <p:spPr>
          <a:xfrm>
            <a:off x="0" y="0"/>
            <a:ext cx="12191695" cy="109728"/>
          </a:xfrm>
          <a:prstGeom prst="rect">
            <a:avLst/>
          </a:prstGeom>
          <a:solidFill>
            <a:srgbClr val="FF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lang="en-US" noProof="0" dirty="0"/>
          </a:p>
        </p:txBody>
      </p:sp>
      <p:sp>
        <p:nvSpPr>
          <p:cNvPr id="23" name="Rectangle 22"/>
          <p:cNvSpPr/>
          <p:nvPr/>
        </p:nvSpPr>
        <p:spPr>
          <a:xfrm>
            <a:off x="0" y="6729984"/>
            <a:ext cx="12191695" cy="128016"/>
          </a:xfrm>
          <a:prstGeom prst="rect">
            <a:avLst/>
          </a:prstGeom>
          <a:solidFill>
            <a:srgbClr val="FF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lang="en-US" noProof="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64592"/>
          </a:xfrm>
          <a:prstGeom prst="rect">
            <a:avLst/>
          </a:prstGeom>
          <a:solidFill>
            <a:srgbClr val="D62E38"/>
          </a:solidFill>
          <a:ln>
            <a:solidFill>
              <a:srgbClr val="D62E38"/>
            </a:solidFill>
          </a:ln>
        </p:spPr>
        <p:style>
          <a:lnRef idx="1">
            <a:schemeClr val="accent1"/>
          </a:lnRef>
          <a:fillRef idx="3">
            <a:schemeClr val="accent1"/>
          </a:fillRef>
          <a:effectRef idx="2">
            <a:schemeClr val="accent1"/>
          </a:effectRef>
          <a:fontRef idx="minor">
            <a:schemeClr val="lt1"/>
          </a:fontRef>
        </p:style>
        <p:txBody>
          <a:bodyPr rtlCol="0" anchor="ctr"/>
          <a:lstStyle/>
          <a:p>
            <a:endParaRPr lang="en-US" noProof="0" dirty="0"/>
          </a:p>
        </p:txBody>
      </p:sp>
      <p:sp>
        <p:nvSpPr>
          <p:cNvPr id="3" name="Rectangle 2"/>
          <p:cNvSpPr/>
          <p:nvPr/>
        </p:nvSpPr>
        <p:spPr>
          <a:xfrm>
            <a:off x="0" y="6473952"/>
            <a:ext cx="12191695" cy="384048"/>
          </a:xfrm>
          <a:prstGeom prst="rect">
            <a:avLst/>
          </a:prstGeom>
          <a:solidFill>
            <a:srgbClr val="15385E"/>
          </a:solidFill>
          <a:ln>
            <a:solidFill>
              <a:srgbClr val="15385E"/>
            </a:solidFill>
          </a:ln>
        </p:spPr>
        <p:style>
          <a:lnRef idx="1">
            <a:schemeClr val="accent1"/>
          </a:lnRef>
          <a:fillRef idx="3">
            <a:schemeClr val="accent1"/>
          </a:fillRef>
          <a:effectRef idx="2">
            <a:schemeClr val="accent1"/>
          </a:effectRef>
          <a:fontRef idx="minor">
            <a:schemeClr val="lt1"/>
          </a:fontRef>
        </p:style>
        <p:txBody>
          <a:bodyPr rtlCol="0" anchor="ctr"/>
          <a:lstStyle/>
          <a:p>
            <a:endParaRPr lang="en-US" noProof="0" dirty="0"/>
          </a:p>
        </p:txBody>
      </p:sp>
      <p:sp>
        <p:nvSpPr>
          <p:cNvPr id="4" name="TextBox 3"/>
          <p:cNvSpPr txBox="1"/>
          <p:nvPr/>
        </p:nvSpPr>
        <p:spPr>
          <a:xfrm>
            <a:off x="411480" y="201168"/>
            <a:ext cx="4572000" cy="274320"/>
          </a:xfrm>
          <a:prstGeom prst="rect">
            <a:avLst/>
          </a:prstGeom>
          <a:noFill/>
        </p:spPr>
        <p:txBody>
          <a:bodyPr wrap="square" anchor="t">
            <a:spAutoFit/>
          </a:bodyPr>
          <a:lstStyle/>
          <a:p>
            <a:r>
              <a:rPr lang="en-US" noProof="0" dirty="0"/>
              <a:t>TIMELINE</a:t>
            </a:r>
          </a:p>
        </p:txBody>
      </p:sp>
      <p:sp>
        <p:nvSpPr>
          <p:cNvPr id="5" name="TextBox 4"/>
          <p:cNvSpPr txBox="1"/>
          <p:nvPr/>
        </p:nvSpPr>
        <p:spPr>
          <a:xfrm>
            <a:off x="411480" y="6537960"/>
            <a:ext cx="8046720" cy="182880"/>
          </a:xfrm>
          <a:prstGeom prst="rect">
            <a:avLst/>
          </a:prstGeom>
          <a:noFill/>
        </p:spPr>
        <p:txBody>
          <a:bodyPr wrap="square" anchor="t">
            <a:spAutoFit/>
          </a:bodyPr>
          <a:lstStyle/>
          <a:p>
            <a:r>
              <a:rPr lang="en-US" noProof="0" dirty="0"/>
              <a:t>INGECART ENGINEERING &amp; AUDITING</a:t>
            </a:r>
          </a:p>
          <a:p>
            <a:r>
              <a:rPr lang="en-US" noProof="0" dirty="0"/>
              <a:t>LINETEX COMMERCIAL CHANNEL USA</a:t>
            </a:r>
          </a:p>
        </p:txBody>
      </p:sp>
      <p:sp>
        <p:nvSpPr>
          <p:cNvPr id="6" name="TextBox 5"/>
          <p:cNvSpPr txBox="1"/>
          <p:nvPr/>
        </p:nvSpPr>
        <p:spPr>
          <a:xfrm>
            <a:off x="11155680" y="6519672"/>
            <a:ext cx="640080" cy="201168"/>
          </a:xfrm>
          <a:prstGeom prst="rect">
            <a:avLst/>
          </a:prstGeom>
          <a:noFill/>
        </p:spPr>
        <p:txBody>
          <a:bodyPr wrap="square" anchor="t">
            <a:spAutoFit/>
          </a:bodyPr>
          <a:lstStyle/>
          <a:p>
            <a:r>
              <a:rPr lang="en-US" noProof="0" dirty="0"/>
              <a:t>13</a:t>
            </a:r>
          </a:p>
        </p:txBody>
      </p:sp>
      <p:pic>
        <p:nvPicPr>
          <p:cNvPr id="7" name="Picture 6" descr="Copia%20de%20sello%202%20(1)_edited.png"/>
          <p:cNvPicPr>
            <a:picLocks noChangeAspect="1"/>
          </p:cNvPicPr>
          <p:nvPr/>
        </p:nvPicPr>
        <p:blipFill>
          <a:blip r:embed="rId2"/>
          <a:stretch>
            <a:fillRect/>
          </a:stretch>
        </p:blipFill>
        <p:spPr>
          <a:xfrm>
            <a:off x="10771632" y="182880"/>
            <a:ext cx="987552" cy="384048"/>
          </a:xfrm>
          <a:prstGeom prst="rect">
            <a:avLst/>
          </a:prstGeom>
        </p:spPr>
      </p:pic>
      <p:sp>
        <p:nvSpPr>
          <p:cNvPr id="8" name="TextBox 7"/>
          <p:cNvSpPr txBox="1"/>
          <p:nvPr/>
        </p:nvSpPr>
        <p:spPr>
          <a:xfrm>
            <a:off x="548640" y="566928"/>
            <a:ext cx="7863840" cy="594360"/>
          </a:xfrm>
          <a:prstGeom prst="rect">
            <a:avLst/>
          </a:prstGeom>
          <a:noFill/>
        </p:spPr>
        <p:txBody>
          <a:bodyPr wrap="square" anchor="t">
            <a:spAutoFit/>
          </a:bodyPr>
          <a:lstStyle/>
          <a:p>
            <a:r>
              <a:rPr lang="en-US" noProof="0" dirty="0"/>
              <a:t>TIMELINE of </a:t>
            </a:r>
            <a:r>
              <a:rPr lang="en-US" noProof="0" dirty="0" err="1"/>
              <a:t>ejecucion</a:t>
            </a:r>
            <a:r>
              <a:rPr lang="en-US" noProof="0" dirty="0"/>
              <a:t> and curva of </a:t>
            </a:r>
            <a:r>
              <a:rPr lang="en-US" noProof="0" dirty="0" err="1"/>
              <a:t>caja</a:t>
            </a:r>
            <a:endParaRPr lang="en-US" noProof="0" dirty="0"/>
          </a:p>
        </p:txBody>
      </p:sp>
      <p:sp>
        <p:nvSpPr>
          <p:cNvPr id="9" name="TextBox 8"/>
          <p:cNvSpPr txBox="1"/>
          <p:nvPr/>
        </p:nvSpPr>
        <p:spPr>
          <a:xfrm>
            <a:off x="548640" y="1005840"/>
            <a:ext cx="7772400" cy="320040"/>
          </a:xfrm>
          <a:prstGeom prst="rect">
            <a:avLst/>
          </a:prstGeom>
          <a:noFill/>
        </p:spPr>
        <p:txBody>
          <a:bodyPr wrap="square" anchor="t">
            <a:spAutoFit/>
          </a:bodyPr>
          <a:lstStyle/>
          <a:p>
            <a:r>
              <a:rPr lang="en-US" noProof="0" dirty="0"/>
              <a:t>The financial flow anticipates the project critical peaks</a:t>
            </a:r>
          </a:p>
        </p:txBody>
      </p:sp>
      <p:sp>
        <p:nvSpPr>
          <p:cNvPr id="10" name="Rounded Rectangle 9"/>
          <p:cNvSpPr/>
          <p:nvPr/>
        </p:nvSpPr>
        <p:spPr>
          <a:xfrm>
            <a:off x="658368" y="2240280"/>
            <a:ext cx="1060704" cy="1417320"/>
          </a:xfrm>
          <a:prstGeom prst="roundRect">
            <a:avLst/>
          </a:prstGeom>
          <a:solidFill>
            <a:srgbClr val="FFFFFF"/>
          </a:solidFill>
          <a:ln>
            <a:solidFill>
              <a:srgbClr val="E3E5E8"/>
            </a:solidFill>
          </a:ln>
        </p:spPr>
        <p:style>
          <a:lnRef idx="1">
            <a:schemeClr val="accent1"/>
          </a:lnRef>
          <a:fillRef idx="3">
            <a:schemeClr val="accent1"/>
          </a:fillRef>
          <a:effectRef idx="2">
            <a:schemeClr val="accent1"/>
          </a:effectRef>
          <a:fontRef idx="minor">
            <a:schemeClr val="lt1"/>
          </a:fontRef>
        </p:style>
        <p:txBody>
          <a:bodyPr rtlCol="0" anchor="ctr"/>
          <a:lstStyle/>
          <a:p>
            <a:endParaRPr lang="en-US" noProof="0" dirty="0"/>
          </a:p>
        </p:txBody>
      </p:sp>
      <p:sp>
        <p:nvSpPr>
          <p:cNvPr id="11" name="Rounded Rectangle 10"/>
          <p:cNvSpPr/>
          <p:nvPr/>
        </p:nvSpPr>
        <p:spPr>
          <a:xfrm>
            <a:off x="658368" y="2240280"/>
            <a:ext cx="1060704" cy="256032"/>
          </a:xfrm>
          <a:prstGeom prst="roundRect">
            <a:avLst/>
          </a:prstGeom>
          <a:solidFill>
            <a:srgbClr val="296299"/>
          </a:solidFill>
          <a:ln>
            <a:solidFill>
              <a:srgbClr val="296299"/>
            </a:solidFill>
          </a:ln>
        </p:spPr>
        <p:style>
          <a:lnRef idx="1">
            <a:schemeClr val="accent1"/>
          </a:lnRef>
          <a:fillRef idx="3">
            <a:schemeClr val="accent1"/>
          </a:fillRef>
          <a:effectRef idx="2">
            <a:schemeClr val="accent1"/>
          </a:effectRef>
          <a:fontRef idx="minor">
            <a:schemeClr val="lt1"/>
          </a:fontRef>
        </p:style>
        <p:txBody>
          <a:bodyPr rtlCol="0" anchor="ctr"/>
          <a:lstStyle/>
          <a:p>
            <a:endParaRPr lang="en-US" noProof="0" dirty="0"/>
          </a:p>
        </p:txBody>
      </p:sp>
      <p:sp>
        <p:nvSpPr>
          <p:cNvPr id="12" name="TextBox 11"/>
          <p:cNvSpPr txBox="1"/>
          <p:nvPr/>
        </p:nvSpPr>
        <p:spPr>
          <a:xfrm>
            <a:off x="786384" y="2578608"/>
            <a:ext cx="804672" cy="182880"/>
          </a:xfrm>
          <a:prstGeom prst="rect">
            <a:avLst/>
          </a:prstGeom>
          <a:noFill/>
        </p:spPr>
        <p:txBody>
          <a:bodyPr wrap="square" anchor="t">
            <a:spAutoFit/>
          </a:bodyPr>
          <a:lstStyle/>
          <a:p>
            <a:r>
              <a:rPr lang="en-US" noProof="0" dirty="0"/>
              <a:t>May 26</a:t>
            </a:r>
          </a:p>
        </p:txBody>
      </p:sp>
      <p:sp>
        <p:nvSpPr>
          <p:cNvPr id="13" name="TextBox 12"/>
          <p:cNvSpPr txBox="1"/>
          <p:nvPr/>
        </p:nvSpPr>
        <p:spPr>
          <a:xfrm>
            <a:off x="749808" y="2898648"/>
            <a:ext cx="877824" cy="502920"/>
          </a:xfrm>
          <a:prstGeom prst="rect">
            <a:avLst/>
          </a:prstGeom>
          <a:noFill/>
        </p:spPr>
        <p:txBody>
          <a:bodyPr wrap="square" anchor="t">
            <a:spAutoFit/>
          </a:bodyPr>
          <a:lstStyle/>
          <a:p>
            <a:r>
              <a:rPr lang="en-US" noProof="0" dirty="0"/>
              <a:t>Initial charge + engineering</a:t>
            </a:r>
          </a:p>
        </p:txBody>
      </p:sp>
      <p:sp>
        <p:nvSpPr>
          <p:cNvPr id="14" name="Rounded Rectangle 13"/>
          <p:cNvSpPr/>
          <p:nvPr/>
        </p:nvSpPr>
        <p:spPr>
          <a:xfrm>
            <a:off x="1792224" y="2240280"/>
            <a:ext cx="1060704" cy="1417320"/>
          </a:xfrm>
          <a:prstGeom prst="roundRect">
            <a:avLst/>
          </a:prstGeom>
          <a:solidFill>
            <a:srgbClr val="FFFFFF"/>
          </a:solidFill>
          <a:ln>
            <a:solidFill>
              <a:srgbClr val="E3E5E8"/>
            </a:solidFill>
          </a:ln>
        </p:spPr>
        <p:style>
          <a:lnRef idx="1">
            <a:schemeClr val="accent1"/>
          </a:lnRef>
          <a:fillRef idx="3">
            <a:schemeClr val="accent1"/>
          </a:fillRef>
          <a:effectRef idx="2">
            <a:schemeClr val="accent1"/>
          </a:effectRef>
          <a:fontRef idx="minor">
            <a:schemeClr val="lt1"/>
          </a:fontRef>
        </p:style>
        <p:txBody>
          <a:bodyPr rtlCol="0" anchor="ctr"/>
          <a:lstStyle/>
          <a:p>
            <a:endParaRPr lang="en-US" noProof="0" dirty="0"/>
          </a:p>
        </p:txBody>
      </p:sp>
      <p:sp>
        <p:nvSpPr>
          <p:cNvPr id="15" name="Rounded Rectangle 14"/>
          <p:cNvSpPr/>
          <p:nvPr/>
        </p:nvSpPr>
        <p:spPr>
          <a:xfrm>
            <a:off x="1792224" y="2240280"/>
            <a:ext cx="1060704" cy="256032"/>
          </a:xfrm>
          <a:prstGeom prst="roundRect">
            <a:avLst/>
          </a:prstGeom>
          <a:solidFill>
            <a:srgbClr val="15385E"/>
          </a:solidFill>
          <a:ln>
            <a:solidFill>
              <a:srgbClr val="15385E"/>
            </a:solidFill>
          </a:ln>
        </p:spPr>
        <p:style>
          <a:lnRef idx="1">
            <a:schemeClr val="accent1"/>
          </a:lnRef>
          <a:fillRef idx="3">
            <a:schemeClr val="accent1"/>
          </a:fillRef>
          <a:effectRef idx="2">
            <a:schemeClr val="accent1"/>
          </a:effectRef>
          <a:fontRef idx="minor">
            <a:schemeClr val="lt1"/>
          </a:fontRef>
        </p:style>
        <p:txBody>
          <a:bodyPr rtlCol="0" anchor="ctr"/>
          <a:lstStyle/>
          <a:p>
            <a:endParaRPr lang="en-US" noProof="0" dirty="0"/>
          </a:p>
        </p:txBody>
      </p:sp>
      <p:sp>
        <p:nvSpPr>
          <p:cNvPr id="16" name="TextBox 15"/>
          <p:cNvSpPr txBox="1"/>
          <p:nvPr/>
        </p:nvSpPr>
        <p:spPr>
          <a:xfrm>
            <a:off x="1920240" y="2578608"/>
            <a:ext cx="804672" cy="182880"/>
          </a:xfrm>
          <a:prstGeom prst="rect">
            <a:avLst/>
          </a:prstGeom>
          <a:noFill/>
        </p:spPr>
        <p:txBody>
          <a:bodyPr wrap="square" anchor="t">
            <a:spAutoFit/>
          </a:bodyPr>
          <a:lstStyle/>
          <a:p>
            <a:r>
              <a:rPr lang="en-US" noProof="0" dirty="0"/>
              <a:t>Jun 26</a:t>
            </a:r>
          </a:p>
        </p:txBody>
      </p:sp>
      <p:sp>
        <p:nvSpPr>
          <p:cNvPr id="17" name="TextBox 16"/>
          <p:cNvSpPr txBox="1"/>
          <p:nvPr/>
        </p:nvSpPr>
        <p:spPr>
          <a:xfrm>
            <a:off x="1883664" y="2898648"/>
            <a:ext cx="877824" cy="502920"/>
          </a:xfrm>
          <a:prstGeom prst="rect">
            <a:avLst/>
          </a:prstGeom>
          <a:noFill/>
        </p:spPr>
        <p:txBody>
          <a:bodyPr wrap="square" anchor="t">
            <a:spAutoFit/>
          </a:bodyPr>
          <a:lstStyle/>
          <a:p>
            <a:r>
              <a:rPr lang="en-US" noProof="0" dirty="0"/>
              <a:t>Engineering</a:t>
            </a:r>
          </a:p>
        </p:txBody>
      </p:sp>
      <p:sp>
        <p:nvSpPr>
          <p:cNvPr id="18" name="Rounded Rectangle 17"/>
          <p:cNvSpPr/>
          <p:nvPr/>
        </p:nvSpPr>
        <p:spPr>
          <a:xfrm>
            <a:off x="2926080" y="2240280"/>
            <a:ext cx="1060704" cy="1417320"/>
          </a:xfrm>
          <a:prstGeom prst="roundRect">
            <a:avLst/>
          </a:prstGeom>
          <a:solidFill>
            <a:srgbClr val="FFFFFF"/>
          </a:solidFill>
          <a:ln>
            <a:solidFill>
              <a:srgbClr val="E3E5E8"/>
            </a:solidFill>
          </a:ln>
        </p:spPr>
        <p:style>
          <a:lnRef idx="1">
            <a:schemeClr val="accent1"/>
          </a:lnRef>
          <a:fillRef idx="3">
            <a:schemeClr val="accent1"/>
          </a:fillRef>
          <a:effectRef idx="2">
            <a:schemeClr val="accent1"/>
          </a:effectRef>
          <a:fontRef idx="minor">
            <a:schemeClr val="lt1"/>
          </a:fontRef>
        </p:style>
        <p:txBody>
          <a:bodyPr rtlCol="0" anchor="ctr"/>
          <a:lstStyle/>
          <a:p>
            <a:endParaRPr lang="en-US" noProof="0" dirty="0"/>
          </a:p>
        </p:txBody>
      </p:sp>
      <p:sp>
        <p:nvSpPr>
          <p:cNvPr id="19" name="Rounded Rectangle 18"/>
          <p:cNvSpPr/>
          <p:nvPr/>
        </p:nvSpPr>
        <p:spPr>
          <a:xfrm>
            <a:off x="2926080" y="2240280"/>
            <a:ext cx="1060704" cy="256032"/>
          </a:xfrm>
          <a:prstGeom prst="roundRect">
            <a:avLst/>
          </a:prstGeom>
          <a:solidFill>
            <a:srgbClr val="D62E38"/>
          </a:solidFill>
          <a:ln>
            <a:solidFill>
              <a:srgbClr val="D62E38"/>
            </a:solidFill>
          </a:ln>
        </p:spPr>
        <p:style>
          <a:lnRef idx="1">
            <a:schemeClr val="accent1"/>
          </a:lnRef>
          <a:fillRef idx="3">
            <a:schemeClr val="accent1"/>
          </a:fillRef>
          <a:effectRef idx="2">
            <a:schemeClr val="accent1"/>
          </a:effectRef>
          <a:fontRef idx="minor">
            <a:schemeClr val="lt1"/>
          </a:fontRef>
        </p:style>
        <p:txBody>
          <a:bodyPr rtlCol="0" anchor="ctr"/>
          <a:lstStyle/>
          <a:p>
            <a:endParaRPr lang="en-US" noProof="0" dirty="0"/>
          </a:p>
        </p:txBody>
      </p:sp>
      <p:sp>
        <p:nvSpPr>
          <p:cNvPr id="20" name="TextBox 19"/>
          <p:cNvSpPr txBox="1"/>
          <p:nvPr/>
        </p:nvSpPr>
        <p:spPr>
          <a:xfrm>
            <a:off x="3054096" y="2578608"/>
            <a:ext cx="804672" cy="182880"/>
          </a:xfrm>
          <a:prstGeom prst="rect">
            <a:avLst/>
          </a:prstGeom>
          <a:noFill/>
        </p:spPr>
        <p:txBody>
          <a:bodyPr wrap="square" anchor="t">
            <a:spAutoFit/>
          </a:bodyPr>
          <a:lstStyle/>
          <a:p>
            <a:r>
              <a:rPr lang="en-US" noProof="0" dirty="0"/>
              <a:t>Jul 26</a:t>
            </a:r>
          </a:p>
        </p:txBody>
      </p:sp>
      <p:sp>
        <p:nvSpPr>
          <p:cNvPr id="21" name="TextBox 20"/>
          <p:cNvSpPr txBox="1"/>
          <p:nvPr/>
        </p:nvSpPr>
        <p:spPr>
          <a:xfrm>
            <a:off x="3017520" y="2898648"/>
            <a:ext cx="877824" cy="502920"/>
          </a:xfrm>
          <a:prstGeom prst="rect">
            <a:avLst/>
          </a:prstGeom>
          <a:noFill/>
        </p:spPr>
        <p:txBody>
          <a:bodyPr wrap="square" anchor="t">
            <a:spAutoFit/>
          </a:bodyPr>
          <a:lstStyle/>
          <a:p>
            <a:r>
              <a:rPr lang="en-US" noProof="0" dirty="0"/>
              <a:t>Machine + disassembly</a:t>
            </a:r>
          </a:p>
        </p:txBody>
      </p:sp>
      <p:sp>
        <p:nvSpPr>
          <p:cNvPr id="22" name="Rounded Rectangle 21"/>
          <p:cNvSpPr/>
          <p:nvPr/>
        </p:nvSpPr>
        <p:spPr>
          <a:xfrm>
            <a:off x="4059936" y="2240280"/>
            <a:ext cx="1060704" cy="1417320"/>
          </a:xfrm>
          <a:prstGeom prst="roundRect">
            <a:avLst/>
          </a:prstGeom>
          <a:solidFill>
            <a:srgbClr val="FFFFFF"/>
          </a:solidFill>
          <a:ln>
            <a:solidFill>
              <a:srgbClr val="E3E5E8"/>
            </a:solidFill>
          </a:ln>
        </p:spPr>
        <p:style>
          <a:lnRef idx="1">
            <a:schemeClr val="accent1"/>
          </a:lnRef>
          <a:fillRef idx="3">
            <a:schemeClr val="accent1"/>
          </a:fillRef>
          <a:effectRef idx="2">
            <a:schemeClr val="accent1"/>
          </a:effectRef>
          <a:fontRef idx="minor">
            <a:schemeClr val="lt1"/>
          </a:fontRef>
        </p:style>
        <p:txBody>
          <a:bodyPr rtlCol="0" anchor="ctr"/>
          <a:lstStyle/>
          <a:p>
            <a:endParaRPr lang="en-US" noProof="0" dirty="0"/>
          </a:p>
        </p:txBody>
      </p:sp>
      <p:sp>
        <p:nvSpPr>
          <p:cNvPr id="23" name="Rounded Rectangle 22"/>
          <p:cNvSpPr/>
          <p:nvPr/>
        </p:nvSpPr>
        <p:spPr>
          <a:xfrm>
            <a:off x="4059936" y="2240280"/>
            <a:ext cx="1060704" cy="256032"/>
          </a:xfrm>
          <a:prstGeom prst="roundRect">
            <a:avLst/>
          </a:prstGeom>
          <a:solidFill>
            <a:srgbClr val="E86F37"/>
          </a:solidFill>
          <a:ln>
            <a:solidFill>
              <a:srgbClr val="E86F37"/>
            </a:solidFill>
          </a:ln>
        </p:spPr>
        <p:style>
          <a:lnRef idx="1">
            <a:schemeClr val="accent1"/>
          </a:lnRef>
          <a:fillRef idx="3">
            <a:schemeClr val="accent1"/>
          </a:fillRef>
          <a:effectRef idx="2">
            <a:schemeClr val="accent1"/>
          </a:effectRef>
          <a:fontRef idx="minor">
            <a:schemeClr val="lt1"/>
          </a:fontRef>
        </p:style>
        <p:txBody>
          <a:bodyPr rtlCol="0" anchor="ctr"/>
          <a:lstStyle/>
          <a:p>
            <a:endParaRPr lang="en-US" noProof="0" dirty="0"/>
          </a:p>
        </p:txBody>
      </p:sp>
      <p:sp>
        <p:nvSpPr>
          <p:cNvPr id="24" name="TextBox 23"/>
          <p:cNvSpPr txBox="1"/>
          <p:nvPr/>
        </p:nvSpPr>
        <p:spPr>
          <a:xfrm>
            <a:off x="4187952" y="2578608"/>
            <a:ext cx="804672" cy="182880"/>
          </a:xfrm>
          <a:prstGeom prst="rect">
            <a:avLst/>
          </a:prstGeom>
          <a:noFill/>
        </p:spPr>
        <p:txBody>
          <a:bodyPr wrap="square" anchor="t">
            <a:spAutoFit/>
          </a:bodyPr>
          <a:lstStyle/>
          <a:p>
            <a:r>
              <a:rPr lang="en-US" noProof="0" dirty="0"/>
              <a:t>Aug 26</a:t>
            </a:r>
          </a:p>
        </p:txBody>
      </p:sp>
      <p:sp>
        <p:nvSpPr>
          <p:cNvPr id="25" name="TextBox 24"/>
          <p:cNvSpPr txBox="1"/>
          <p:nvPr/>
        </p:nvSpPr>
        <p:spPr>
          <a:xfrm>
            <a:off x="4151376" y="2898648"/>
            <a:ext cx="877824" cy="502920"/>
          </a:xfrm>
          <a:prstGeom prst="rect">
            <a:avLst/>
          </a:prstGeom>
          <a:noFill/>
        </p:spPr>
        <p:txBody>
          <a:bodyPr wrap="square" anchor="t">
            <a:spAutoFit/>
          </a:bodyPr>
          <a:lstStyle/>
          <a:p>
            <a:r>
              <a:rPr lang="en-US" noProof="0" dirty="0"/>
              <a:t>Transportation</a:t>
            </a:r>
          </a:p>
        </p:txBody>
      </p:sp>
      <p:sp>
        <p:nvSpPr>
          <p:cNvPr id="26" name="Rounded Rectangle 25"/>
          <p:cNvSpPr/>
          <p:nvPr/>
        </p:nvSpPr>
        <p:spPr>
          <a:xfrm>
            <a:off x="5193792" y="2240280"/>
            <a:ext cx="1060704" cy="1417320"/>
          </a:xfrm>
          <a:prstGeom prst="roundRect">
            <a:avLst/>
          </a:prstGeom>
          <a:solidFill>
            <a:srgbClr val="FFFFFF"/>
          </a:solidFill>
          <a:ln>
            <a:solidFill>
              <a:srgbClr val="E3E5E8"/>
            </a:solidFill>
          </a:ln>
        </p:spPr>
        <p:style>
          <a:lnRef idx="1">
            <a:schemeClr val="accent1"/>
          </a:lnRef>
          <a:fillRef idx="3">
            <a:schemeClr val="accent1"/>
          </a:fillRef>
          <a:effectRef idx="2">
            <a:schemeClr val="accent1"/>
          </a:effectRef>
          <a:fontRef idx="minor">
            <a:schemeClr val="lt1"/>
          </a:fontRef>
        </p:style>
        <p:txBody>
          <a:bodyPr rtlCol="0" anchor="ctr"/>
          <a:lstStyle/>
          <a:p>
            <a:endParaRPr lang="en-US" noProof="0" dirty="0"/>
          </a:p>
        </p:txBody>
      </p:sp>
      <p:sp>
        <p:nvSpPr>
          <p:cNvPr id="27" name="Rounded Rectangle 26"/>
          <p:cNvSpPr/>
          <p:nvPr/>
        </p:nvSpPr>
        <p:spPr>
          <a:xfrm>
            <a:off x="5193792" y="2240280"/>
            <a:ext cx="1060704" cy="256032"/>
          </a:xfrm>
          <a:prstGeom prst="roundRect">
            <a:avLst/>
          </a:prstGeom>
          <a:solidFill>
            <a:srgbClr val="D62E38"/>
          </a:solidFill>
          <a:ln>
            <a:solidFill>
              <a:srgbClr val="D62E38"/>
            </a:solidFill>
          </a:ln>
        </p:spPr>
        <p:style>
          <a:lnRef idx="1">
            <a:schemeClr val="accent1"/>
          </a:lnRef>
          <a:fillRef idx="3">
            <a:schemeClr val="accent1"/>
          </a:fillRef>
          <a:effectRef idx="2">
            <a:schemeClr val="accent1"/>
          </a:effectRef>
          <a:fontRef idx="minor">
            <a:schemeClr val="lt1"/>
          </a:fontRef>
        </p:style>
        <p:txBody>
          <a:bodyPr rtlCol="0" anchor="ctr"/>
          <a:lstStyle/>
          <a:p>
            <a:endParaRPr lang="en-US" noProof="0" dirty="0"/>
          </a:p>
        </p:txBody>
      </p:sp>
      <p:sp>
        <p:nvSpPr>
          <p:cNvPr id="28" name="TextBox 27"/>
          <p:cNvSpPr txBox="1"/>
          <p:nvPr/>
        </p:nvSpPr>
        <p:spPr>
          <a:xfrm>
            <a:off x="5321808" y="2578608"/>
            <a:ext cx="804672" cy="182880"/>
          </a:xfrm>
          <a:prstGeom prst="rect">
            <a:avLst/>
          </a:prstGeom>
          <a:noFill/>
        </p:spPr>
        <p:txBody>
          <a:bodyPr wrap="square" anchor="t">
            <a:spAutoFit/>
          </a:bodyPr>
          <a:lstStyle/>
          <a:p>
            <a:r>
              <a:rPr lang="en-US" noProof="0" dirty="0"/>
              <a:t>Sep 26</a:t>
            </a:r>
          </a:p>
        </p:txBody>
      </p:sp>
      <p:sp>
        <p:nvSpPr>
          <p:cNvPr id="29" name="TextBox 28"/>
          <p:cNvSpPr txBox="1"/>
          <p:nvPr/>
        </p:nvSpPr>
        <p:spPr>
          <a:xfrm>
            <a:off x="5285232" y="2898648"/>
            <a:ext cx="877824" cy="502920"/>
          </a:xfrm>
          <a:prstGeom prst="rect">
            <a:avLst/>
          </a:prstGeom>
          <a:noFill/>
        </p:spPr>
        <p:txBody>
          <a:bodyPr wrap="square" anchor="t">
            <a:spAutoFit/>
          </a:bodyPr>
          <a:lstStyle/>
          <a:p>
            <a:r>
              <a:rPr lang="en-US" noProof="0" dirty="0"/>
              <a:t>Upgrade </a:t>
            </a:r>
            <a:r>
              <a:rPr lang="en-US" noProof="0" dirty="0" err="1"/>
              <a:t>elec</a:t>
            </a:r>
            <a:r>
              <a:rPr lang="en-US" noProof="0" dirty="0"/>
              <a:t>/</a:t>
            </a:r>
            <a:r>
              <a:rPr lang="en-US" noProof="0" dirty="0" err="1"/>
              <a:t>mec</a:t>
            </a:r>
            <a:endParaRPr lang="en-US" noProof="0" dirty="0"/>
          </a:p>
        </p:txBody>
      </p:sp>
      <p:sp>
        <p:nvSpPr>
          <p:cNvPr id="30" name="Rounded Rectangle 29"/>
          <p:cNvSpPr/>
          <p:nvPr/>
        </p:nvSpPr>
        <p:spPr>
          <a:xfrm>
            <a:off x="6327648" y="2240280"/>
            <a:ext cx="1060704" cy="1417320"/>
          </a:xfrm>
          <a:prstGeom prst="roundRect">
            <a:avLst/>
          </a:prstGeom>
          <a:solidFill>
            <a:srgbClr val="FFFFFF"/>
          </a:solidFill>
          <a:ln>
            <a:solidFill>
              <a:srgbClr val="E3E5E8"/>
            </a:solidFill>
          </a:ln>
        </p:spPr>
        <p:style>
          <a:lnRef idx="1">
            <a:schemeClr val="accent1"/>
          </a:lnRef>
          <a:fillRef idx="3">
            <a:schemeClr val="accent1"/>
          </a:fillRef>
          <a:effectRef idx="2">
            <a:schemeClr val="accent1"/>
          </a:effectRef>
          <a:fontRef idx="minor">
            <a:schemeClr val="lt1"/>
          </a:fontRef>
        </p:style>
        <p:txBody>
          <a:bodyPr rtlCol="0" anchor="ctr"/>
          <a:lstStyle/>
          <a:p>
            <a:endParaRPr lang="en-US" noProof="0" dirty="0"/>
          </a:p>
        </p:txBody>
      </p:sp>
      <p:sp>
        <p:nvSpPr>
          <p:cNvPr id="31" name="Rounded Rectangle 30"/>
          <p:cNvSpPr/>
          <p:nvPr/>
        </p:nvSpPr>
        <p:spPr>
          <a:xfrm>
            <a:off x="6327648" y="2240280"/>
            <a:ext cx="1060704" cy="256032"/>
          </a:xfrm>
          <a:prstGeom prst="roundRect">
            <a:avLst/>
          </a:prstGeom>
          <a:solidFill>
            <a:srgbClr val="296299"/>
          </a:solidFill>
          <a:ln>
            <a:solidFill>
              <a:srgbClr val="296299"/>
            </a:solidFill>
          </a:ln>
        </p:spPr>
        <p:style>
          <a:lnRef idx="1">
            <a:schemeClr val="accent1"/>
          </a:lnRef>
          <a:fillRef idx="3">
            <a:schemeClr val="accent1"/>
          </a:fillRef>
          <a:effectRef idx="2">
            <a:schemeClr val="accent1"/>
          </a:effectRef>
          <a:fontRef idx="minor">
            <a:schemeClr val="lt1"/>
          </a:fontRef>
        </p:style>
        <p:txBody>
          <a:bodyPr rtlCol="0" anchor="ctr"/>
          <a:lstStyle/>
          <a:p>
            <a:endParaRPr lang="en-US" noProof="0" dirty="0"/>
          </a:p>
        </p:txBody>
      </p:sp>
      <p:sp>
        <p:nvSpPr>
          <p:cNvPr id="32" name="TextBox 31"/>
          <p:cNvSpPr txBox="1"/>
          <p:nvPr/>
        </p:nvSpPr>
        <p:spPr>
          <a:xfrm>
            <a:off x="6455664" y="2578608"/>
            <a:ext cx="804672" cy="182880"/>
          </a:xfrm>
          <a:prstGeom prst="rect">
            <a:avLst/>
          </a:prstGeom>
          <a:noFill/>
        </p:spPr>
        <p:txBody>
          <a:bodyPr wrap="square" anchor="t">
            <a:spAutoFit/>
          </a:bodyPr>
          <a:lstStyle/>
          <a:p>
            <a:r>
              <a:rPr lang="en-US" noProof="0" dirty="0"/>
              <a:t>Oct 26</a:t>
            </a:r>
          </a:p>
        </p:txBody>
      </p:sp>
      <p:sp>
        <p:nvSpPr>
          <p:cNvPr id="33" name="TextBox 32"/>
          <p:cNvSpPr txBox="1"/>
          <p:nvPr/>
        </p:nvSpPr>
        <p:spPr>
          <a:xfrm>
            <a:off x="6419088" y="2898648"/>
            <a:ext cx="877824" cy="502920"/>
          </a:xfrm>
          <a:prstGeom prst="rect">
            <a:avLst/>
          </a:prstGeom>
          <a:noFill/>
        </p:spPr>
        <p:txBody>
          <a:bodyPr wrap="square" anchor="t">
            <a:spAutoFit/>
          </a:bodyPr>
          <a:lstStyle/>
          <a:p>
            <a:r>
              <a:rPr lang="en-US" noProof="0" dirty="0"/>
              <a:t>Contingency</a:t>
            </a:r>
          </a:p>
        </p:txBody>
      </p:sp>
      <p:sp>
        <p:nvSpPr>
          <p:cNvPr id="34" name="Rounded Rectangle 33"/>
          <p:cNvSpPr/>
          <p:nvPr/>
        </p:nvSpPr>
        <p:spPr>
          <a:xfrm>
            <a:off x="7461504" y="2240280"/>
            <a:ext cx="1060704" cy="1417320"/>
          </a:xfrm>
          <a:prstGeom prst="roundRect">
            <a:avLst/>
          </a:prstGeom>
          <a:solidFill>
            <a:srgbClr val="FFFFFF"/>
          </a:solidFill>
          <a:ln>
            <a:solidFill>
              <a:srgbClr val="E3E5E8"/>
            </a:solidFill>
          </a:ln>
        </p:spPr>
        <p:style>
          <a:lnRef idx="1">
            <a:schemeClr val="accent1"/>
          </a:lnRef>
          <a:fillRef idx="3">
            <a:schemeClr val="accent1"/>
          </a:fillRef>
          <a:effectRef idx="2">
            <a:schemeClr val="accent1"/>
          </a:effectRef>
          <a:fontRef idx="minor">
            <a:schemeClr val="lt1"/>
          </a:fontRef>
        </p:style>
        <p:txBody>
          <a:bodyPr rtlCol="0" anchor="ctr"/>
          <a:lstStyle/>
          <a:p>
            <a:endParaRPr lang="en-US" noProof="0" dirty="0"/>
          </a:p>
        </p:txBody>
      </p:sp>
      <p:sp>
        <p:nvSpPr>
          <p:cNvPr id="35" name="Rounded Rectangle 34"/>
          <p:cNvSpPr/>
          <p:nvPr/>
        </p:nvSpPr>
        <p:spPr>
          <a:xfrm>
            <a:off x="7461504" y="2240280"/>
            <a:ext cx="1060704" cy="256032"/>
          </a:xfrm>
          <a:prstGeom prst="roundRect">
            <a:avLst/>
          </a:prstGeom>
          <a:solidFill>
            <a:srgbClr val="15385E"/>
          </a:solidFill>
          <a:ln>
            <a:solidFill>
              <a:srgbClr val="15385E"/>
            </a:solidFill>
          </a:ln>
        </p:spPr>
        <p:style>
          <a:lnRef idx="1">
            <a:schemeClr val="accent1"/>
          </a:lnRef>
          <a:fillRef idx="3">
            <a:schemeClr val="accent1"/>
          </a:fillRef>
          <a:effectRef idx="2">
            <a:schemeClr val="accent1"/>
          </a:effectRef>
          <a:fontRef idx="minor">
            <a:schemeClr val="lt1"/>
          </a:fontRef>
        </p:style>
        <p:txBody>
          <a:bodyPr rtlCol="0" anchor="ctr"/>
          <a:lstStyle/>
          <a:p>
            <a:endParaRPr lang="en-US" noProof="0" dirty="0"/>
          </a:p>
        </p:txBody>
      </p:sp>
      <p:sp>
        <p:nvSpPr>
          <p:cNvPr id="36" name="TextBox 35"/>
          <p:cNvSpPr txBox="1"/>
          <p:nvPr/>
        </p:nvSpPr>
        <p:spPr>
          <a:xfrm>
            <a:off x="7589520" y="2578608"/>
            <a:ext cx="804672" cy="182880"/>
          </a:xfrm>
          <a:prstGeom prst="rect">
            <a:avLst/>
          </a:prstGeom>
          <a:noFill/>
        </p:spPr>
        <p:txBody>
          <a:bodyPr wrap="square" anchor="t">
            <a:spAutoFit/>
          </a:bodyPr>
          <a:lstStyle/>
          <a:p>
            <a:r>
              <a:rPr lang="en-US" noProof="0" dirty="0"/>
              <a:t>Nov 26</a:t>
            </a:r>
          </a:p>
        </p:txBody>
      </p:sp>
      <p:sp>
        <p:nvSpPr>
          <p:cNvPr id="37" name="TextBox 36"/>
          <p:cNvSpPr txBox="1"/>
          <p:nvPr/>
        </p:nvSpPr>
        <p:spPr>
          <a:xfrm>
            <a:off x="7552944" y="2898648"/>
            <a:ext cx="877824" cy="502920"/>
          </a:xfrm>
          <a:prstGeom prst="rect">
            <a:avLst/>
          </a:prstGeom>
          <a:noFill/>
        </p:spPr>
        <p:txBody>
          <a:bodyPr wrap="square" anchor="t">
            <a:spAutoFit/>
          </a:bodyPr>
          <a:lstStyle/>
          <a:p>
            <a:r>
              <a:rPr lang="en-US" noProof="0" dirty="0"/>
              <a:t>Contingency</a:t>
            </a:r>
          </a:p>
        </p:txBody>
      </p:sp>
      <p:sp>
        <p:nvSpPr>
          <p:cNvPr id="38" name="Rounded Rectangle 37"/>
          <p:cNvSpPr/>
          <p:nvPr/>
        </p:nvSpPr>
        <p:spPr>
          <a:xfrm>
            <a:off x="8595360" y="2240280"/>
            <a:ext cx="1060704" cy="1417320"/>
          </a:xfrm>
          <a:prstGeom prst="roundRect">
            <a:avLst/>
          </a:prstGeom>
          <a:solidFill>
            <a:srgbClr val="FFFFFF"/>
          </a:solidFill>
          <a:ln>
            <a:solidFill>
              <a:srgbClr val="E3E5E8"/>
            </a:solidFill>
          </a:ln>
        </p:spPr>
        <p:style>
          <a:lnRef idx="1">
            <a:schemeClr val="accent1"/>
          </a:lnRef>
          <a:fillRef idx="3">
            <a:schemeClr val="accent1"/>
          </a:fillRef>
          <a:effectRef idx="2">
            <a:schemeClr val="accent1"/>
          </a:effectRef>
          <a:fontRef idx="minor">
            <a:schemeClr val="lt1"/>
          </a:fontRef>
        </p:style>
        <p:txBody>
          <a:bodyPr rtlCol="0" anchor="ctr"/>
          <a:lstStyle/>
          <a:p>
            <a:endParaRPr lang="en-US" noProof="0" dirty="0"/>
          </a:p>
        </p:txBody>
      </p:sp>
      <p:sp>
        <p:nvSpPr>
          <p:cNvPr id="39" name="Rounded Rectangle 38"/>
          <p:cNvSpPr/>
          <p:nvPr/>
        </p:nvSpPr>
        <p:spPr>
          <a:xfrm>
            <a:off x="8595360" y="2240280"/>
            <a:ext cx="1060704" cy="256032"/>
          </a:xfrm>
          <a:prstGeom prst="roundRect">
            <a:avLst/>
          </a:prstGeom>
          <a:solidFill>
            <a:srgbClr val="296299"/>
          </a:solidFill>
          <a:ln>
            <a:solidFill>
              <a:srgbClr val="296299"/>
            </a:solidFill>
          </a:ln>
        </p:spPr>
        <p:style>
          <a:lnRef idx="1">
            <a:schemeClr val="accent1"/>
          </a:lnRef>
          <a:fillRef idx="3">
            <a:schemeClr val="accent1"/>
          </a:fillRef>
          <a:effectRef idx="2">
            <a:schemeClr val="accent1"/>
          </a:effectRef>
          <a:fontRef idx="minor">
            <a:schemeClr val="lt1"/>
          </a:fontRef>
        </p:style>
        <p:txBody>
          <a:bodyPr rtlCol="0" anchor="ctr"/>
          <a:lstStyle/>
          <a:p>
            <a:endParaRPr lang="en-US" noProof="0" dirty="0"/>
          </a:p>
        </p:txBody>
      </p:sp>
      <p:sp>
        <p:nvSpPr>
          <p:cNvPr id="40" name="TextBox 39"/>
          <p:cNvSpPr txBox="1"/>
          <p:nvPr/>
        </p:nvSpPr>
        <p:spPr>
          <a:xfrm>
            <a:off x="8723376" y="2578608"/>
            <a:ext cx="804672" cy="182880"/>
          </a:xfrm>
          <a:prstGeom prst="rect">
            <a:avLst/>
          </a:prstGeom>
          <a:noFill/>
        </p:spPr>
        <p:txBody>
          <a:bodyPr wrap="square" anchor="t">
            <a:spAutoFit/>
          </a:bodyPr>
          <a:lstStyle/>
          <a:p>
            <a:r>
              <a:rPr lang="en-US" noProof="0" dirty="0"/>
              <a:t>Dec 26</a:t>
            </a:r>
          </a:p>
        </p:txBody>
      </p:sp>
      <p:sp>
        <p:nvSpPr>
          <p:cNvPr id="41" name="TextBox 40"/>
          <p:cNvSpPr txBox="1"/>
          <p:nvPr/>
        </p:nvSpPr>
        <p:spPr>
          <a:xfrm>
            <a:off x="8686800" y="2898648"/>
            <a:ext cx="877824" cy="502920"/>
          </a:xfrm>
          <a:prstGeom prst="rect">
            <a:avLst/>
          </a:prstGeom>
          <a:noFill/>
        </p:spPr>
        <p:txBody>
          <a:bodyPr wrap="square" anchor="t">
            <a:spAutoFit/>
          </a:bodyPr>
          <a:lstStyle/>
          <a:p>
            <a:r>
              <a:rPr lang="en-US" noProof="0" dirty="0"/>
              <a:t>Packaging</a:t>
            </a:r>
          </a:p>
        </p:txBody>
      </p:sp>
      <p:sp>
        <p:nvSpPr>
          <p:cNvPr id="42" name="Rounded Rectangle 41"/>
          <p:cNvSpPr/>
          <p:nvPr/>
        </p:nvSpPr>
        <p:spPr>
          <a:xfrm>
            <a:off x="9729216" y="2240280"/>
            <a:ext cx="1060704" cy="1417320"/>
          </a:xfrm>
          <a:prstGeom prst="roundRect">
            <a:avLst/>
          </a:prstGeom>
          <a:solidFill>
            <a:srgbClr val="FFFFFF"/>
          </a:solidFill>
          <a:ln>
            <a:solidFill>
              <a:srgbClr val="E3E5E8"/>
            </a:solidFill>
          </a:ln>
        </p:spPr>
        <p:style>
          <a:lnRef idx="1">
            <a:schemeClr val="accent1"/>
          </a:lnRef>
          <a:fillRef idx="3">
            <a:schemeClr val="accent1"/>
          </a:fillRef>
          <a:effectRef idx="2">
            <a:schemeClr val="accent1"/>
          </a:effectRef>
          <a:fontRef idx="minor">
            <a:schemeClr val="lt1"/>
          </a:fontRef>
        </p:style>
        <p:txBody>
          <a:bodyPr rtlCol="0" anchor="ctr"/>
          <a:lstStyle/>
          <a:p>
            <a:endParaRPr lang="en-US" noProof="0" dirty="0"/>
          </a:p>
        </p:txBody>
      </p:sp>
      <p:sp>
        <p:nvSpPr>
          <p:cNvPr id="43" name="Rounded Rectangle 42"/>
          <p:cNvSpPr/>
          <p:nvPr/>
        </p:nvSpPr>
        <p:spPr>
          <a:xfrm>
            <a:off x="9729216" y="2240280"/>
            <a:ext cx="1060704" cy="256032"/>
          </a:xfrm>
          <a:prstGeom prst="roundRect">
            <a:avLst/>
          </a:prstGeom>
          <a:solidFill>
            <a:srgbClr val="E86F37"/>
          </a:solidFill>
          <a:ln>
            <a:solidFill>
              <a:srgbClr val="E86F37"/>
            </a:solidFill>
          </a:ln>
        </p:spPr>
        <p:style>
          <a:lnRef idx="1">
            <a:schemeClr val="accent1"/>
          </a:lnRef>
          <a:fillRef idx="3">
            <a:schemeClr val="accent1"/>
          </a:fillRef>
          <a:effectRef idx="2">
            <a:schemeClr val="accent1"/>
          </a:effectRef>
          <a:fontRef idx="minor">
            <a:schemeClr val="lt1"/>
          </a:fontRef>
        </p:style>
        <p:txBody>
          <a:bodyPr rtlCol="0" anchor="ctr"/>
          <a:lstStyle/>
          <a:p>
            <a:endParaRPr lang="en-US" noProof="0" dirty="0"/>
          </a:p>
        </p:txBody>
      </p:sp>
      <p:sp>
        <p:nvSpPr>
          <p:cNvPr id="44" name="TextBox 43"/>
          <p:cNvSpPr txBox="1"/>
          <p:nvPr/>
        </p:nvSpPr>
        <p:spPr>
          <a:xfrm>
            <a:off x="9857232" y="2578608"/>
            <a:ext cx="804672" cy="182880"/>
          </a:xfrm>
          <a:prstGeom prst="rect">
            <a:avLst/>
          </a:prstGeom>
          <a:noFill/>
        </p:spPr>
        <p:txBody>
          <a:bodyPr wrap="square" anchor="t">
            <a:spAutoFit/>
          </a:bodyPr>
          <a:lstStyle/>
          <a:p>
            <a:r>
              <a:rPr lang="en-US" noProof="0" dirty="0"/>
              <a:t>Jan 27</a:t>
            </a:r>
          </a:p>
        </p:txBody>
      </p:sp>
      <p:sp>
        <p:nvSpPr>
          <p:cNvPr id="45" name="TextBox 44"/>
          <p:cNvSpPr txBox="1"/>
          <p:nvPr/>
        </p:nvSpPr>
        <p:spPr>
          <a:xfrm>
            <a:off x="9820656" y="2898648"/>
            <a:ext cx="877824" cy="502920"/>
          </a:xfrm>
          <a:prstGeom prst="rect">
            <a:avLst/>
          </a:prstGeom>
          <a:noFill/>
        </p:spPr>
        <p:txBody>
          <a:bodyPr wrap="square" anchor="t">
            <a:spAutoFit/>
          </a:bodyPr>
          <a:lstStyle/>
          <a:p>
            <a:r>
              <a:rPr lang="en-US" noProof="0" dirty="0"/>
              <a:t>Transportation</a:t>
            </a:r>
          </a:p>
        </p:txBody>
      </p:sp>
      <p:sp>
        <p:nvSpPr>
          <p:cNvPr id="46" name="Rounded Rectangle 45"/>
          <p:cNvSpPr/>
          <p:nvPr/>
        </p:nvSpPr>
        <p:spPr>
          <a:xfrm>
            <a:off x="10863072" y="2240280"/>
            <a:ext cx="1060704" cy="1417320"/>
          </a:xfrm>
          <a:prstGeom prst="roundRect">
            <a:avLst/>
          </a:prstGeom>
          <a:solidFill>
            <a:srgbClr val="FFFFFF"/>
          </a:solidFill>
          <a:ln>
            <a:solidFill>
              <a:srgbClr val="E3E5E8"/>
            </a:solidFill>
          </a:ln>
        </p:spPr>
        <p:style>
          <a:lnRef idx="1">
            <a:schemeClr val="accent1"/>
          </a:lnRef>
          <a:fillRef idx="3">
            <a:schemeClr val="accent1"/>
          </a:fillRef>
          <a:effectRef idx="2">
            <a:schemeClr val="accent1"/>
          </a:effectRef>
          <a:fontRef idx="minor">
            <a:schemeClr val="lt1"/>
          </a:fontRef>
        </p:style>
        <p:txBody>
          <a:bodyPr rtlCol="0" anchor="ctr"/>
          <a:lstStyle/>
          <a:p>
            <a:endParaRPr lang="en-US" noProof="0" dirty="0"/>
          </a:p>
        </p:txBody>
      </p:sp>
      <p:sp>
        <p:nvSpPr>
          <p:cNvPr id="47" name="Rounded Rectangle 46"/>
          <p:cNvSpPr/>
          <p:nvPr/>
        </p:nvSpPr>
        <p:spPr>
          <a:xfrm>
            <a:off x="10863072" y="2240280"/>
            <a:ext cx="1060704" cy="256032"/>
          </a:xfrm>
          <a:prstGeom prst="roundRect">
            <a:avLst/>
          </a:prstGeom>
          <a:solidFill>
            <a:srgbClr val="15385E"/>
          </a:solidFill>
          <a:ln>
            <a:solidFill>
              <a:srgbClr val="15385E"/>
            </a:solidFill>
          </a:ln>
        </p:spPr>
        <p:style>
          <a:lnRef idx="1">
            <a:schemeClr val="accent1"/>
          </a:lnRef>
          <a:fillRef idx="3">
            <a:schemeClr val="accent1"/>
          </a:fillRef>
          <a:effectRef idx="2">
            <a:schemeClr val="accent1"/>
          </a:effectRef>
          <a:fontRef idx="minor">
            <a:schemeClr val="lt1"/>
          </a:fontRef>
        </p:style>
        <p:txBody>
          <a:bodyPr rtlCol="0" anchor="ctr"/>
          <a:lstStyle/>
          <a:p>
            <a:endParaRPr lang="en-US" noProof="0" dirty="0"/>
          </a:p>
        </p:txBody>
      </p:sp>
      <p:sp>
        <p:nvSpPr>
          <p:cNvPr id="48" name="TextBox 47"/>
          <p:cNvSpPr txBox="1"/>
          <p:nvPr/>
        </p:nvSpPr>
        <p:spPr>
          <a:xfrm>
            <a:off x="10991088" y="2578608"/>
            <a:ext cx="804672" cy="182880"/>
          </a:xfrm>
          <a:prstGeom prst="rect">
            <a:avLst/>
          </a:prstGeom>
          <a:noFill/>
        </p:spPr>
        <p:txBody>
          <a:bodyPr wrap="square" anchor="t">
            <a:spAutoFit/>
          </a:bodyPr>
          <a:lstStyle/>
          <a:p>
            <a:r>
              <a:rPr lang="en-US" noProof="0" dirty="0"/>
              <a:t>Feb 27</a:t>
            </a:r>
          </a:p>
        </p:txBody>
      </p:sp>
      <p:sp>
        <p:nvSpPr>
          <p:cNvPr id="49" name="TextBox 48"/>
          <p:cNvSpPr txBox="1"/>
          <p:nvPr/>
        </p:nvSpPr>
        <p:spPr>
          <a:xfrm>
            <a:off x="10954512" y="2898648"/>
            <a:ext cx="877824" cy="502920"/>
          </a:xfrm>
          <a:prstGeom prst="rect">
            <a:avLst/>
          </a:prstGeom>
          <a:noFill/>
        </p:spPr>
        <p:txBody>
          <a:bodyPr wrap="square" anchor="t">
            <a:spAutoFit/>
          </a:bodyPr>
          <a:lstStyle/>
          <a:p>
            <a:r>
              <a:rPr lang="en-US" noProof="0" dirty="0"/>
              <a:t>Close</a:t>
            </a:r>
          </a:p>
        </p:txBody>
      </p:sp>
      <p:sp>
        <p:nvSpPr>
          <p:cNvPr id="50" name="Rounded Rectangle 49"/>
          <p:cNvSpPr/>
          <p:nvPr/>
        </p:nvSpPr>
        <p:spPr>
          <a:xfrm>
            <a:off x="749808" y="4160520"/>
            <a:ext cx="3657600" cy="1234440"/>
          </a:xfrm>
          <a:prstGeom prst="roundRect">
            <a:avLst/>
          </a:prstGeom>
          <a:solidFill>
            <a:srgbClr val="FCECEC"/>
          </a:solidFill>
          <a:ln>
            <a:solidFill>
              <a:srgbClr val="FCECEC"/>
            </a:solidFill>
          </a:ln>
        </p:spPr>
        <p:style>
          <a:lnRef idx="1">
            <a:schemeClr val="accent1"/>
          </a:lnRef>
          <a:fillRef idx="3">
            <a:schemeClr val="accent1"/>
          </a:fillRef>
          <a:effectRef idx="2">
            <a:schemeClr val="accent1"/>
          </a:effectRef>
          <a:fontRef idx="minor">
            <a:schemeClr val="lt1"/>
          </a:fontRef>
        </p:style>
        <p:txBody>
          <a:bodyPr rtlCol="0" anchor="ctr"/>
          <a:lstStyle/>
          <a:p>
            <a:endParaRPr lang="en-US" noProof="0" dirty="0"/>
          </a:p>
        </p:txBody>
      </p:sp>
      <p:sp>
        <p:nvSpPr>
          <p:cNvPr id="51" name="TextBox 50"/>
          <p:cNvSpPr txBox="1"/>
          <p:nvPr/>
        </p:nvSpPr>
        <p:spPr>
          <a:xfrm>
            <a:off x="1005840" y="4462272"/>
            <a:ext cx="3108960" cy="246888"/>
          </a:xfrm>
          <a:prstGeom prst="rect">
            <a:avLst/>
          </a:prstGeom>
          <a:noFill/>
        </p:spPr>
        <p:txBody>
          <a:bodyPr wrap="square" anchor="t">
            <a:spAutoFit/>
          </a:bodyPr>
          <a:lstStyle/>
          <a:p>
            <a:r>
              <a:rPr lang="en-US" noProof="0" dirty="0"/>
              <a:t>Peak tension</a:t>
            </a:r>
          </a:p>
        </p:txBody>
      </p:sp>
      <p:sp>
        <p:nvSpPr>
          <p:cNvPr id="52" name="TextBox 51"/>
          <p:cNvSpPr txBox="1"/>
          <p:nvPr/>
        </p:nvSpPr>
        <p:spPr>
          <a:xfrm>
            <a:off x="1005840" y="4709160"/>
            <a:ext cx="3108960" cy="411480"/>
          </a:xfrm>
          <a:prstGeom prst="rect">
            <a:avLst/>
          </a:prstGeom>
          <a:noFill/>
        </p:spPr>
        <p:txBody>
          <a:bodyPr wrap="square" anchor="t">
            <a:spAutoFit/>
          </a:bodyPr>
          <a:lstStyle/>
          <a:p>
            <a:r>
              <a:rPr lang="en-US" noProof="0" dirty="0"/>
              <a:t>Julio concentrates machine + disassembly. September absorbs mechanical/electrical upgrade.</a:t>
            </a:r>
          </a:p>
        </p:txBody>
      </p:sp>
      <p:sp>
        <p:nvSpPr>
          <p:cNvPr id="53" name="Rounded Rectangle 52"/>
          <p:cNvSpPr/>
          <p:nvPr/>
        </p:nvSpPr>
        <p:spPr>
          <a:xfrm>
            <a:off x="4526280" y="4160520"/>
            <a:ext cx="3611880" cy="1234440"/>
          </a:xfrm>
          <a:prstGeom prst="roundRect">
            <a:avLst/>
          </a:prstGeom>
          <a:solidFill>
            <a:srgbClr val="E3ECF4"/>
          </a:solidFill>
          <a:ln>
            <a:solidFill>
              <a:srgbClr val="E3ECF4"/>
            </a:solidFill>
          </a:ln>
        </p:spPr>
        <p:style>
          <a:lnRef idx="1">
            <a:schemeClr val="accent1"/>
          </a:lnRef>
          <a:fillRef idx="3">
            <a:schemeClr val="accent1"/>
          </a:fillRef>
          <a:effectRef idx="2">
            <a:schemeClr val="accent1"/>
          </a:effectRef>
          <a:fontRef idx="minor">
            <a:schemeClr val="lt1"/>
          </a:fontRef>
        </p:style>
        <p:txBody>
          <a:bodyPr rtlCol="0" anchor="ctr"/>
          <a:lstStyle/>
          <a:p>
            <a:endParaRPr lang="en-US" noProof="0" dirty="0"/>
          </a:p>
        </p:txBody>
      </p:sp>
      <p:sp>
        <p:nvSpPr>
          <p:cNvPr id="54" name="TextBox 53"/>
          <p:cNvSpPr txBox="1"/>
          <p:nvPr/>
        </p:nvSpPr>
        <p:spPr>
          <a:xfrm>
            <a:off x="4773168" y="4462272"/>
            <a:ext cx="2926080" cy="246888"/>
          </a:xfrm>
          <a:prstGeom prst="rect">
            <a:avLst/>
          </a:prstGeom>
          <a:noFill/>
        </p:spPr>
        <p:txBody>
          <a:bodyPr wrap="square" anchor="t">
            <a:spAutoFit/>
          </a:bodyPr>
          <a:lstStyle/>
          <a:p>
            <a:r>
              <a:rPr lang="en-US" noProof="0" dirty="0"/>
              <a:t>Collections</a:t>
            </a:r>
          </a:p>
        </p:txBody>
      </p:sp>
      <p:sp>
        <p:nvSpPr>
          <p:cNvPr id="55" name="TextBox 54"/>
          <p:cNvSpPr txBox="1"/>
          <p:nvPr/>
        </p:nvSpPr>
        <p:spPr>
          <a:xfrm>
            <a:off x="4773168" y="4709160"/>
            <a:ext cx="2971800" cy="411480"/>
          </a:xfrm>
          <a:prstGeom prst="rect">
            <a:avLst/>
          </a:prstGeom>
          <a:noFill/>
        </p:spPr>
        <p:txBody>
          <a:bodyPr wrap="square" anchor="t">
            <a:spAutoFit/>
          </a:bodyPr>
          <a:lstStyle/>
          <a:p>
            <a:r>
              <a:rPr lang="en-US" noProof="0" dirty="0"/>
              <a:t>El </a:t>
            </a:r>
            <a:r>
              <a:rPr lang="en-US" noProof="0" dirty="0" err="1"/>
              <a:t>modelo</a:t>
            </a:r>
            <a:r>
              <a:rPr lang="en-US" noProof="0" dirty="0"/>
              <a:t> of </a:t>
            </a:r>
            <a:r>
              <a:rPr lang="en-US" noProof="0" dirty="0" err="1"/>
              <a:t>flujo</a:t>
            </a:r>
            <a:r>
              <a:rPr lang="en-US" noProof="0" dirty="0"/>
              <a:t> </a:t>
            </a:r>
            <a:r>
              <a:rPr lang="en-US" noProof="0" dirty="0" err="1"/>
              <a:t>refleja</a:t>
            </a:r>
            <a:r>
              <a:rPr lang="en-US" noProof="0" dirty="0"/>
              <a:t> Collections of USD 200k by </a:t>
            </a:r>
            <a:r>
              <a:rPr lang="en-US" noProof="0" dirty="0" err="1"/>
              <a:t>mes</a:t>
            </a:r>
            <a:r>
              <a:rPr lang="en-US" noProof="0" dirty="0"/>
              <a:t> a lo largo of the </a:t>
            </a:r>
            <a:r>
              <a:rPr lang="en-US" noProof="0" dirty="0" err="1"/>
              <a:t>periodo</a:t>
            </a:r>
            <a:r>
              <a:rPr lang="en-US" noProof="0" dirty="0"/>
              <a:t> principal.</a:t>
            </a:r>
          </a:p>
        </p:txBody>
      </p:sp>
      <p:sp>
        <p:nvSpPr>
          <p:cNvPr id="56" name="Rounded Rectangle 55"/>
          <p:cNvSpPr/>
          <p:nvPr/>
        </p:nvSpPr>
        <p:spPr>
          <a:xfrm>
            <a:off x="8247888" y="4160520"/>
            <a:ext cx="2971800" cy="1234440"/>
          </a:xfrm>
          <a:prstGeom prst="roundRect">
            <a:avLst/>
          </a:prstGeom>
          <a:solidFill>
            <a:srgbClr val="FCF2EB"/>
          </a:solidFill>
          <a:ln>
            <a:solidFill>
              <a:srgbClr val="FCF2EB"/>
            </a:solidFill>
          </a:ln>
        </p:spPr>
        <p:style>
          <a:lnRef idx="1">
            <a:schemeClr val="accent1"/>
          </a:lnRef>
          <a:fillRef idx="3">
            <a:schemeClr val="accent1"/>
          </a:fillRef>
          <a:effectRef idx="2">
            <a:schemeClr val="accent1"/>
          </a:effectRef>
          <a:fontRef idx="minor">
            <a:schemeClr val="lt1"/>
          </a:fontRef>
        </p:style>
        <p:txBody>
          <a:bodyPr rtlCol="0" anchor="ctr"/>
          <a:lstStyle/>
          <a:p>
            <a:endParaRPr lang="en-US" noProof="0" dirty="0"/>
          </a:p>
        </p:txBody>
      </p:sp>
      <p:sp>
        <p:nvSpPr>
          <p:cNvPr id="57" name="TextBox 56"/>
          <p:cNvSpPr txBox="1"/>
          <p:nvPr/>
        </p:nvSpPr>
        <p:spPr>
          <a:xfrm>
            <a:off x="8485632" y="4462272"/>
            <a:ext cx="2560320" cy="246888"/>
          </a:xfrm>
          <a:prstGeom prst="rect">
            <a:avLst/>
          </a:prstGeom>
          <a:noFill/>
        </p:spPr>
        <p:txBody>
          <a:bodyPr wrap="square" anchor="t">
            <a:spAutoFit/>
          </a:bodyPr>
          <a:lstStyle/>
          <a:p>
            <a:r>
              <a:rPr lang="en-US" noProof="0" dirty="0"/>
              <a:t>Commercial reading</a:t>
            </a:r>
          </a:p>
        </p:txBody>
      </p:sp>
      <p:sp>
        <p:nvSpPr>
          <p:cNvPr id="58" name="TextBox 57"/>
          <p:cNvSpPr txBox="1"/>
          <p:nvPr/>
        </p:nvSpPr>
        <p:spPr>
          <a:xfrm>
            <a:off x="8485632" y="4709160"/>
            <a:ext cx="2468880" cy="411480"/>
          </a:xfrm>
          <a:prstGeom prst="rect">
            <a:avLst/>
          </a:prstGeom>
          <a:noFill/>
        </p:spPr>
        <p:txBody>
          <a:bodyPr wrap="square" anchor="t">
            <a:spAutoFit/>
          </a:bodyPr>
          <a:lstStyle/>
          <a:p>
            <a:r>
              <a:rPr lang="en-US" noProof="0" dirty="0"/>
              <a:t>The TIMELINE favors a sale by milestones, not a simple isolated CAPEX.</a:t>
            </a:r>
          </a:p>
        </p:txBody>
      </p:sp>
      <p:sp>
        <p:nvSpPr>
          <p:cNvPr id="59" name="Rectangle 58"/>
          <p:cNvSpPr/>
          <p:nvPr/>
        </p:nvSpPr>
        <p:spPr>
          <a:xfrm>
            <a:off x="0" y="0"/>
            <a:ext cx="12191695" cy="109728"/>
          </a:xfrm>
          <a:prstGeom prst="rect">
            <a:avLst/>
          </a:prstGeom>
          <a:solidFill>
            <a:srgbClr val="FF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lang="en-US" noProof="0" dirty="0"/>
          </a:p>
        </p:txBody>
      </p:sp>
      <p:sp>
        <p:nvSpPr>
          <p:cNvPr id="60" name="Rectangle 59"/>
          <p:cNvSpPr/>
          <p:nvPr/>
        </p:nvSpPr>
        <p:spPr>
          <a:xfrm>
            <a:off x="0" y="6729984"/>
            <a:ext cx="12191695" cy="128016"/>
          </a:xfrm>
          <a:prstGeom prst="rect">
            <a:avLst/>
          </a:prstGeom>
          <a:solidFill>
            <a:srgbClr val="FF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lang="en-US" noProof="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64592"/>
          </a:xfrm>
          <a:prstGeom prst="rect">
            <a:avLst/>
          </a:prstGeom>
          <a:solidFill>
            <a:srgbClr val="D62E38"/>
          </a:solidFill>
          <a:ln>
            <a:solidFill>
              <a:srgbClr val="D62E38"/>
            </a:solidFill>
          </a:ln>
        </p:spPr>
        <p:style>
          <a:lnRef idx="1">
            <a:schemeClr val="accent1"/>
          </a:lnRef>
          <a:fillRef idx="3">
            <a:schemeClr val="accent1"/>
          </a:fillRef>
          <a:effectRef idx="2">
            <a:schemeClr val="accent1"/>
          </a:effectRef>
          <a:fontRef idx="minor">
            <a:schemeClr val="lt1"/>
          </a:fontRef>
        </p:style>
        <p:txBody>
          <a:bodyPr rtlCol="0" anchor="ctr"/>
          <a:lstStyle/>
          <a:p>
            <a:endParaRPr lang="en-US" noProof="0" dirty="0"/>
          </a:p>
        </p:txBody>
      </p:sp>
      <p:sp>
        <p:nvSpPr>
          <p:cNvPr id="3" name="Rectangle 2"/>
          <p:cNvSpPr/>
          <p:nvPr/>
        </p:nvSpPr>
        <p:spPr>
          <a:xfrm>
            <a:off x="0" y="6473952"/>
            <a:ext cx="12191695" cy="384048"/>
          </a:xfrm>
          <a:prstGeom prst="rect">
            <a:avLst/>
          </a:prstGeom>
          <a:solidFill>
            <a:srgbClr val="15385E"/>
          </a:solidFill>
          <a:ln>
            <a:solidFill>
              <a:srgbClr val="15385E"/>
            </a:solidFill>
          </a:ln>
        </p:spPr>
        <p:style>
          <a:lnRef idx="1">
            <a:schemeClr val="accent1"/>
          </a:lnRef>
          <a:fillRef idx="3">
            <a:schemeClr val="accent1"/>
          </a:fillRef>
          <a:effectRef idx="2">
            <a:schemeClr val="accent1"/>
          </a:effectRef>
          <a:fontRef idx="minor">
            <a:schemeClr val="lt1"/>
          </a:fontRef>
        </p:style>
        <p:txBody>
          <a:bodyPr rtlCol="0" anchor="ctr"/>
          <a:lstStyle/>
          <a:p>
            <a:endParaRPr lang="en-US" noProof="0" dirty="0"/>
          </a:p>
        </p:txBody>
      </p:sp>
      <p:sp>
        <p:nvSpPr>
          <p:cNvPr id="4" name="TextBox 3"/>
          <p:cNvSpPr txBox="1"/>
          <p:nvPr/>
        </p:nvSpPr>
        <p:spPr>
          <a:xfrm>
            <a:off x="411480" y="201168"/>
            <a:ext cx="4572000" cy="274320"/>
          </a:xfrm>
          <a:prstGeom prst="rect">
            <a:avLst/>
          </a:prstGeom>
          <a:noFill/>
        </p:spPr>
        <p:txBody>
          <a:bodyPr wrap="square" anchor="t">
            <a:spAutoFit/>
          </a:bodyPr>
          <a:lstStyle/>
          <a:p>
            <a:r>
              <a:rPr lang="en-US" noProof="0" dirty="0"/>
              <a:t>FAT / SAT</a:t>
            </a:r>
          </a:p>
        </p:txBody>
      </p:sp>
      <p:sp>
        <p:nvSpPr>
          <p:cNvPr id="5" name="TextBox 4"/>
          <p:cNvSpPr txBox="1"/>
          <p:nvPr/>
        </p:nvSpPr>
        <p:spPr>
          <a:xfrm>
            <a:off x="411480" y="6537960"/>
            <a:ext cx="8046720" cy="182880"/>
          </a:xfrm>
          <a:prstGeom prst="rect">
            <a:avLst/>
          </a:prstGeom>
          <a:noFill/>
        </p:spPr>
        <p:txBody>
          <a:bodyPr wrap="square" anchor="t">
            <a:spAutoFit/>
          </a:bodyPr>
          <a:lstStyle/>
          <a:p>
            <a:r>
              <a:rPr lang="en-US" noProof="0" dirty="0"/>
              <a:t>INGECART ENGINEERING &amp; AUDITING</a:t>
            </a:r>
          </a:p>
          <a:p>
            <a:r>
              <a:rPr lang="en-US" noProof="0" dirty="0"/>
              <a:t>LINETEX COMMERCIAL CHANNEL USA</a:t>
            </a:r>
          </a:p>
        </p:txBody>
      </p:sp>
      <p:sp>
        <p:nvSpPr>
          <p:cNvPr id="6" name="TextBox 5"/>
          <p:cNvSpPr txBox="1"/>
          <p:nvPr/>
        </p:nvSpPr>
        <p:spPr>
          <a:xfrm>
            <a:off x="11155680" y="6519672"/>
            <a:ext cx="640080" cy="201168"/>
          </a:xfrm>
          <a:prstGeom prst="rect">
            <a:avLst/>
          </a:prstGeom>
          <a:noFill/>
        </p:spPr>
        <p:txBody>
          <a:bodyPr wrap="square" anchor="t">
            <a:spAutoFit/>
          </a:bodyPr>
          <a:lstStyle/>
          <a:p>
            <a:r>
              <a:rPr lang="en-US" noProof="0" dirty="0"/>
              <a:t>14</a:t>
            </a:r>
          </a:p>
        </p:txBody>
      </p:sp>
      <p:pic>
        <p:nvPicPr>
          <p:cNvPr id="7" name="Picture 6" descr="Copia%20de%20sello%202%20(1)_edited.png"/>
          <p:cNvPicPr>
            <a:picLocks noChangeAspect="1"/>
          </p:cNvPicPr>
          <p:nvPr/>
        </p:nvPicPr>
        <p:blipFill>
          <a:blip r:embed="rId2"/>
          <a:stretch>
            <a:fillRect/>
          </a:stretch>
        </p:blipFill>
        <p:spPr>
          <a:xfrm>
            <a:off x="10771632" y="182880"/>
            <a:ext cx="987552" cy="384048"/>
          </a:xfrm>
          <a:prstGeom prst="rect">
            <a:avLst/>
          </a:prstGeom>
        </p:spPr>
      </p:pic>
      <p:sp>
        <p:nvSpPr>
          <p:cNvPr id="8" name="TextBox 7"/>
          <p:cNvSpPr txBox="1"/>
          <p:nvPr/>
        </p:nvSpPr>
        <p:spPr>
          <a:xfrm>
            <a:off x="548640" y="566928"/>
            <a:ext cx="7863840" cy="594360"/>
          </a:xfrm>
          <a:prstGeom prst="rect">
            <a:avLst/>
          </a:prstGeom>
          <a:noFill/>
        </p:spPr>
        <p:txBody>
          <a:bodyPr wrap="square" anchor="t">
            <a:spAutoFit/>
          </a:bodyPr>
          <a:lstStyle/>
          <a:p>
            <a:r>
              <a:rPr lang="en-US" noProof="0" dirty="0"/>
              <a:t>FAT, SAT and startup</a:t>
            </a:r>
          </a:p>
        </p:txBody>
      </p:sp>
      <p:sp>
        <p:nvSpPr>
          <p:cNvPr id="9" name="TextBox 8"/>
          <p:cNvSpPr txBox="1"/>
          <p:nvPr/>
        </p:nvSpPr>
        <p:spPr>
          <a:xfrm>
            <a:off x="548640" y="1005840"/>
            <a:ext cx="7772400" cy="320040"/>
          </a:xfrm>
          <a:prstGeom prst="rect">
            <a:avLst/>
          </a:prstGeom>
          <a:noFill/>
        </p:spPr>
        <p:txBody>
          <a:bodyPr wrap="square" anchor="t">
            <a:spAutoFit/>
          </a:bodyPr>
          <a:lstStyle/>
          <a:p>
            <a:r>
              <a:rPr lang="en-US" noProof="0" dirty="0"/>
              <a:t>Project credibility depends on closing the validation sequence properly</a:t>
            </a:r>
          </a:p>
        </p:txBody>
      </p:sp>
      <p:sp>
        <p:nvSpPr>
          <p:cNvPr id="10" name="Rounded Rectangle 9"/>
          <p:cNvSpPr/>
          <p:nvPr/>
        </p:nvSpPr>
        <p:spPr>
          <a:xfrm>
            <a:off x="822960" y="1737360"/>
            <a:ext cx="1965960" cy="914400"/>
          </a:xfrm>
          <a:prstGeom prst="roundRect">
            <a:avLst/>
          </a:prstGeom>
          <a:solidFill>
            <a:srgbClr val="296299"/>
          </a:solidFill>
          <a:ln>
            <a:solidFill>
              <a:srgbClr val="296299"/>
            </a:solidFill>
          </a:ln>
        </p:spPr>
        <p:style>
          <a:lnRef idx="1">
            <a:schemeClr val="accent1"/>
          </a:lnRef>
          <a:fillRef idx="3">
            <a:schemeClr val="accent1"/>
          </a:fillRef>
          <a:effectRef idx="2">
            <a:schemeClr val="accent1"/>
          </a:effectRef>
          <a:fontRef idx="minor">
            <a:schemeClr val="lt1"/>
          </a:fontRef>
        </p:style>
        <p:txBody>
          <a:bodyPr rtlCol="0" anchor="ctr"/>
          <a:lstStyle/>
          <a:p>
            <a:endParaRPr lang="en-US" noProof="0" dirty="0"/>
          </a:p>
        </p:txBody>
      </p:sp>
      <p:sp>
        <p:nvSpPr>
          <p:cNvPr id="11" name="TextBox 10"/>
          <p:cNvSpPr txBox="1"/>
          <p:nvPr/>
        </p:nvSpPr>
        <p:spPr>
          <a:xfrm>
            <a:off x="960120" y="2048256"/>
            <a:ext cx="1691640" cy="228600"/>
          </a:xfrm>
          <a:prstGeom prst="rect">
            <a:avLst/>
          </a:prstGeom>
          <a:noFill/>
        </p:spPr>
        <p:txBody>
          <a:bodyPr wrap="square" anchor="t">
            <a:spAutoFit/>
          </a:bodyPr>
          <a:lstStyle/>
          <a:p>
            <a:r>
              <a:rPr lang="en-US" noProof="0" dirty="0"/>
              <a:t>FAT mechanical</a:t>
            </a:r>
          </a:p>
        </p:txBody>
      </p:sp>
      <p:sp>
        <p:nvSpPr>
          <p:cNvPr id="12" name="Rounded Rectangle 11"/>
          <p:cNvSpPr/>
          <p:nvPr/>
        </p:nvSpPr>
        <p:spPr>
          <a:xfrm>
            <a:off x="2971800" y="1737360"/>
            <a:ext cx="7909560" cy="914400"/>
          </a:xfrm>
          <a:prstGeom prst="roundRect">
            <a:avLst/>
          </a:prstGeom>
          <a:solidFill>
            <a:srgbClr val="FFFFFF"/>
          </a:solidFill>
          <a:ln>
            <a:solidFill>
              <a:srgbClr val="E3E5E8"/>
            </a:solidFill>
          </a:ln>
        </p:spPr>
        <p:style>
          <a:lnRef idx="1">
            <a:schemeClr val="accent1"/>
          </a:lnRef>
          <a:fillRef idx="3">
            <a:schemeClr val="accent1"/>
          </a:fillRef>
          <a:effectRef idx="2">
            <a:schemeClr val="accent1"/>
          </a:effectRef>
          <a:fontRef idx="minor">
            <a:schemeClr val="lt1"/>
          </a:fontRef>
        </p:style>
        <p:txBody>
          <a:bodyPr rtlCol="0" anchor="ctr"/>
          <a:lstStyle/>
          <a:p>
            <a:endParaRPr lang="en-US" noProof="0" dirty="0"/>
          </a:p>
        </p:txBody>
      </p:sp>
      <p:sp>
        <p:nvSpPr>
          <p:cNvPr id="13" name="TextBox 12"/>
          <p:cNvSpPr txBox="1"/>
          <p:nvPr/>
        </p:nvSpPr>
        <p:spPr>
          <a:xfrm>
            <a:off x="3246120" y="1993392"/>
            <a:ext cx="7406640" cy="411480"/>
          </a:xfrm>
          <a:prstGeom prst="rect">
            <a:avLst/>
          </a:prstGeom>
          <a:noFill/>
        </p:spPr>
        <p:txBody>
          <a:bodyPr wrap="square" anchor="t">
            <a:spAutoFit/>
          </a:bodyPr>
          <a:lstStyle/>
          <a:p>
            <a:r>
              <a:rPr lang="en-US" noProof="0" dirty="0"/>
              <a:t>Review of reconditioned equipment, checklists and document traceability</a:t>
            </a:r>
          </a:p>
        </p:txBody>
      </p:sp>
      <p:sp>
        <p:nvSpPr>
          <p:cNvPr id="14" name="Rounded Rectangle 13"/>
          <p:cNvSpPr/>
          <p:nvPr/>
        </p:nvSpPr>
        <p:spPr>
          <a:xfrm>
            <a:off x="822960" y="2834640"/>
            <a:ext cx="1965960" cy="914400"/>
          </a:xfrm>
          <a:prstGeom prst="roundRect">
            <a:avLst/>
          </a:prstGeom>
          <a:solidFill>
            <a:srgbClr val="15385E"/>
          </a:solidFill>
          <a:ln>
            <a:solidFill>
              <a:srgbClr val="15385E"/>
            </a:solidFill>
          </a:ln>
        </p:spPr>
        <p:style>
          <a:lnRef idx="1">
            <a:schemeClr val="accent1"/>
          </a:lnRef>
          <a:fillRef idx="3">
            <a:schemeClr val="accent1"/>
          </a:fillRef>
          <a:effectRef idx="2">
            <a:schemeClr val="accent1"/>
          </a:effectRef>
          <a:fontRef idx="minor">
            <a:schemeClr val="lt1"/>
          </a:fontRef>
        </p:style>
        <p:txBody>
          <a:bodyPr rtlCol="0" anchor="ctr"/>
          <a:lstStyle/>
          <a:p>
            <a:endParaRPr lang="en-US" noProof="0" dirty="0"/>
          </a:p>
        </p:txBody>
      </p:sp>
      <p:sp>
        <p:nvSpPr>
          <p:cNvPr id="15" name="TextBox 14"/>
          <p:cNvSpPr txBox="1"/>
          <p:nvPr/>
        </p:nvSpPr>
        <p:spPr>
          <a:xfrm>
            <a:off x="960120" y="3145536"/>
            <a:ext cx="1691640" cy="228600"/>
          </a:xfrm>
          <a:prstGeom prst="rect">
            <a:avLst/>
          </a:prstGeom>
          <a:noFill/>
        </p:spPr>
        <p:txBody>
          <a:bodyPr wrap="square" anchor="t">
            <a:spAutoFit/>
          </a:bodyPr>
          <a:lstStyle/>
          <a:p>
            <a:r>
              <a:rPr lang="en-US" noProof="0" dirty="0"/>
              <a:t>FAT controls</a:t>
            </a:r>
          </a:p>
        </p:txBody>
      </p:sp>
      <p:sp>
        <p:nvSpPr>
          <p:cNvPr id="16" name="Rounded Rectangle 15"/>
          <p:cNvSpPr/>
          <p:nvPr/>
        </p:nvSpPr>
        <p:spPr>
          <a:xfrm>
            <a:off x="2971800" y="2834640"/>
            <a:ext cx="7909560" cy="914400"/>
          </a:xfrm>
          <a:prstGeom prst="roundRect">
            <a:avLst/>
          </a:prstGeom>
          <a:solidFill>
            <a:srgbClr val="FFFFFF"/>
          </a:solidFill>
          <a:ln>
            <a:solidFill>
              <a:srgbClr val="E3E5E8"/>
            </a:solidFill>
          </a:ln>
        </p:spPr>
        <p:style>
          <a:lnRef idx="1">
            <a:schemeClr val="accent1"/>
          </a:lnRef>
          <a:fillRef idx="3">
            <a:schemeClr val="accent1"/>
          </a:fillRef>
          <a:effectRef idx="2">
            <a:schemeClr val="accent1"/>
          </a:effectRef>
          <a:fontRef idx="minor">
            <a:schemeClr val="lt1"/>
          </a:fontRef>
        </p:style>
        <p:txBody>
          <a:bodyPr rtlCol="0" anchor="ctr"/>
          <a:lstStyle/>
          <a:p>
            <a:endParaRPr lang="en-US" noProof="0" dirty="0"/>
          </a:p>
        </p:txBody>
      </p:sp>
      <p:sp>
        <p:nvSpPr>
          <p:cNvPr id="17" name="TextBox 16"/>
          <p:cNvSpPr txBox="1"/>
          <p:nvPr/>
        </p:nvSpPr>
        <p:spPr>
          <a:xfrm>
            <a:off x="3246120" y="3090672"/>
            <a:ext cx="7406640" cy="411480"/>
          </a:xfrm>
          <a:prstGeom prst="rect">
            <a:avLst/>
          </a:prstGeom>
          <a:noFill/>
        </p:spPr>
        <p:txBody>
          <a:bodyPr wrap="square" anchor="t">
            <a:spAutoFit/>
          </a:bodyPr>
          <a:lstStyle/>
          <a:p>
            <a:r>
              <a:rPr lang="en-US" noProof="0" dirty="0" err="1"/>
              <a:t>Secuencias</a:t>
            </a:r>
            <a:r>
              <a:rPr lang="en-US" noProof="0" dirty="0"/>
              <a:t> of </a:t>
            </a:r>
            <a:r>
              <a:rPr lang="en-US" noProof="0" dirty="0" err="1"/>
              <a:t>seguridad</a:t>
            </a:r>
            <a:r>
              <a:rPr lang="en-US" noProof="0" dirty="0"/>
              <a:t>, I/O, recipe logic and handshakes</a:t>
            </a:r>
          </a:p>
        </p:txBody>
      </p:sp>
      <p:sp>
        <p:nvSpPr>
          <p:cNvPr id="18" name="Rounded Rectangle 17"/>
          <p:cNvSpPr/>
          <p:nvPr/>
        </p:nvSpPr>
        <p:spPr>
          <a:xfrm>
            <a:off x="822960" y="3931920"/>
            <a:ext cx="1965960" cy="914400"/>
          </a:xfrm>
          <a:prstGeom prst="roundRect">
            <a:avLst/>
          </a:prstGeom>
          <a:solidFill>
            <a:srgbClr val="D62E38"/>
          </a:solidFill>
          <a:ln>
            <a:solidFill>
              <a:srgbClr val="D62E38"/>
            </a:solidFill>
          </a:ln>
        </p:spPr>
        <p:style>
          <a:lnRef idx="1">
            <a:schemeClr val="accent1"/>
          </a:lnRef>
          <a:fillRef idx="3">
            <a:schemeClr val="accent1"/>
          </a:fillRef>
          <a:effectRef idx="2">
            <a:schemeClr val="accent1"/>
          </a:effectRef>
          <a:fontRef idx="minor">
            <a:schemeClr val="lt1"/>
          </a:fontRef>
        </p:style>
        <p:txBody>
          <a:bodyPr rtlCol="0" anchor="ctr"/>
          <a:lstStyle/>
          <a:p>
            <a:endParaRPr lang="en-US" noProof="0" dirty="0"/>
          </a:p>
        </p:txBody>
      </p:sp>
      <p:sp>
        <p:nvSpPr>
          <p:cNvPr id="19" name="TextBox 18"/>
          <p:cNvSpPr txBox="1"/>
          <p:nvPr/>
        </p:nvSpPr>
        <p:spPr>
          <a:xfrm>
            <a:off x="960120" y="4242816"/>
            <a:ext cx="1691640" cy="228600"/>
          </a:xfrm>
          <a:prstGeom prst="rect">
            <a:avLst/>
          </a:prstGeom>
          <a:noFill/>
        </p:spPr>
        <p:txBody>
          <a:bodyPr wrap="square" anchor="t">
            <a:spAutoFit/>
          </a:bodyPr>
          <a:lstStyle/>
          <a:p>
            <a:r>
              <a:rPr lang="en-US" noProof="0" dirty="0"/>
              <a:t>SAT installation</a:t>
            </a:r>
          </a:p>
        </p:txBody>
      </p:sp>
      <p:sp>
        <p:nvSpPr>
          <p:cNvPr id="20" name="Rounded Rectangle 19"/>
          <p:cNvSpPr/>
          <p:nvPr/>
        </p:nvSpPr>
        <p:spPr>
          <a:xfrm>
            <a:off x="2971800" y="3931920"/>
            <a:ext cx="7909560" cy="914400"/>
          </a:xfrm>
          <a:prstGeom prst="roundRect">
            <a:avLst/>
          </a:prstGeom>
          <a:solidFill>
            <a:srgbClr val="FFFFFF"/>
          </a:solidFill>
          <a:ln>
            <a:solidFill>
              <a:srgbClr val="E3E5E8"/>
            </a:solidFill>
          </a:ln>
        </p:spPr>
        <p:style>
          <a:lnRef idx="1">
            <a:schemeClr val="accent1"/>
          </a:lnRef>
          <a:fillRef idx="3">
            <a:schemeClr val="accent1"/>
          </a:fillRef>
          <a:effectRef idx="2">
            <a:schemeClr val="accent1"/>
          </a:effectRef>
          <a:fontRef idx="minor">
            <a:schemeClr val="lt1"/>
          </a:fontRef>
        </p:style>
        <p:txBody>
          <a:bodyPr rtlCol="0" anchor="ctr"/>
          <a:lstStyle/>
          <a:p>
            <a:endParaRPr lang="en-US" noProof="0" dirty="0"/>
          </a:p>
        </p:txBody>
      </p:sp>
      <p:sp>
        <p:nvSpPr>
          <p:cNvPr id="21" name="TextBox 20"/>
          <p:cNvSpPr txBox="1"/>
          <p:nvPr/>
        </p:nvSpPr>
        <p:spPr>
          <a:xfrm>
            <a:off x="3246120" y="4187952"/>
            <a:ext cx="7406640" cy="411480"/>
          </a:xfrm>
          <a:prstGeom prst="rect">
            <a:avLst/>
          </a:prstGeom>
          <a:noFill/>
        </p:spPr>
        <p:txBody>
          <a:bodyPr wrap="square" anchor="t">
            <a:spAutoFit/>
          </a:bodyPr>
          <a:lstStyle/>
          <a:p>
            <a:r>
              <a:rPr lang="en-US" noProof="0" dirty="0" err="1"/>
              <a:t>Alineacion</a:t>
            </a:r>
            <a:r>
              <a:rPr lang="en-US" noProof="0" dirty="0"/>
              <a:t>, utilities, cold tests and dry run</a:t>
            </a:r>
          </a:p>
        </p:txBody>
      </p:sp>
      <p:sp>
        <p:nvSpPr>
          <p:cNvPr id="22" name="Rounded Rectangle 21"/>
          <p:cNvSpPr/>
          <p:nvPr/>
        </p:nvSpPr>
        <p:spPr>
          <a:xfrm>
            <a:off x="822960" y="5029200"/>
            <a:ext cx="1965960" cy="914400"/>
          </a:xfrm>
          <a:prstGeom prst="roundRect">
            <a:avLst/>
          </a:prstGeom>
          <a:solidFill>
            <a:srgbClr val="E86F37"/>
          </a:solidFill>
          <a:ln>
            <a:solidFill>
              <a:srgbClr val="E86F37"/>
            </a:solidFill>
          </a:ln>
        </p:spPr>
        <p:style>
          <a:lnRef idx="1">
            <a:schemeClr val="accent1"/>
          </a:lnRef>
          <a:fillRef idx="3">
            <a:schemeClr val="accent1"/>
          </a:fillRef>
          <a:effectRef idx="2">
            <a:schemeClr val="accent1"/>
          </a:effectRef>
          <a:fontRef idx="minor">
            <a:schemeClr val="lt1"/>
          </a:fontRef>
        </p:style>
        <p:txBody>
          <a:bodyPr rtlCol="0" anchor="ctr"/>
          <a:lstStyle/>
          <a:p>
            <a:endParaRPr lang="en-US" noProof="0" dirty="0"/>
          </a:p>
        </p:txBody>
      </p:sp>
      <p:sp>
        <p:nvSpPr>
          <p:cNvPr id="23" name="TextBox 22"/>
          <p:cNvSpPr txBox="1"/>
          <p:nvPr/>
        </p:nvSpPr>
        <p:spPr>
          <a:xfrm>
            <a:off x="960120" y="5340096"/>
            <a:ext cx="1691640" cy="228600"/>
          </a:xfrm>
          <a:prstGeom prst="rect">
            <a:avLst/>
          </a:prstGeom>
          <a:noFill/>
        </p:spPr>
        <p:txBody>
          <a:bodyPr wrap="square" anchor="t">
            <a:spAutoFit/>
          </a:bodyPr>
          <a:lstStyle/>
          <a:p>
            <a:r>
              <a:rPr lang="en-US" noProof="0" dirty="0"/>
              <a:t>Ramp-up</a:t>
            </a:r>
          </a:p>
        </p:txBody>
      </p:sp>
      <p:sp>
        <p:nvSpPr>
          <p:cNvPr id="24" name="Rounded Rectangle 23"/>
          <p:cNvSpPr/>
          <p:nvPr/>
        </p:nvSpPr>
        <p:spPr>
          <a:xfrm>
            <a:off x="2971800" y="5029200"/>
            <a:ext cx="7909560" cy="914400"/>
          </a:xfrm>
          <a:prstGeom prst="roundRect">
            <a:avLst/>
          </a:prstGeom>
          <a:solidFill>
            <a:srgbClr val="FFFFFF"/>
          </a:solidFill>
          <a:ln>
            <a:solidFill>
              <a:srgbClr val="E3E5E8"/>
            </a:solidFill>
          </a:ln>
        </p:spPr>
        <p:style>
          <a:lnRef idx="1">
            <a:schemeClr val="accent1"/>
          </a:lnRef>
          <a:fillRef idx="3">
            <a:schemeClr val="accent1"/>
          </a:fillRef>
          <a:effectRef idx="2">
            <a:schemeClr val="accent1"/>
          </a:effectRef>
          <a:fontRef idx="minor">
            <a:schemeClr val="lt1"/>
          </a:fontRef>
        </p:style>
        <p:txBody>
          <a:bodyPr rtlCol="0" anchor="ctr"/>
          <a:lstStyle/>
          <a:p>
            <a:endParaRPr lang="en-US" noProof="0" dirty="0"/>
          </a:p>
        </p:txBody>
      </p:sp>
      <p:sp>
        <p:nvSpPr>
          <p:cNvPr id="25" name="TextBox 24"/>
          <p:cNvSpPr txBox="1"/>
          <p:nvPr/>
        </p:nvSpPr>
        <p:spPr>
          <a:xfrm>
            <a:off x="3246120" y="5285232"/>
            <a:ext cx="7406640" cy="411480"/>
          </a:xfrm>
          <a:prstGeom prst="rect">
            <a:avLst/>
          </a:prstGeom>
          <a:noFill/>
        </p:spPr>
        <p:txBody>
          <a:bodyPr wrap="square" anchor="t">
            <a:spAutoFit/>
          </a:bodyPr>
          <a:lstStyle/>
          <a:p>
            <a:r>
              <a:rPr lang="en-US" noProof="0" dirty="0"/>
              <a:t>Training, acceptance protocol and paso a OPERATION</a:t>
            </a:r>
          </a:p>
        </p:txBody>
      </p:sp>
      <p:sp>
        <p:nvSpPr>
          <p:cNvPr id="26" name="TextBox 25"/>
          <p:cNvSpPr txBox="1"/>
          <p:nvPr/>
        </p:nvSpPr>
        <p:spPr>
          <a:xfrm>
            <a:off x="868680" y="6172200"/>
            <a:ext cx="10058400" cy="228600"/>
          </a:xfrm>
          <a:prstGeom prst="rect">
            <a:avLst/>
          </a:prstGeom>
          <a:noFill/>
        </p:spPr>
        <p:txBody>
          <a:bodyPr wrap="square" anchor="t">
            <a:spAutoFit/>
          </a:bodyPr>
          <a:lstStyle/>
          <a:p>
            <a:r>
              <a:rPr lang="en-US" noProof="0" dirty="0"/>
              <a:t>The right story for the customer: fat/sat is not bureaucracy, it is the tool to make a complex RELOCATION predictable.</a:t>
            </a:r>
          </a:p>
        </p:txBody>
      </p:sp>
      <p:sp>
        <p:nvSpPr>
          <p:cNvPr id="27" name="Rectangle 26"/>
          <p:cNvSpPr/>
          <p:nvPr/>
        </p:nvSpPr>
        <p:spPr>
          <a:xfrm>
            <a:off x="0" y="0"/>
            <a:ext cx="12191695" cy="109728"/>
          </a:xfrm>
          <a:prstGeom prst="rect">
            <a:avLst/>
          </a:prstGeom>
          <a:solidFill>
            <a:srgbClr val="FF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lang="en-US" noProof="0" dirty="0"/>
          </a:p>
        </p:txBody>
      </p:sp>
      <p:sp>
        <p:nvSpPr>
          <p:cNvPr id="28" name="Rectangle 27"/>
          <p:cNvSpPr/>
          <p:nvPr/>
        </p:nvSpPr>
        <p:spPr>
          <a:xfrm>
            <a:off x="0" y="6729984"/>
            <a:ext cx="12191695" cy="128016"/>
          </a:xfrm>
          <a:prstGeom prst="rect">
            <a:avLst/>
          </a:prstGeom>
          <a:solidFill>
            <a:srgbClr val="FF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lang="en-US" noProof="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64592"/>
          </a:xfrm>
          <a:prstGeom prst="rect">
            <a:avLst/>
          </a:prstGeom>
          <a:solidFill>
            <a:srgbClr val="D62E38"/>
          </a:solidFill>
          <a:ln>
            <a:solidFill>
              <a:srgbClr val="D62E38"/>
            </a:solidFill>
          </a:ln>
        </p:spPr>
        <p:style>
          <a:lnRef idx="1">
            <a:schemeClr val="accent1"/>
          </a:lnRef>
          <a:fillRef idx="3">
            <a:schemeClr val="accent1"/>
          </a:fillRef>
          <a:effectRef idx="2">
            <a:schemeClr val="accent1"/>
          </a:effectRef>
          <a:fontRef idx="minor">
            <a:schemeClr val="lt1"/>
          </a:fontRef>
        </p:style>
        <p:txBody>
          <a:bodyPr rtlCol="0" anchor="ctr"/>
          <a:lstStyle/>
          <a:p>
            <a:endParaRPr lang="en-US" noProof="0" dirty="0"/>
          </a:p>
        </p:txBody>
      </p:sp>
      <p:sp>
        <p:nvSpPr>
          <p:cNvPr id="3" name="Rectangle 2"/>
          <p:cNvSpPr/>
          <p:nvPr/>
        </p:nvSpPr>
        <p:spPr>
          <a:xfrm>
            <a:off x="0" y="6473952"/>
            <a:ext cx="12191695" cy="384048"/>
          </a:xfrm>
          <a:prstGeom prst="rect">
            <a:avLst/>
          </a:prstGeom>
          <a:solidFill>
            <a:srgbClr val="15385E"/>
          </a:solidFill>
          <a:ln>
            <a:solidFill>
              <a:srgbClr val="15385E"/>
            </a:solidFill>
          </a:ln>
        </p:spPr>
        <p:style>
          <a:lnRef idx="1">
            <a:schemeClr val="accent1"/>
          </a:lnRef>
          <a:fillRef idx="3">
            <a:schemeClr val="accent1"/>
          </a:fillRef>
          <a:effectRef idx="2">
            <a:schemeClr val="accent1"/>
          </a:effectRef>
          <a:fontRef idx="minor">
            <a:schemeClr val="lt1"/>
          </a:fontRef>
        </p:style>
        <p:txBody>
          <a:bodyPr rtlCol="0" anchor="ctr"/>
          <a:lstStyle/>
          <a:p>
            <a:endParaRPr lang="en-US" noProof="0" dirty="0"/>
          </a:p>
        </p:txBody>
      </p:sp>
      <p:sp>
        <p:nvSpPr>
          <p:cNvPr id="4" name="TextBox 3"/>
          <p:cNvSpPr txBox="1"/>
          <p:nvPr/>
        </p:nvSpPr>
        <p:spPr>
          <a:xfrm>
            <a:off x="411480" y="201168"/>
            <a:ext cx="4572000" cy="274320"/>
          </a:xfrm>
          <a:prstGeom prst="rect">
            <a:avLst/>
          </a:prstGeom>
          <a:noFill/>
        </p:spPr>
        <p:txBody>
          <a:bodyPr wrap="square" anchor="t">
            <a:spAutoFit/>
          </a:bodyPr>
          <a:lstStyle/>
          <a:p>
            <a:r>
              <a:rPr lang="en-US" noProof="0" dirty="0"/>
              <a:t>BENEFITS</a:t>
            </a:r>
          </a:p>
        </p:txBody>
      </p:sp>
      <p:sp>
        <p:nvSpPr>
          <p:cNvPr id="5" name="TextBox 4"/>
          <p:cNvSpPr txBox="1"/>
          <p:nvPr/>
        </p:nvSpPr>
        <p:spPr>
          <a:xfrm>
            <a:off x="411480" y="6537960"/>
            <a:ext cx="8046720" cy="182880"/>
          </a:xfrm>
          <a:prstGeom prst="rect">
            <a:avLst/>
          </a:prstGeom>
          <a:noFill/>
        </p:spPr>
        <p:txBody>
          <a:bodyPr wrap="square" anchor="t">
            <a:spAutoFit/>
          </a:bodyPr>
          <a:lstStyle/>
          <a:p>
            <a:r>
              <a:rPr lang="en-US" noProof="0" dirty="0"/>
              <a:t>INGECART ENGINEERING &amp; AUDITING</a:t>
            </a:r>
          </a:p>
          <a:p>
            <a:r>
              <a:rPr lang="en-US" noProof="0" dirty="0"/>
              <a:t>LINETEX COMMERCIAL CHANNEL USA</a:t>
            </a:r>
          </a:p>
        </p:txBody>
      </p:sp>
      <p:sp>
        <p:nvSpPr>
          <p:cNvPr id="6" name="TextBox 5"/>
          <p:cNvSpPr txBox="1"/>
          <p:nvPr/>
        </p:nvSpPr>
        <p:spPr>
          <a:xfrm>
            <a:off x="11155680" y="6519672"/>
            <a:ext cx="640080" cy="201168"/>
          </a:xfrm>
          <a:prstGeom prst="rect">
            <a:avLst/>
          </a:prstGeom>
          <a:noFill/>
        </p:spPr>
        <p:txBody>
          <a:bodyPr wrap="square" anchor="t">
            <a:spAutoFit/>
          </a:bodyPr>
          <a:lstStyle/>
          <a:p>
            <a:r>
              <a:rPr lang="en-US" noProof="0" dirty="0"/>
              <a:t>15</a:t>
            </a:r>
          </a:p>
        </p:txBody>
      </p:sp>
      <p:pic>
        <p:nvPicPr>
          <p:cNvPr id="7" name="Picture 6" descr="Copia%20de%20sello%202%20(1)_edited.png"/>
          <p:cNvPicPr>
            <a:picLocks noChangeAspect="1"/>
          </p:cNvPicPr>
          <p:nvPr/>
        </p:nvPicPr>
        <p:blipFill>
          <a:blip r:embed="rId2"/>
          <a:stretch>
            <a:fillRect/>
          </a:stretch>
        </p:blipFill>
        <p:spPr>
          <a:xfrm>
            <a:off x="10771632" y="182880"/>
            <a:ext cx="987552" cy="384048"/>
          </a:xfrm>
          <a:prstGeom prst="rect">
            <a:avLst/>
          </a:prstGeom>
        </p:spPr>
      </p:pic>
      <p:sp>
        <p:nvSpPr>
          <p:cNvPr id="8" name="TextBox 7"/>
          <p:cNvSpPr txBox="1"/>
          <p:nvPr/>
        </p:nvSpPr>
        <p:spPr>
          <a:xfrm>
            <a:off x="548640" y="566928"/>
            <a:ext cx="7863840" cy="594360"/>
          </a:xfrm>
          <a:prstGeom prst="rect">
            <a:avLst/>
          </a:prstGeom>
          <a:noFill/>
        </p:spPr>
        <p:txBody>
          <a:bodyPr wrap="square" anchor="t">
            <a:spAutoFit/>
          </a:bodyPr>
          <a:lstStyle/>
          <a:p>
            <a:r>
              <a:rPr lang="en-US" noProof="0" dirty="0"/>
              <a:t>BENEFITS </a:t>
            </a:r>
            <a:r>
              <a:rPr lang="en-US" noProof="0" dirty="0" err="1"/>
              <a:t>esperados</a:t>
            </a:r>
            <a:r>
              <a:rPr lang="en-US" noProof="0" dirty="0"/>
              <a:t> for PSC Visalia</a:t>
            </a:r>
          </a:p>
        </p:txBody>
      </p:sp>
      <p:sp>
        <p:nvSpPr>
          <p:cNvPr id="9" name="TextBox 8"/>
          <p:cNvSpPr txBox="1"/>
          <p:nvPr/>
        </p:nvSpPr>
        <p:spPr>
          <a:xfrm>
            <a:off x="548640" y="1005840"/>
            <a:ext cx="7772400" cy="320040"/>
          </a:xfrm>
          <a:prstGeom prst="rect">
            <a:avLst/>
          </a:prstGeom>
          <a:noFill/>
        </p:spPr>
        <p:txBody>
          <a:bodyPr wrap="square" anchor="t">
            <a:spAutoFit/>
          </a:bodyPr>
          <a:lstStyle/>
          <a:p>
            <a:r>
              <a:rPr lang="en-US" noProof="0" dirty="0"/>
              <a:t>What the client really buys when they buy this solution</a:t>
            </a:r>
          </a:p>
        </p:txBody>
      </p:sp>
      <p:sp>
        <p:nvSpPr>
          <p:cNvPr id="10" name="Rounded Rectangle 9"/>
          <p:cNvSpPr/>
          <p:nvPr/>
        </p:nvSpPr>
        <p:spPr>
          <a:xfrm>
            <a:off x="777240" y="1645920"/>
            <a:ext cx="2560320" cy="1645920"/>
          </a:xfrm>
          <a:prstGeom prst="roundRect">
            <a:avLst/>
          </a:prstGeom>
          <a:solidFill>
            <a:srgbClr val="FFFFFF"/>
          </a:solidFill>
          <a:ln>
            <a:solidFill>
              <a:srgbClr val="E3E5E8"/>
            </a:solidFill>
          </a:ln>
        </p:spPr>
        <p:style>
          <a:lnRef idx="1">
            <a:schemeClr val="accent1"/>
          </a:lnRef>
          <a:fillRef idx="3">
            <a:schemeClr val="accent1"/>
          </a:fillRef>
          <a:effectRef idx="2">
            <a:schemeClr val="accent1"/>
          </a:effectRef>
          <a:fontRef idx="minor">
            <a:schemeClr val="lt1"/>
          </a:fontRef>
        </p:style>
        <p:txBody>
          <a:bodyPr rtlCol="0" anchor="ctr"/>
          <a:lstStyle/>
          <a:p>
            <a:endParaRPr lang="en-US" noProof="0" dirty="0"/>
          </a:p>
        </p:txBody>
      </p:sp>
      <p:sp>
        <p:nvSpPr>
          <p:cNvPr id="11" name="TextBox 10"/>
          <p:cNvSpPr txBox="1"/>
          <p:nvPr/>
        </p:nvSpPr>
        <p:spPr>
          <a:xfrm>
            <a:off x="941832" y="1755648"/>
            <a:ext cx="2231136" cy="256032"/>
          </a:xfrm>
          <a:prstGeom prst="rect">
            <a:avLst/>
          </a:prstGeom>
          <a:noFill/>
        </p:spPr>
        <p:txBody>
          <a:bodyPr wrap="square" anchor="t">
            <a:spAutoFit/>
          </a:bodyPr>
          <a:lstStyle/>
          <a:p>
            <a:r>
              <a:rPr lang="en-US" noProof="0" dirty="0"/>
              <a:t>CONTINUITY</a:t>
            </a:r>
          </a:p>
        </p:txBody>
      </p:sp>
      <p:sp>
        <p:nvSpPr>
          <p:cNvPr id="12" name="TextBox 11"/>
          <p:cNvSpPr txBox="1"/>
          <p:nvPr/>
        </p:nvSpPr>
        <p:spPr>
          <a:xfrm>
            <a:off x="941832" y="2029968"/>
            <a:ext cx="2231136" cy="384048"/>
          </a:xfrm>
          <a:prstGeom prst="rect">
            <a:avLst/>
          </a:prstGeom>
          <a:noFill/>
        </p:spPr>
        <p:txBody>
          <a:bodyPr wrap="square" anchor="t">
            <a:spAutoFit/>
          </a:bodyPr>
          <a:lstStyle/>
          <a:p>
            <a:r>
              <a:rPr lang="en-US" noProof="0" dirty="0"/>
              <a:t>Lower risk</a:t>
            </a:r>
          </a:p>
        </p:txBody>
      </p:sp>
      <p:sp>
        <p:nvSpPr>
          <p:cNvPr id="13" name="TextBox 12"/>
          <p:cNvSpPr txBox="1"/>
          <p:nvPr/>
        </p:nvSpPr>
        <p:spPr>
          <a:xfrm>
            <a:off x="941832" y="2441448"/>
            <a:ext cx="2231136" cy="749808"/>
          </a:xfrm>
          <a:prstGeom prst="rect">
            <a:avLst/>
          </a:prstGeom>
          <a:noFill/>
        </p:spPr>
        <p:txBody>
          <a:bodyPr wrap="square" anchor="t">
            <a:spAutoFit/>
          </a:bodyPr>
          <a:lstStyle/>
          <a:p>
            <a:r>
              <a:rPr lang="en-US" noProof="0" dirty="0"/>
              <a:t>Documented disassembly, planned reinstall and structured support</a:t>
            </a:r>
          </a:p>
        </p:txBody>
      </p:sp>
      <p:sp>
        <p:nvSpPr>
          <p:cNvPr id="14" name="Rounded Rectangle 13"/>
          <p:cNvSpPr/>
          <p:nvPr/>
        </p:nvSpPr>
        <p:spPr>
          <a:xfrm>
            <a:off x="3566160" y="1645920"/>
            <a:ext cx="2560320" cy="1645920"/>
          </a:xfrm>
          <a:prstGeom prst="roundRect">
            <a:avLst/>
          </a:prstGeom>
          <a:solidFill>
            <a:srgbClr val="E3ECF4"/>
          </a:solidFill>
          <a:ln>
            <a:solidFill>
              <a:srgbClr val="E3E5E8"/>
            </a:solidFill>
          </a:ln>
        </p:spPr>
        <p:style>
          <a:lnRef idx="1">
            <a:schemeClr val="accent1"/>
          </a:lnRef>
          <a:fillRef idx="3">
            <a:schemeClr val="accent1"/>
          </a:fillRef>
          <a:effectRef idx="2">
            <a:schemeClr val="accent1"/>
          </a:effectRef>
          <a:fontRef idx="minor">
            <a:schemeClr val="lt1"/>
          </a:fontRef>
        </p:style>
        <p:txBody>
          <a:bodyPr rtlCol="0" anchor="ctr"/>
          <a:lstStyle/>
          <a:p>
            <a:endParaRPr lang="en-US" noProof="0" dirty="0"/>
          </a:p>
        </p:txBody>
      </p:sp>
      <p:sp>
        <p:nvSpPr>
          <p:cNvPr id="15" name="TextBox 14"/>
          <p:cNvSpPr txBox="1"/>
          <p:nvPr/>
        </p:nvSpPr>
        <p:spPr>
          <a:xfrm>
            <a:off x="3730752" y="1755648"/>
            <a:ext cx="2231136" cy="256032"/>
          </a:xfrm>
          <a:prstGeom prst="rect">
            <a:avLst/>
          </a:prstGeom>
          <a:noFill/>
        </p:spPr>
        <p:txBody>
          <a:bodyPr wrap="square" anchor="t">
            <a:spAutoFit/>
          </a:bodyPr>
          <a:lstStyle/>
          <a:p>
            <a:r>
              <a:rPr lang="en-US" noProof="0" dirty="0"/>
              <a:t>PRODUCTION</a:t>
            </a:r>
          </a:p>
        </p:txBody>
      </p:sp>
      <p:sp>
        <p:nvSpPr>
          <p:cNvPr id="16" name="TextBox 15"/>
          <p:cNvSpPr txBox="1"/>
          <p:nvPr/>
        </p:nvSpPr>
        <p:spPr>
          <a:xfrm>
            <a:off x="3730752" y="2029968"/>
            <a:ext cx="2231136" cy="384048"/>
          </a:xfrm>
          <a:prstGeom prst="rect">
            <a:avLst/>
          </a:prstGeom>
          <a:noFill/>
        </p:spPr>
        <p:txBody>
          <a:bodyPr wrap="square" anchor="t">
            <a:spAutoFit/>
          </a:bodyPr>
          <a:lstStyle/>
          <a:p>
            <a:r>
              <a:rPr lang="en-US" noProof="0" dirty="0"/>
              <a:t>More control</a:t>
            </a:r>
          </a:p>
        </p:txBody>
      </p:sp>
      <p:sp>
        <p:nvSpPr>
          <p:cNvPr id="17" name="TextBox 16"/>
          <p:cNvSpPr txBox="1"/>
          <p:nvPr/>
        </p:nvSpPr>
        <p:spPr>
          <a:xfrm>
            <a:off x="3730752" y="2441448"/>
            <a:ext cx="2231136" cy="749808"/>
          </a:xfrm>
          <a:prstGeom prst="rect">
            <a:avLst/>
          </a:prstGeom>
          <a:noFill/>
        </p:spPr>
        <p:txBody>
          <a:bodyPr wrap="square" anchor="t">
            <a:spAutoFit/>
          </a:bodyPr>
          <a:lstStyle/>
          <a:p>
            <a:r>
              <a:rPr lang="en-US" noProof="0" dirty="0"/>
              <a:t>Robust BHS base with redesigned handling around the line outlet</a:t>
            </a:r>
          </a:p>
        </p:txBody>
      </p:sp>
      <p:sp>
        <p:nvSpPr>
          <p:cNvPr id="18" name="Rounded Rectangle 17"/>
          <p:cNvSpPr/>
          <p:nvPr/>
        </p:nvSpPr>
        <p:spPr>
          <a:xfrm>
            <a:off x="6355080" y="1645920"/>
            <a:ext cx="2560320" cy="1645920"/>
          </a:xfrm>
          <a:prstGeom prst="roundRect">
            <a:avLst/>
          </a:prstGeom>
          <a:solidFill>
            <a:srgbClr val="FCF2EB"/>
          </a:solidFill>
          <a:ln>
            <a:solidFill>
              <a:srgbClr val="E3E5E8"/>
            </a:solidFill>
          </a:ln>
        </p:spPr>
        <p:style>
          <a:lnRef idx="1">
            <a:schemeClr val="accent1"/>
          </a:lnRef>
          <a:fillRef idx="3">
            <a:schemeClr val="accent1"/>
          </a:fillRef>
          <a:effectRef idx="2">
            <a:schemeClr val="accent1"/>
          </a:effectRef>
          <a:fontRef idx="minor">
            <a:schemeClr val="lt1"/>
          </a:fontRef>
        </p:style>
        <p:txBody>
          <a:bodyPr rtlCol="0" anchor="ctr"/>
          <a:lstStyle/>
          <a:p>
            <a:endParaRPr lang="en-US" noProof="0" dirty="0"/>
          </a:p>
        </p:txBody>
      </p:sp>
      <p:sp>
        <p:nvSpPr>
          <p:cNvPr id="19" name="TextBox 18"/>
          <p:cNvSpPr txBox="1"/>
          <p:nvPr/>
        </p:nvSpPr>
        <p:spPr>
          <a:xfrm>
            <a:off x="6519672" y="1755648"/>
            <a:ext cx="2231136" cy="256032"/>
          </a:xfrm>
          <a:prstGeom prst="rect">
            <a:avLst/>
          </a:prstGeom>
          <a:noFill/>
        </p:spPr>
        <p:txBody>
          <a:bodyPr wrap="square" anchor="t">
            <a:spAutoFit/>
          </a:bodyPr>
          <a:lstStyle/>
          <a:p>
            <a:r>
              <a:rPr lang="en-US" noProof="0" dirty="0"/>
              <a:t>PEOPLE &amp; SAFETY</a:t>
            </a:r>
          </a:p>
        </p:txBody>
      </p:sp>
      <p:sp>
        <p:nvSpPr>
          <p:cNvPr id="20" name="TextBox 19"/>
          <p:cNvSpPr txBox="1"/>
          <p:nvPr/>
        </p:nvSpPr>
        <p:spPr>
          <a:xfrm>
            <a:off x="6519672" y="2029968"/>
            <a:ext cx="2231136" cy="384048"/>
          </a:xfrm>
          <a:prstGeom prst="rect">
            <a:avLst/>
          </a:prstGeom>
          <a:noFill/>
        </p:spPr>
        <p:txBody>
          <a:bodyPr wrap="square" anchor="t">
            <a:spAutoFit/>
          </a:bodyPr>
          <a:lstStyle/>
          <a:p>
            <a:r>
              <a:rPr lang="en-US" noProof="0" dirty="0"/>
              <a:t>Lower friction</a:t>
            </a:r>
          </a:p>
        </p:txBody>
      </p:sp>
      <p:sp>
        <p:nvSpPr>
          <p:cNvPr id="21" name="TextBox 20"/>
          <p:cNvSpPr txBox="1"/>
          <p:nvPr/>
        </p:nvSpPr>
        <p:spPr>
          <a:xfrm>
            <a:off x="6519672" y="2441448"/>
            <a:ext cx="2231136" cy="749808"/>
          </a:xfrm>
          <a:prstGeom prst="rect">
            <a:avLst/>
          </a:prstGeom>
          <a:noFill/>
        </p:spPr>
        <p:txBody>
          <a:bodyPr wrap="square" anchor="t">
            <a:spAutoFit/>
          </a:bodyPr>
          <a:lstStyle/>
          <a:p>
            <a:r>
              <a:rPr lang="en-US" noProof="0" dirty="0"/>
              <a:t>Better roll management, stacking and internal traffic</a:t>
            </a:r>
          </a:p>
        </p:txBody>
      </p:sp>
      <p:sp>
        <p:nvSpPr>
          <p:cNvPr id="22" name="Rounded Rectangle 21"/>
          <p:cNvSpPr/>
          <p:nvPr/>
        </p:nvSpPr>
        <p:spPr>
          <a:xfrm>
            <a:off x="9144000" y="1645920"/>
            <a:ext cx="2103120" cy="1645920"/>
          </a:xfrm>
          <a:prstGeom prst="roundRect">
            <a:avLst/>
          </a:prstGeom>
          <a:solidFill>
            <a:srgbClr val="FCECEC"/>
          </a:solidFill>
          <a:ln>
            <a:solidFill>
              <a:srgbClr val="E3E5E8"/>
            </a:solidFill>
          </a:ln>
        </p:spPr>
        <p:style>
          <a:lnRef idx="1">
            <a:schemeClr val="accent1"/>
          </a:lnRef>
          <a:fillRef idx="3">
            <a:schemeClr val="accent1"/>
          </a:fillRef>
          <a:effectRef idx="2">
            <a:schemeClr val="accent1"/>
          </a:effectRef>
          <a:fontRef idx="minor">
            <a:schemeClr val="lt1"/>
          </a:fontRef>
        </p:style>
        <p:txBody>
          <a:bodyPr rtlCol="0" anchor="ctr"/>
          <a:lstStyle/>
          <a:p>
            <a:endParaRPr lang="en-US" noProof="0" dirty="0"/>
          </a:p>
        </p:txBody>
      </p:sp>
      <p:sp>
        <p:nvSpPr>
          <p:cNvPr id="23" name="TextBox 22"/>
          <p:cNvSpPr txBox="1"/>
          <p:nvPr/>
        </p:nvSpPr>
        <p:spPr>
          <a:xfrm>
            <a:off x="9308592" y="1755648"/>
            <a:ext cx="1773936" cy="256032"/>
          </a:xfrm>
          <a:prstGeom prst="rect">
            <a:avLst/>
          </a:prstGeom>
          <a:noFill/>
        </p:spPr>
        <p:txBody>
          <a:bodyPr wrap="square" anchor="t">
            <a:spAutoFit/>
          </a:bodyPr>
          <a:lstStyle/>
          <a:p>
            <a:r>
              <a:rPr lang="en-US" noProof="0" dirty="0"/>
              <a:t>SCALABILITY</a:t>
            </a:r>
          </a:p>
        </p:txBody>
      </p:sp>
      <p:sp>
        <p:nvSpPr>
          <p:cNvPr id="24" name="TextBox 23"/>
          <p:cNvSpPr txBox="1"/>
          <p:nvPr/>
        </p:nvSpPr>
        <p:spPr>
          <a:xfrm>
            <a:off x="9308592" y="2029968"/>
            <a:ext cx="1773936" cy="384048"/>
          </a:xfrm>
          <a:prstGeom prst="rect">
            <a:avLst/>
          </a:prstGeom>
          <a:noFill/>
        </p:spPr>
        <p:txBody>
          <a:bodyPr wrap="square" anchor="t">
            <a:spAutoFit/>
          </a:bodyPr>
          <a:lstStyle/>
          <a:p>
            <a:r>
              <a:rPr lang="en-US" noProof="0" dirty="0"/>
              <a:t>AMR-ready</a:t>
            </a:r>
          </a:p>
        </p:txBody>
      </p:sp>
      <p:sp>
        <p:nvSpPr>
          <p:cNvPr id="25" name="TextBox 24"/>
          <p:cNvSpPr txBox="1"/>
          <p:nvPr/>
        </p:nvSpPr>
        <p:spPr>
          <a:xfrm>
            <a:off x="9308592" y="2441448"/>
            <a:ext cx="1773936" cy="749808"/>
          </a:xfrm>
          <a:prstGeom prst="rect">
            <a:avLst/>
          </a:prstGeom>
          <a:noFill/>
        </p:spPr>
        <p:txBody>
          <a:bodyPr wrap="square" anchor="t">
            <a:spAutoFit/>
          </a:bodyPr>
          <a:lstStyle/>
          <a:p>
            <a:r>
              <a:rPr lang="en-US" noProof="0" dirty="0" err="1"/>
              <a:t>Flujo</a:t>
            </a:r>
            <a:r>
              <a:rPr lang="en-US" noProof="0" dirty="0"/>
              <a:t> </a:t>
            </a:r>
            <a:r>
              <a:rPr lang="en-US" noProof="0" dirty="0" err="1"/>
              <a:t>preparado</a:t>
            </a:r>
            <a:r>
              <a:rPr lang="en-US" noProof="0" dirty="0"/>
              <a:t> for </a:t>
            </a:r>
            <a:r>
              <a:rPr lang="en-US" noProof="0" dirty="0" err="1"/>
              <a:t>siguientes</a:t>
            </a:r>
            <a:r>
              <a:rPr lang="en-US" noProof="0" dirty="0"/>
              <a:t> </a:t>
            </a:r>
            <a:r>
              <a:rPr lang="en-US" noProof="0" dirty="0" err="1"/>
              <a:t>capas</a:t>
            </a:r>
            <a:r>
              <a:rPr lang="en-US" noProof="0" dirty="0"/>
              <a:t> of </a:t>
            </a:r>
            <a:r>
              <a:rPr lang="en-US" noProof="0" dirty="0" err="1"/>
              <a:t>automatizacion</a:t>
            </a:r>
            <a:endParaRPr lang="en-US" noProof="0" dirty="0"/>
          </a:p>
        </p:txBody>
      </p:sp>
      <p:sp>
        <p:nvSpPr>
          <p:cNvPr id="26" name="Rounded Rectangle 25"/>
          <p:cNvSpPr/>
          <p:nvPr/>
        </p:nvSpPr>
        <p:spPr>
          <a:xfrm>
            <a:off x="822960" y="3794760"/>
            <a:ext cx="10378440" cy="1783080"/>
          </a:xfrm>
          <a:prstGeom prst="roundRect">
            <a:avLst/>
          </a:prstGeom>
          <a:solidFill>
            <a:srgbClr val="15385E"/>
          </a:solidFill>
          <a:ln>
            <a:solidFill>
              <a:srgbClr val="15385E"/>
            </a:solidFill>
          </a:ln>
        </p:spPr>
        <p:style>
          <a:lnRef idx="1">
            <a:schemeClr val="accent1"/>
          </a:lnRef>
          <a:fillRef idx="3">
            <a:schemeClr val="accent1"/>
          </a:fillRef>
          <a:effectRef idx="2">
            <a:schemeClr val="accent1"/>
          </a:effectRef>
          <a:fontRef idx="minor">
            <a:schemeClr val="lt1"/>
          </a:fontRef>
        </p:style>
        <p:txBody>
          <a:bodyPr rtlCol="0" anchor="ctr"/>
          <a:lstStyle/>
          <a:p>
            <a:endParaRPr lang="en-US" noProof="0" dirty="0"/>
          </a:p>
        </p:txBody>
      </p:sp>
      <p:sp>
        <p:nvSpPr>
          <p:cNvPr id="27" name="TextBox 26"/>
          <p:cNvSpPr txBox="1"/>
          <p:nvPr/>
        </p:nvSpPr>
        <p:spPr>
          <a:xfrm>
            <a:off x="1143000" y="4160520"/>
            <a:ext cx="9784080" cy="822960"/>
          </a:xfrm>
          <a:prstGeom prst="rect">
            <a:avLst/>
          </a:prstGeom>
          <a:noFill/>
        </p:spPr>
        <p:txBody>
          <a:bodyPr wrap="square" anchor="t">
            <a:spAutoFit/>
          </a:bodyPr>
          <a:lstStyle/>
          <a:p>
            <a:r>
              <a:rPr lang="en-US" noProof="0" dirty="0"/>
              <a:t>The commercial key is to talk about operational transformation: greater internal order, better maintenance, a less chaotic corrugator output and an infrastructure ready to grow with future automation.</a:t>
            </a:r>
          </a:p>
        </p:txBody>
      </p:sp>
      <p:sp>
        <p:nvSpPr>
          <p:cNvPr id="28" name="Rectangle 27"/>
          <p:cNvSpPr/>
          <p:nvPr/>
        </p:nvSpPr>
        <p:spPr>
          <a:xfrm>
            <a:off x="0" y="0"/>
            <a:ext cx="12191695" cy="109728"/>
          </a:xfrm>
          <a:prstGeom prst="rect">
            <a:avLst/>
          </a:prstGeom>
          <a:solidFill>
            <a:srgbClr val="FF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lang="en-US" noProof="0" dirty="0"/>
          </a:p>
        </p:txBody>
      </p:sp>
      <p:sp>
        <p:nvSpPr>
          <p:cNvPr id="29" name="Rectangle 28"/>
          <p:cNvSpPr/>
          <p:nvPr/>
        </p:nvSpPr>
        <p:spPr>
          <a:xfrm>
            <a:off x="0" y="6729984"/>
            <a:ext cx="12191695" cy="128016"/>
          </a:xfrm>
          <a:prstGeom prst="rect">
            <a:avLst/>
          </a:prstGeom>
          <a:solidFill>
            <a:srgbClr val="FF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lang="en-US" noProof="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64592"/>
          </a:xfrm>
          <a:prstGeom prst="rect">
            <a:avLst/>
          </a:prstGeom>
          <a:solidFill>
            <a:srgbClr val="D62E38"/>
          </a:solidFill>
          <a:ln>
            <a:solidFill>
              <a:srgbClr val="D62E38"/>
            </a:solidFill>
          </a:ln>
        </p:spPr>
        <p:style>
          <a:lnRef idx="1">
            <a:schemeClr val="accent1"/>
          </a:lnRef>
          <a:fillRef idx="3">
            <a:schemeClr val="accent1"/>
          </a:fillRef>
          <a:effectRef idx="2">
            <a:schemeClr val="accent1"/>
          </a:effectRef>
          <a:fontRef idx="minor">
            <a:schemeClr val="lt1"/>
          </a:fontRef>
        </p:style>
        <p:txBody>
          <a:bodyPr rtlCol="0" anchor="ctr"/>
          <a:lstStyle/>
          <a:p>
            <a:endParaRPr lang="en-US" noProof="0" dirty="0"/>
          </a:p>
        </p:txBody>
      </p:sp>
      <p:sp>
        <p:nvSpPr>
          <p:cNvPr id="3" name="Rectangle 2"/>
          <p:cNvSpPr/>
          <p:nvPr/>
        </p:nvSpPr>
        <p:spPr>
          <a:xfrm>
            <a:off x="0" y="6473952"/>
            <a:ext cx="12191695" cy="384048"/>
          </a:xfrm>
          <a:prstGeom prst="rect">
            <a:avLst/>
          </a:prstGeom>
          <a:solidFill>
            <a:srgbClr val="15385E"/>
          </a:solidFill>
          <a:ln>
            <a:solidFill>
              <a:srgbClr val="15385E"/>
            </a:solidFill>
          </a:ln>
        </p:spPr>
        <p:style>
          <a:lnRef idx="1">
            <a:schemeClr val="accent1"/>
          </a:lnRef>
          <a:fillRef idx="3">
            <a:schemeClr val="accent1"/>
          </a:fillRef>
          <a:effectRef idx="2">
            <a:schemeClr val="accent1"/>
          </a:effectRef>
          <a:fontRef idx="minor">
            <a:schemeClr val="lt1"/>
          </a:fontRef>
        </p:style>
        <p:txBody>
          <a:bodyPr rtlCol="0" anchor="ctr"/>
          <a:lstStyle/>
          <a:p>
            <a:endParaRPr lang="en-US" noProof="0" dirty="0"/>
          </a:p>
        </p:txBody>
      </p:sp>
      <p:sp>
        <p:nvSpPr>
          <p:cNvPr id="4" name="TextBox 3"/>
          <p:cNvSpPr txBox="1"/>
          <p:nvPr/>
        </p:nvSpPr>
        <p:spPr>
          <a:xfrm>
            <a:off x="411480" y="201168"/>
            <a:ext cx="4572000" cy="274320"/>
          </a:xfrm>
          <a:prstGeom prst="rect">
            <a:avLst/>
          </a:prstGeom>
          <a:noFill/>
        </p:spPr>
        <p:txBody>
          <a:bodyPr wrap="square" anchor="t">
            <a:spAutoFit/>
          </a:bodyPr>
          <a:lstStyle/>
          <a:p>
            <a:r>
              <a:rPr lang="en-US" noProof="0" dirty="0"/>
              <a:t>DIFFERENTIATORS</a:t>
            </a:r>
          </a:p>
        </p:txBody>
      </p:sp>
      <p:sp>
        <p:nvSpPr>
          <p:cNvPr id="5" name="TextBox 4"/>
          <p:cNvSpPr txBox="1"/>
          <p:nvPr/>
        </p:nvSpPr>
        <p:spPr>
          <a:xfrm>
            <a:off x="411480" y="6537960"/>
            <a:ext cx="8046720" cy="182880"/>
          </a:xfrm>
          <a:prstGeom prst="rect">
            <a:avLst/>
          </a:prstGeom>
          <a:noFill/>
        </p:spPr>
        <p:txBody>
          <a:bodyPr wrap="square" anchor="t">
            <a:spAutoFit/>
          </a:bodyPr>
          <a:lstStyle/>
          <a:p>
            <a:r>
              <a:rPr lang="en-US" noProof="0" dirty="0"/>
              <a:t>INGECART ENGINEERING &amp; AUDITING</a:t>
            </a:r>
          </a:p>
          <a:p>
            <a:r>
              <a:rPr lang="en-US" noProof="0" dirty="0"/>
              <a:t>LINETEX COMMERCIAL CHANNEL USA</a:t>
            </a:r>
          </a:p>
        </p:txBody>
      </p:sp>
      <p:sp>
        <p:nvSpPr>
          <p:cNvPr id="6" name="TextBox 5"/>
          <p:cNvSpPr txBox="1"/>
          <p:nvPr/>
        </p:nvSpPr>
        <p:spPr>
          <a:xfrm>
            <a:off x="11155680" y="6519672"/>
            <a:ext cx="640080" cy="201168"/>
          </a:xfrm>
          <a:prstGeom prst="rect">
            <a:avLst/>
          </a:prstGeom>
          <a:noFill/>
        </p:spPr>
        <p:txBody>
          <a:bodyPr wrap="square" anchor="t">
            <a:spAutoFit/>
          </a:bodyPr>
          <a:lstStyle/>
          <a:p>
            <a:r>
              <a:rPr lang="en-US" noProof="0" dirty="0"/>
              <a:t>16</a:t>
            </a:r>
          </a:p>
        </p:txBody>
      </p:sp>
      <p:pic>
        <p:nvPicPr>
          <p:cNvPr id="7" name="Picture 6" descr="Copia%20de%20sello%202%20(1)_edited.png"/>
          <p:cNvPicPr>
            <a:picLocks noChangeAspect="1"/>
          </p:cNvPicPr>
          <p:nvPr/>
        </p:nvPicPr>
        <p:blipFill>
          <a:blip r:embed="rId2"/>
          <a:stretch>
            <a:fillRect/>
          </a:stretch>
        </p:blipFill>
        <p:spPr>
          <a:xfrm>
            <a:off x="10771632" y="182880"/>
            <a:ext cx="987552" cy="384048"/>
          </a:xfrm>
          <a:prstGeom prst="rect">
            <a:avLst/>
          </a:prstGeom>
        </p:spPr>
      </p:pic>
      <p:sp>
        <p:nvSpPr>
          <p:cNvPr id="8" name="TextBox 7"/>
          <p:cNvSpPr txBox="1"/>
          <p:nvPr/>
        </p:nvSpPr>
        <p:spPr>
          <a:xfrm>
            <a:off x="548640" y="566928"/>
            <a:ext cx="7863840" cy="594360"/>
          </a:xfrm>
          <a:prstGeom prst="rect">
            <a:avLst/>
          </a:prstGeom>
          <a:noFill/>
        </p:spPr>
        <p:txBody>
          <a:bodyPr wrap="square" anchor="t">
            <a:spAutoFit/>
          </a:bodyPr>
          <a:lstStyle/>
          <a:p>
            <a:r>
              <a:rPr lang="en-US" noProof="0" dirty="0"/>
              <a:t>Why Ingecart + </a:t>
            </a:r>
            <a:r>
              <a:rPr lang="en-US" noProof="0" dirty="0" err="1"/>
              <a:t>Linetex</a:t>
            </a:r>
            <a:r>
              <a:rPr lang="en-US" noProof="0" dirty="0"/>
              <a:t> can sell this project</a:t>
            </a:r>
          </a:p>
        </p:txBody>
      </p:sp>
      <p:sp>
        <p:nvSpPr>
          <p:cNvPr id="9" name="TextBox 8"/>
          <p:cNvSpPr txBox="1"/>
          <p:nvPr/>
        </p:nvSpPr>
        <p:spPr>
          <a:xfrm>
            <a:off x="548640" y="1005840"/>
            <a:ext cx="7772400" cy="320040"/>
          </a:xfrm>
          <a:prstGeom prst="rect">
            <a:avLst/>
          </a:prstGeom>
          <a:noFill/>
        </p:spPr>
        <p:txBody>
          <a:bodyPr wrap="square" anchor="t">
            <a:spAutoFit/>
          </a:bodyPr>
          <a:lstStyle/>
          <a:p>
            <a:r>
              <a:rPr lang="en-US" noProof="0" dirty="0"/>
              <a:t>This is not a simple second-hand equipment purchase</a:t>
            </a:r>
          </a:p>
        </p:txBody>
      </p:sp>
      <p:sp>
        <p:nvSpPr>
          <p:cNvPr id="10" name="TextBox 9"/>
          <p:cNvSpPr txBox="1"/>
          <p:nvPr/>
        </p:nvSpPr>
        <p:spPr>
          <a:xfrm>
            <a:off x="841248" y="1737360"/>
            <a:ext cx="4892040" cy="4297680"/>
          </a:xfrm>
          <a:prstGeom prst="rect">
            <a:avLst/>
          </a:prstGeom>
          <a:noFill/>
        </p:spPr>
        <p:txBody>
          <a:bodyPr wrap="square">
            <a:spAutoFit/>
          </a:bodyPr>
          <a:lstStyle/>
          <a:p>
            <a:r>
              <a:rPr lang="en-US" noProof="0" dirty="0"/>
              <a:t>Ingecart combines mechanical, electrical and logistical vision in a single technical speech. </a:t>
            </a:r>
            <a:r>
              <a:rPr lang="en-US" noProof="0" dirty="0" err="1"/>
              <a:t>Linetex</a:t>
            </a:r>
            <a:r>
              <a:rPr lang="en-US" noProof="0" dirty="0"/>
              <a:t> works as a brand/marketing in the USA, bringing the project closer to the end customer. The proposal unites the main team, handling, software and start-up phase in a single story. The differential value is in converting dispersed assets into a cohesive industrial solution.</a:t>
            </a:r>
          </a:p>
        </p:txBody>
      </p:sp>
      <p:sp>
        <p:nvSpPr>
          <p:cNvPr id="11" name="Rounded Rectangle 10"/>
          <p:cNvSpPr/>
          <p:nvPr/>
        </p:nvSpPr>
        <p:spPr>
          <a:xfrm>
            <a:off x="5989320" y="1737360"/>
            <a:ext cx="4983480" cy="4297680"/>
          </a:xfrm>
          <a:prstGeom prst="roundRect">
            <a:avLst/>
          </a:prstGeom>
          <a:solidFill>
            <a:srgbClr val="E3ECF4"/>
          </a:solidFill>
          <a:ln>
            <a:solidFill>
              <a:srgbClr val="E3ECF4"/>
            </a:solidFill>
          </a:ln>
        </p:spPr>
        <p:style>
          <a:lnRef idx="1">
            <a:schemeClr val="accent1"/>
          </a:lnRef>
          <a:fillRef idx="3">
            <a:schemeClr val="accent1"/>
          </a:fillRef>
          <a:effectRef idx="2">
            <a:schemeClr val="accent1"/>
          </a:effectRef>
          <a:fontRef idx="minor">
            <a:schemeClr val="lt1"/>
          </a:fontRef>
        </p:style>
        <p:txBody>
          <a:bodyPr rtlCol="0" anchor="ctr"/>
          <a:lstStyle/>
          <a:p>
            <a:endParaRPr lang="en-US" noProof="0" dirty="0"/>
          </a:p>
        </p:txBody>
      </p:sp>
      <p:sp>
        <p:nvSpPr>
          <p:cNvPr id="12" name="TextBox 11"/>
          <p:cNvSpPr txBox="1"/>
          <p:nvPr/>
        </p:nvSpPr>
        <p:spPr>
          <a:xfrm>
            <a:off x="6291072" y="2029968"/>
            <a:ext cx="4389120" cy="256032"/>
          </a:xfrm>
          <a:prstGeom prst="rect">
            <a:avLst/>
          </a:prstGeom>
          <a:noFill/>
        </p:spPr>
        <p:txBody>
          <a:bodyPr wrap="square" anchor="t">
            <a:spAutoFit/>
          </a:bodyPr>
          <a:lstStyle/>
          <a:p>
            <a:r>
              <a:rPr lang="en-US" noProof="0" dirty="0"/>
              <a:t>PARTNERSHIP MESSAGE</a:t>
            </a:r>
          </a:p>
        </p:txBody>
      </p:sp>
      <p:sp>
        <p:nvSpPr>
          <p:cNvPr id="13" name="TextBox 12"/>
          <p:cNvSpPr txBox="1"/>
          <p:nvPr/>
        </p:nvSpPr>
        <p:spPr>
          <a:xfrm>
            <a:off x="6291072" y="2468880"/>
            <a:ext cx="4160520" cy="2377440"/>
          </a:xfrm>
          <a:prstGeom prst="rect">
            <a:avLst/>
          </a:prstGeom>
          <a:noFill/>
        </p:spPr>
        <p:txBody>
          <a:bodyPr wrap="square" anchor="t">
            <a:spAutoFit/>
          </a:bodyPr>
          <a:lstStyle/>
          <a:p>
            <a:r>
              <a:rPr lang="en-US" noProof="0" dirty="0" err="1"/>
              <a:t>Linetex</a:t>
            </a:r>
            <a:r>
              <a:rPr lang="en-US" noProof="0" dirty="0"/>
              <a:t> must appear as the commercial face in the United States, while Ingecart supports the content of engineering, integration, coordination of the disassembly and commissioning. That reduces business distance without depleting technical value.</a:t>
            </a:r>
          </a:p>
        </p:txBody>
      </p:sp>
      <p:sp>
        <p:nvSpPr>
          <p:cNvPr id="14" name="Rectangle 13"/>
          <p:cNvSpPr/>
          <p:nvPr/>
        </p:nvSpPr>
        <p:spPr>
          <a:xfrm>
            <a:off x="0" y="0"/>
            <a:ext cx="12191695" cy="109728"/>
          </a:xfrm>
          <a:prstGeom prst="rect">
            <a:avLst/>
          </a:prstGeom>
          <a:solidFill>
            <a:srgbClr val="FF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lang="en-US" noProof="0" dirty="0"/>
          </a:p>
        </p:txBody>
      </p:sp>
      <p:sp>
        <p:nvSpPr>
          <p:cNvPr id="15" name="Rectangle 14"/>
          <p:cNvSpPr/>
          <p:nvPr/>
        </p:nvSpPr>
        <p:spPr>
          <a:xfrm>
            <a:off x="0" y="6729984"/>
            <a:ext cx="12191695" cy="128016"/>
          </a:xfrm>
          <a:prstGeom prst="rect">
            <a:avLst/>
          </a:prstGeom>
          <a:solidFill>
            <a:srgbClr val="FF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lang="en-US" noProof="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64592"/>
          </a:xfrm>
          <a:prstGeom prst="rect">
            <a:avLst/>
          </a:prstGeom>
          <a:solidFill>
            <a:srgbClr val="D62E38"/>
          </a:solidFill>
          <a:ln>
            <a:solidFill>
              <a:srgbClr val="D62E38"/>
            </a:solidFill>
          </a:ln>
        </p:spPr>
        <p:style>
          <a:lnRef idx="1">
            <a:schemeClr val="accent1"/>
          </a:lnRef>
          <a:fillRef idx="3">
            <a:schemeClr val="accent1"/>
          </a:fillRef>
          <a:effectRef idx="2">
            <a:schemeClr val="accent1"/>
          </a:effectRef>
          <a:fontRef idx="minor">
            <a:schemeClr val="lt1"/>
          </a:fontRef>
        </p:style>
        <p:txBody>
          <a:bodyPr rtlCol="0" anchor="ctr"/>
          <a:lstStyle/>
          <a:p>
            <a:endParaRPr lang="en-US" noProof="0" dirty="0"/>
          </a:p>
        </p:txBody>
      </p:sp>
      <p:sp>
        <p:nvSpPr>
          <p:cNvPr id="3" name="Rectangle 2"/>
          <p:cNvSpPr/>
          <p:nvPr/>
        </p:nvSpPr>
        <p:spPr>
          <a:xfrm>
            <a:off x="0" y="6473952"/>
            <a:ext cx="12191695" cy="384048"/>
          </a:xfrm>
          <a:prstGeom prst="rect">
            <a:avLst/>
          </a:prstGeom>
          <a:solidFill>
            <a:srgbClr val="15385E"/>
          </a:solidFill>
          <a:ln>
            <a:solidFill>
              <a:srgbClr val="15385E"/>
            </a:solidFill>
          </a:ln>
        </p:spPr>
        <p:style>
          <a:lnRef idx="1">
            <a:schemeClr val="accent1"/>
          </a:lnRef>
          <a:fillRef idx="3">
            <a:schemeClr val="accent1"/>
          </a:fillRef>
          <a:effectRef idx="2">
            <a:schemeClr val="accent1"/>
          </a:effectRef>
          <a:fontRef idx="minor">
            <a:schemeClr val="lt1"/>
          </a:fontRef>
        </p:style>
        <p:txBody>
          <a:bodyPr rtlCol="0" anchor="ctr"/>
          <a:lstStyle/>
          <a:p>
            <a:endParaRPr lang="en-US" noProof="0" dirty="0"/>
          </a:p>
        </p:txBody>
      </p:sp>
      <p:sp>
        <p:nvSpPr>
          <p:cNvPr id="4" name="TextBox 3"/>
          <p:cNvSpPr txBox="1"/>
          <p:nvPr/>
        </p:nvSpPr>
        <p:spPr>
          <a:xfrm>
            <a:off x="411480" y="201168"/>
            <a:ext cx="4572000" cy="274320"/>
          </a:xfrm>
          <a:prstGeom prst="rect">
            <a:avLst/>
          </a:prstGeom>
          <a:noFill/>
        </p:spPr>
        <p:txBody>
          <a:bodyPr wrap="square" anchor="t">
            <a:spAutoFit/>
          </a:bodyPr>
          <a:lstStyle/>
          <a:p>
            <a:r>
              <a:rPr lang="en-US" noProof="0" dirty="0"/>
              <a:t>PROXIMOS PASOS</a:t>
            </a:r>
          </a:p>
        </p:txBody>
      </p:sp>
      <p:sp>
        <p:nvSpPr>
          <p:cNvPr id="5" name="TextBox 4"/>
          <p:cNvSpPr txBox="1"/>
          <p:nvPr/>
        </p:nvSpPr>
        <p:spPr>
          <a:xfrm>
            <a:off x="411480" y="6537960"/>
            <a:ext cx="8046720" cy="182880"/>
          </a:xfrm>
          <a:prstGeom prst="rect">
            <a:avLst/>
          </a:prstGeom>
          <a:noFill/>
        </p:spPr>
        <p:txBody>
          <a:bodyPr wrap="square" anchor="t">
            <a:spAutoFit/>
          </a:bodyPr>
          <a:lstStyle/>
          <a:p>
            <a:r>
              <a:rPr lang="en-US" noProof="0" dirty="0"/>
              <a:t>INGECART ENGINEERING &amp; AUDITING</a:t>
            </a:r>
          </a:p>
          <a:p>
            <a:r>
              <a:rPr lang="en-US" noProof="0" dirty="0"/>
              <a:t>LINETEX COMMERCIAL CHANNEL USA</a:t>
            </a:r>
          </a:p>
        </p:txBody>
      </p:sp>
      <p:sp>
        <p:nvSpPr>
          <p:cNvPr id="6" name="TextBox 5"/>
          <p:cNvSpPr txBox="1"/>
          <p:nvPr/>
        </p:nvSpPr>
        <p:spPr>
          <a:xfrm>
            <a:off x="11155680" y="6519672"/>
            <a:ext cx="640080" cy="201168"/>
          </a:xfrm>
          <a:prstGeom prst="rect">
            <a:avLst/>
          </a:prstGeom>
          <a:noFill/>
        </p:spPr>
        <p:txBody>
          <a:bodyPr wrap="square" anchor="t">
            <a:spAutoFit/>
          </a:bodyPr>
          <a:lstStyle/>
          <a:p>
            <a:r>
              <a:rPr lang="en-US" noProof="0" dirty="0"/>
              <a:t>18</a:t>
            </a:r>
          </a:p>
        </p:txBody>
      </p:sp>
      <p:pic>
        <p:nvPicPr>
          <p:cNvPr id="7" name="Picture 6" descr="Copia%20de%20sello%202%20(1)_edited.png"/>
          <p:cNvPicPr>
            <a:picLocks noChangeAspect="1"/>
          </p:cNvPicPr>
          <p:nvPr/>
        </p:nvPicPr>
        <p:blipFill>
          <a:blip r:embed="rId2"/>
          <a:stretch>
            <a:fillRect/>
          </a:stretch>
        </p:blipFill>
        <p:spPr>
          <a:xfrm>
            <a:off x="10771632" y="182880"/>
            <a:ext cx="987552" cy="384048"/>
          </a:xfrm>
          <a:prstGeom prst="rect">
            <a:avLst/>
          </a:prstGeom>
        </p:spPr>
      </p:pic>
      <p:sp>
        <p:nvSpPr>
          <p:cNvPr id="8" name="TextBox 7"/>
          <p:cNvSpPr txBox="1"/>
          <p:nvPr/>
        </p:nvSpPr>
        <p:spPr>
          <a:xfrm>
            <a:off x="548640" y="566928"/>
            <a:ext cx="7863840" cy="594360"/>
          </a:xfrm>
          <a:prstGeom prst="rect">
            <a:avLst/>
          </a:prstGeom>
          <a:noFill/>
        </p:spPr>
        <p:txBody>
          <a:bodyPr wrap="square" anchor="t">
            <a:spAutoFit/>
          </a:bodyPr>
          <a:lstStyle/>
          <a:p>
            <a:r>
              <a:rPr lang="en-US" noProof="0" dirty="0" err="1"/>
              <a:t>Proximos</a:t>
            </a:r>
            <a:r>
              <a:rPr lang="en-US" noProof="0" dirty="0"/>
              <a:t> pasos</a:t>
            </a:r>
          </a:p>
        </p:txBody>
      </p:sp>
      <p:sp>
        <p:nvSpPr>
          <p:cNvPr id="9" name="TextBox 8"/>
          <p:cNvSpPr txBox="1"/>
          <p:nvPr/>
        </p:nvSpPr>
        <p:spPr>
          <a:xfrm>
            <a:off x="548640" y="1005840"/>
            <a:ext cx="7772400" cy="320040"/>
          </a:xfrm>
          <a:prstGeom prst="rect">
            <a:avLst/>
          </a:prstGeom>
          <a:noFill/>
        </p:spPr>
        <p:txBody>
          <a:bodyPr wrap="square" anchor="t">
            <a:spAutoFit/>
          </a:bodyPr>
          <a:lstStyle/>
          <a:p>
            <a:r>
              <a:rPr lang="en-US" noProof="0" dirty="0"/>
              <a:t>Como </a:t>
            </a:r>
            <a:r>
              <a:rPr lang="en-US" noProof="0" dirty="0" err="1"/>
              <a:t>convertir</a:t>
            </a:r>
            <a:r>
              <a:rPr lang="en-US" noProof="0" dirty="0"/>
              <a:t> </a:t>
            </a:r>
            <a:r>
              <a:rPr lang="en-US" noProof="0" dirty="0" err="1"/>
              <a:t>esta</a:t>
            </a:r>
            <a:r>
              <a:rPr lang="en-US" noProof="0" dirty="0"/>
              <a:t> </a:t>
            </a:r>
            <a:r>
              <a:rPr lang="en-US" noProof="0" dirty="0" err="1"/>
              <a:t>narrativa</a:t>
            </a:r>
            <a:r>
              <a:rPr lang="en-US" noProof="0" dirty="0"/>
              <a:t> in Close </a:t>
            </a:r>
            <a:r>
              <a:rPr lang="en-US" noProof="0" dirty="0" err="1"/>
              <a:t>comercial</a:t>
            </a:r>
            <a:r>
              <a:rPr lang="en-US" noProof="0" dirty="0"/>
              <a:t> and </a:t>
            </a:r>
            <a:r>
              <a:rPr lang="en-US" noProof="0" dirty="0" err="1"/>
              <a:t>ejecucion</a:t>
            </a:r>
            <a:endParaRPr lang="en-US" noProof="0" dirty="0"/>
          </a:p>
        </p:txBody>
      </p:sp>
      <p:sp>
        <p:nvSpPr>
          <p:cNvPr id="10" name="Rounded Rectangle 9"/>
          <p:cNvSpPr/>
          <p:nvPr/>
        </p:nvSpPr>
        <p:spPr>
          <a:xfrm>
            <a:off x="914400" y="1783080"/>
            <a:ext cx="594360" cy="594360"/>
          </a:xfrm>
          <a:prstGeom prst="roundRect">
            <a:avLst/>
          </a:prstGeom>
          <a:solidFill>
            <a:srgbClr val="15385E"/>
          </a:solidFill>
          <a:ln>
            <a:solidFill>
              <a:srgbClr val="15385E"/>
            </a:solidFill>
          </a:ln>
        </p:spPr>
        <p:style>
          <a:lnRef idx="1">
            <a:schemeClr val="accent1"/>
          </a:lnRef>
          <a:fillRef idx="3">
            <a:schemeClr val="accent1"/>
          </a:fillRef>
          <a:effectRef idx="2">
            <a:schemeClr val="accent1"/>
          </a:effectRef>
          <a:fontRef idx="minor">
            <a:schemeClr val="lt1"/>
          </a:fontRef>
        </p:style>
        <p:txBody>
          <a:bodyPr rtlCol="0" anchor="ctr"/>
          <a:lstStyle/>
          <a:p>
            <a:endParaRPr lang="en-US" noProof="0" dirty="0"/>
          </a:p>
        </p:txBody>
      </p:sp>
      <p:sp>
        <p:nvSpPr>
          <p:cNvPr id="11" name="TextBox 10"/>
          <p:cNvSpPr txBox="1"/>
          <p:nvPr/>
        </p:nvSpPr>
        <p:spPr>
          <a:xfrm>
            <a:off x="1033271" y="1947672"/>
            <a:ext cx="347472" cy="164592"/>
          </a:xfrm>
          <a:prstGeom prst="rect">
            <a:avLst/>
          </a:prstGeom>
          <a:noFill/>
        </p:spPr>
        <p:txBody>
          <a:bodyPr wrap="square" anchor="t">
            <a:spAutoFit/>
          </a:bodyPr>
          <a:lstStyle/>
          <a:p>
            <a:r>
              <a:rPr lang="en-US" noProof="0" dirty="0"/>
              <a:t>1</a:t>
            </a:r>
          </a:p>
        </p:txBody>
      </p:sp>
      <p:sp>
        <p:nvSpPr>
          <p:cNvPr id="12" name="Rounded Rectangle 11"/>
          <p:cNvSpPr/>
          <p:nvPr/>
        </p:nvSpPr>
        <p:spPr>
          <a:xfrm>
            <a:off x="1691640" y="1783080"/>
            <a:ext cx="9418320" cy="594360"/>
          </a:xfrm>
          <a:prstGeom prst="roundRect">
            <a:avLst/>
          </a:prstGeom>
          <a:solidFill>
            <a:srgbClr val="FFFFFF"/>
          </a:solidFill>
          <a:ln>
            <a:solidFill>
              <a:srgbClr val="E3E5E8"/>
            </a:solidFill>
          </a:ln>
        </p:spPr>
        <p:style>
          <a:lnRef idx="1">
            <a:schemeClr val="accent1"/>
          </a:lnRef>
          <a:fillRef idx="3">
            <a:schemeClr val="accent1"/>
          </a:fillRef>
          <a:effectRef idx="2">
            <a:schemeClr val="accent1"/>
          </a:effectRef>
          <a:fontRef idx="minor">
            <a:schemeClr val="lt1"/>
          </a:fontRef>
        </p:style>
        <p:txBody>
          <a:bodyPr rtlCol="0" anchor="ctr"/>
          <a:lstStyle/>
          <a:p>
            <a:endParaRPr lang="en-US" noProof="0" dirty="0"/>
          </a:p>
        </p:txBody>
      </p:sp>
      <p:sp>
        <p:nvSpPr>
          <p:cNvPr id="13" name="TextBox 12"/>
          <p:cNvSpPr txBox="1"/>
          <p:nvPr/>
        </p:nvSpPr>
        <p:spPr>
          <a:xfrm>
            <a:off x="1965960" y="1920240"/>
            <a:ext cx="8869680" cy="274320"/>
          </a:xfrm>
          <a:prstGeom prst="rect">
            <a:avLst/>
          </a:prstGeom>
          <a:noFill/>
        </p:spPr>
        <p:txBody>
          <a:bodyPr wrap="square" anchor="t">
            <a:spAutoFit/>
          </a:bodyPr>
          <a:lstStyle/>
          <a:p>
            <a:r>
              <a:rPr lang="en-US" noProof="0" dirty="0" err="1"/>
              <a:t>Congelar</a:t>
            </a:r>
            <a:r>
              <a:rPr lang="en-US" noProof="0" dirty="0"/>
              <a:t> </a:t>
            </a:r>
            <a:r>
              <a:rPr lang="en-US" noProof="0" dirty="0" err="1"/>
              <a:t>el</a:t>
            </a:r>
            <a:r>
              <a:rPr lang="en-US" noProof="0" dirty="0"/>
              <a:t> scope </a:t>
            </a:r>
            <a:r>
              <a:rPr lang="en-US" noProof="0" dirty="0" err="1"/>
              <a:t>tecnico</a:t>
            </a:r>
            <a:r>
              <a:rPr lang="en-US" noProof="0" dirty="0"/>
              <a:t> and </a:t>
            </a:r>
            <a:r>
              <a:rPr lang="en-US" noProof="0" dirty="0" err="1"/>
              <a:t>los</a:t>
            </a:r>
            <a:r>
              <a:rPr lang="en-US" noProof="0" dirty="0"/>
              <a:t> </a:t>
            </a:r>
            <a:r>
              <a:rPr lang="en-US" noProof="0" dirty="0" err="1"/>
              <a:t>paquetes</a:t>
            </a:r>
            <a:r>
              <a:rPr lang="en-US" noProof="0" dirty="0"/>
              <a:t> </a:t>
            </a:r>
            <a:r>
              <a:rPr lang="en-US" noProof="0" dirty="0" err="1"/>
              <a:t>economicos</a:t>
            </a:r>
            <a:r>
              <a:rPr lang="en-US" noProof="0" dirty="0"/>
              <a:t> a </a:t>
            </a:r>
            <a:r>
              <a:rPr lang="en-US" noProof="0" dirty="0" err="1"/>
              <a:t>presentar</a:t>
            </a:r>
            <a:r>
              <a:rPr lang="en-US" noProof="0" dirty="0"/>
              <a:t> a PSC.</a:t>
            </a:r>
          </a:p>
        </p:txBody>
      </p:sp>
      <p:sp>
        <p:nvSpPr>
          <p:cNvPr id="14" name="Rounded Rectangle 13"/>
          <p:cNvSpPr/>
          <p:nvPr/>
        </p:nvSpPr>
        <p:spPr>
          <a:xfrm>
            <a:off x="914400" y="2551176"/>
            <a:ext cx="594360" cy="594360"/>
          </a:xfrm>
          <a:prstGeom prst="roundRect">
            <a:avLst/>
          </a:prstGeom>
          <a:solidFill>
            <a:srgbClr val="15385E"/>
          </a:solidFill>
          <a:ln>
            <a:solidFill>
              <a:srgbClr val="15385E"/>
            </a:solidFill>
          </a:ln>
        </p:spPr>
        <p:style>
          <a:lnRef idx="1">
            <a:schemeClr val="accent1"/>
          </a:lnRef>
          <a:fillRef idx="3">
            <a:schemeClr val="accent1"/>
          </a:fillRef>
          <a:effectRef idx="2">
            <a:schemeClr val="accent1"/>
          </a:effectRef>
          <a:fontRef idx="minor">
            <a:schemeClr val="lt1"/>
          </a:fontRef>
        </p:style>
        <p:txBody>
          <a:bodyPr rtlCol="0" anchor="ctr"/>
          <a:lstStyle/>
          <a:p>
            <a:endParaRPr lang="en-US" noProof="0" dirty="0"/>
          </a:p>
        </p:txBody>
      </p:sp>
      <p:sp>
        <p:nvSpPr>
          <p:cNvPr id="15" name="TextBox 14"/>
          <p:cNvSpPr txBox="1"/>
          <p:nvPr/>
        </p:nvSpPr>
        <p:spPr>
          <a:xfrm>
            <a:off x="1033271" y="2715768"/>
            <a:ext cx="347472" cy="164592"/>
          </a:xfrm>
          <a:prstGeom prst="rect">
            <a:avLst/>
          </a:prstGeom>
          <a:noFill/>
        </p:spPr>
        <p:txBody>
          <a:bodyPr wrap="square" anchor="t">
            <a:spAutoFit/>
          </a:bodyPr>
          <a:lstStyle/>
          <a:p>
            <a:r>
              <a:rPr lang="en-US" noProof="0" dirty="0"/>
              <a:t>2</a:t>
            </a:r>
          </a:p>
        </p:txBody>
      </p:sp>
      <p:sp>
        <p:nvSpPr>
          <p:cNvPr id="16" name="Rounded Rectangle 15"/>
          <p:cNvSpPr/>
          <p:nvPr/>
        </p:nvSpPr>
        <p:spPr>
          <a:xfrm>
            <a:off x="1691640" y="2551176"/>
            <a:ext cx="9418320" cy="594360"/>
          </a:xfrm>
          <a:prstGeom prst="roundRect">
            <a:avLst/>
          </a:prstGeom>
          <a:solidFill>
            <a:srgbClr val="FFFFFF"/>
          </a:solidFill>
          <a:ln>
            <a:solidFill>
              <a:srgbClr val="E3E5E8"/>
            </a:solidFill>
          </a:ln>
        </p:spPr>
        <p:style>
          <a:lnRef idx="1">
            <a:schemeClr val="accent1"/>
          </a:lnRef>
          <a:fillRef idx="3">
            <a:schemeClr val="accent1"/>
          </a:fillRef>
          <a:effectRef idx="2">
            <a:schemeClr val="accent1"/>
          </a:effectRef>
          <a:fontRef idx="minor">
            <a:schemeClr val="lt1"/>
          </a:fontRef>
        </p:style>
        <p:txBody>
          <a:bodyPr rtlCol="0" anchor="ctr"/>
          <a:lstStyle/>
          <a:p>
            <a:endParaRPr lang="en-US" noProof="0" dirty="0"/>
          </a:p>
        </p:txBody>
      </p:sp>
      <p:sp>
        <p:nvSpPr>
          <p:cNvPr id="17" name="TextBox 16"/>
          <p:cNvSpPr txBox="1"/>
          <p:nvPr/>
        </p:nvSpPr>
        <p:spPr>
          <a:xfrm>
            <a:off x="1965960" y="2688336"/>
            <a:ext cx="8869680" cy="274320"/>
          </a:xfrm>
          <a:prstGeom prst="rect">
            <a:avLst/>
          </a:prstGeom>
          <a:noFill/>
        </p:spPr>
        <p:txBody>
          <a:bodyPr wrap="square" anchor="t">
            <a:spAutoFit/>
          </a:bodyPr>
          <a:lstStyle/>
          <a:p>
            <a:r>
              <a:rPr lang="en-US" noProof="0" dirty="0"/>
              <a:t>Validar </a:t>
            </a:r>
            <a:r>
              <a:rPr lang="en-US" noProof="0" dirty="0" err="1"/>
              <a:t>el</a:t>
            </a:r>
            <a:r>
              <a:rPr lang="en-US" noProof="0" dirty="0"/>
              <a:t> layout </a:t>
            </a:r>
            <a:r>
              <a:rPr lang="en-US" noProof="0" dirty="0" err="1"/>
              <a:t>objetivo</a:t>
            </a:r>
            <a:r>
              <a:rPr lang="en-US" noProof="0" dirty="0"/>
              <a:t> and </a:t>
            </a:r>
            <a:r>
              <a:rPr lang="en-US" noProof="0" dirty="0" err="1"/>
              <a:t>utilidades</a:t>
            </a:r>
            <a:r>
              <a:rPr lang="en-US" noProof="0" dirty="0"/>
              <a:t> of planta in Visalia.</a:t>
            </a:r>
          </a:p>
        </p:txBody>
      </p:sp>
      <p:sp>
        <p:nvSpPr>
          <p:cNvPr id="18" name="Rounded Rectangle 17"/>
          <p:cNvSpPr/>
          <p:nvPr/>
        </p:nvSpPr>
        <p:spPr>
          <a:xfrm>
            <a:off x="914400" y="3319272"/>
            <a:ext cx="594360" cy="594360"/>
          </a:xfrm>
          <a:prstGeom prst="roundRect">
            <a:avLst/>
          </a:prstGeom>
          <a:solidFill>
            <a:srgbClr val="15385E"/>
          </a:solidFill>
          <a:ln>
            <a:solidFill>
              <a:srgbClr val="15385E"/>
            </a:solidFill>
          </a:ln>
        </p:spPr>
        <p:style>
          <a:lnRef idx="1">
            <a:schemeClr val="accent1"/>
          </a:lnRef>
          <a:fillRef idx="3">
            <a:schemeClr val="accent1"/>
          </a:fillRef>
          <a:effectRef idx="2">
            <a:schemeClr val="accent1"/>
          </a:effectRef>
          <a:fontRef idx="minor">
            <a:schemeClr val="lt1"/>
          </a:fontRef>
        </p:style>
        <p:txBody>
          <a:bodyPr rtlCol="0" anchor="ctr"/>
          <a:lstStyle/>
          <a:p>
            <a:endParaRPr lang="en-US" noProof="0" dirty="0"/>
          </a:p>
        </p:txBody>
      </p:sp>
      <p:sp>
        <p:nvSpPr>
          <p:cNvPr id="19" name="TextBox 18"/>
          <p:cNvSpPr txBox="1"/>
          <p:nvPr/>
        </p:nvSpPr>
        <p:spPr>
          <a:xfrm>
            <a:off x="1033271" y="3483864"/>
            <a:ext cx="347472" cy="164592"/>
          </a:xfrm>
          <a:prstGeom prst="rect">
            <a:avLst/>
          </a:prstGeom>
          <a:noFill/>
        </p:spPr>
        <p:txBody>
          <a:bodyPr wrap="square" anchor="t">
            <a:spAutoFit/>
          </a:bodyPr>
          <a:lstStyle/>
          <a:p>
            <a:r>
              <a:rPr lang="en-US" noProof="0" dirty="0"/>
              <a:t>3</a:t>
            </a:r>
          </a:p>
        </p:txBody>
      </p:sp>
      <p:sp>
        <p:nvSpPr>
          <p:cNvPr id="20" name="Rounded Rectangle 19"/>
          <p:cNvSpPr/>
          <p:nvPr/>
        </p:nvSpPr>
        <p:spPr>
          <a:xfrm>
            <a:off x="1691640" y="3319272"/>
            <a:ext cx="9418320" cy="594360"/>
          </a:xfrm>
          <a:prstGeom prst="roundRect">
            <a:avLst/>
          </a:prstGeom>
          <a:solidFill>
            <a:srgbClr val="FFFFFF"/>
          </a:solidFill>
          <a:ln>
            <a:solidFill>
              <a:srgbClr val="E3E5E8"/>
            </a:solidFill>
          </a:ln>
        </p:spPr>
        <p:style>
          <a:lnRef idx="1">
            <a:schemeClr val="accent1"/>
          </a:lnRef>
          <a:fillRef idx="3">
            <a:schemeClr val="accent1"/>
          </a:fillRef>
          <a:effectRef idx="2">
            <a:schemeClr val="accent1"/>
          </a:effectRef>
          <a:fontRef idx="minor">
            <a:schemeClr val="lt1"/>
          </a:fontRef>
        </p:style>
        <p:txBody>
          <a:bodyPr rtlCol="0" anchor="ctr"/>
          <a:lstStyle/>
          <a:p>
            <a:endParaRPr lang="en-US" noProof="0" dirty="0"/>
          </a:p>
        </p:txBody>
      </p:sp>
      <p:sp>
        <p:nvSpPr>
          <p:cNvPr id="21" name="TextBox 20"/>
          <p:cNvSpPr txBox="1"/>
          <p:nvPr/>
        </p:nvSpPr>
        <p:spPr>
          <a:xfrm>
            <a:off x="1965960" y="3456432"/>
            <a:ext cx="8869680" cy="274320"/>
          </a:xfrm>
          <a:prstGeom prst="rect">
            <a:avLst/>
          </a:prstGeom>
          <a:noFill/>
        </p:spPr>
        <p:txBody>
          <a:bodyPr wrap="square" anchor="t">
            <a:spAutoFit/>
          </a:bodyPr>
          <a:lstStyle/>
          <a:p>
            <a:r>
              <a:rPr lang="en-US" noProof="0" dirty="0" err="1"/>
              <a:t>Cerrar</a:t>
            </a:r>
            <a:r>
              <a:rPr lang="en-US" noProof="0" dirty="0"/>
              <a:t> la </a:t>
            </a:r>
            <a:r>
              <a:rPr lang="en-US" noProof="0" dirty="0" err="1"/>
              <a:t>condicion</a:t>
            </a:r>
            <a:r>
              <a:rPr lang="en-US" noProof="0" dirty="0"/>
              <a:t> BHS of supervision, training, spare parts and after-sales.</a:t>
            </a:r>
          </a:p>
        </p:txBody>
      </p:sp>
      <p:sp>
        <p:nvSpPr>
          <p:cNvPr id="22" name="Rounded Rectangle 21"/>
          <p:cNvSpPr/>
          <p:nvPr/>
        </p:nvSpPr>
        <p:spPr>
          <a:xfrm>
            <a:off x="914400" y="4087368"/>
            <a:ext cx="594360" cy="594360"/>
          </a:xfrm>
          <a:prstGeom prst="roundRect">
            <a:avLst/>
          </a:prstGeom>
          <a:solidFill>
            <a:srgbClr val="15385E"/>
          </a:solidFill>
          <a:ln>
            <a:solidFill>
              <a:srgbClr val="15385E"/>
            </a:solidFill>
          </a:ln>
        </p:spPr>
        <p:style>
          <a:lnRef idx="1">
            <a:schemeClr val="accent1"/>
          </a:lnRef>
          <a:fillRef idx="3">
            <a:schemeClr val="accent1"/>
          </a:fillRef>
          <a:effectRef idx="2">
            <a:schemeClr val="accent1"/>
          </a:effectRef>
          <a:fontRef idx="minor">
            <a:schemeClr val="lt1"/>
          </a:fontRef>
        </p:style>
        <p:txBody>
          <a:bodyPr rtlCol="0" anchor="ctr"/>
          <a:lstStyle/>
          <a:p>
            <a:endParaRPr lang="en-US" noProof="0" dirty="0"/>
          </a:p>
        </p:txBody>
      </p:sp>
      <p:sp>
        <p:nvSpPr>
          <p:cNvPr id="23" name="TextBox 22"/>
          <p:cNvSpPr txBox="1"/>
          <p:nvPr/>
        </p:nvSpPr>
        <p:spPr>
          <a:xfrm>
            <a:off x="1033271" y="4251960"/>
            <a:ext cx="347472" cy="164592"/>
          </a:xfrm>
          <a:prstGeom prst="rect">
            <a:avLst/>
          </a:prstGeom>
          <a:noFill/>
        </p:spPr>
        <p:txBody>
          <a:bodyPr wrap="square" anchor="t">
            <a:spAutoFit/>
          </a:bodyPr>
          <a:lstStyle/>
          <a:p>
            <a:r>
              <a:rPr lang="en-US" noProof="0" dirty="0"/>
              <a:t>4</a:t>
            </a:r>
          </a:p>
        </p:txBody>
      </p:sp>
      <p:sp>
        <p:nvSpPr>
          <p:cNvPr id="24" name="Rounded Rectangle 23"/>
          <p:cNvSpPr/>
          <p:nvPr/>
        </p:nvSpPr>
        <p:spPr>
          <a:xfrm>
            <a:off x="1691640" y="4087368"/>
            <a:ext cx="9418320" cy="594360"/>
          </a:xfrm>
          <a:prstGeom prst="roundRect">
            <a:avLst/>
          </a:prstGeom>
          <a:solidFill>
            <a:srgbClr val="FFFFFF"/>
          </a:solidFill>
          <a:ln>
            <a:solidFill>
              <a:srgbClr val="E3E5E8"/>
            </a:solidFill>
          </a:ln>
        </p:spPr>
        <p:style>
          <a:lnRef idx="1">
            <a:schemeClr val="accent1"/>
          </a:lnRef>
          <a:fillRef idx="3">
            <a:schemeClr val="accent1"/>
          </a:fillRef>
          <a:effectRef idx="2">
            <a:schemeClr val="accent1"/>
          </a:effectRef>
          <a:fontRef idx="minor">
            <a:schemeClr val="lt1"/>
          </a:fontRef>
        </p:style>
        <p:txBody>
          <a:bodyPr rtlCol="0" anchor="ctr"/>
          <a:lstStyle/>
          <a:p>
            <a:endParaRPr lang="en-US" noProof="0" dirty="0"/>
          </a:p>
        </p:txBody>
      </p:sp>
      <p:sp>
        <p:nvSpPr>
          <p:cNvPr id="25" name="TextBox 24"/>
          <p:cNvSpPr txBox="1"/>
          <p:nvPr/>
        </p:nvSpPr>
        <p:spPr>
          <a:xfrm>
            <a:off x="1965960" y="4224528"/>
            <a:ext cx="8869680" cy="274320"/>
          </a:xfrm>
          <a:prstGeom prst="rect">
            <a:avLst/>
          </a:prstGeom>
          <a:noFill/>
        </p:spPr>
        <p:txBody>
          <a:bodyPr wrap="square" anchor="t">
            <a:spAutoFit/>
          </a:bodyPr>
          <a:lstStyle/>
          <a:p>
            <a:r>
              <a:rPr lang="en-US" noProof="0" dirty="0" err="1"/>
              <a:t>Fijar</a:t>
            </a:r>
            <a:r>
              <a:rPr lang="en-US" noProof="0" dirty="0"/>
              <a:t> </a:t>
            </a:r>
            <a:r>
              <a:rPr lang="en-US" noProof="0" dirty="0" err="1"/>
              <a:t>el</a:t>
            </a:r>
            <a:r>
              <a:rPr lang="en-US" noProof="0" dirty="0"/>
              <a:t> plan FAT/SAT, </a:t>
            </a:r>
            <a:r>
              <a:rPr lang="en-US" noProof="0" dirty="0" err="1"/>
              <a:t>responsables</a:t>
            </a:r>
            <a:r>
              <a:rPr lang="en-US" noProof="0" dirty="0"/>
              <a:t> and </a:t>
            </a:r>
            <a:r>
              <a:rPr lang="en-US" noProof="0" dirty="0" err="1"/>
              <a:t>criterios</a:t>
            </a:r>
            <a:r>
              <a:rPr lang="en-US" noProof="0" dirty="0"/>
              <a:t> of acceptance.</a:t>
            </a:r>
          </a:p>
        </p:txBody>
      </p:sp>
      <p:sp>
        <p:nvSpPr>
          <p:cNvPr id="26" name="Rounded Rectangle 25"/>
          <p:cNvSpPr/>
          <p:nvPr/>
        </p:nvSpPr>
        <p:spPr>
          <a:xfrm>
            <a:off x="914400" y="4855464"/>
            <a:ext cx="594360" cy="594360"/>
          </a:xfrm>
          <a:prstGeom prst="roundRect">
            <a:avLst/>
          </a:prstGeom>
          <a:solidFill>
            <a:srgbClr val="15385E"/>
          </a:solidFill>
          <a:ln>
            <a:solidFill>
              <a:srgbClr val="15385E"/>
            </a:solidFill>
          </a:ln>
        </p:spPr>
        <p:style>
          <a:lnRef idx="1">
            <a:schemeClr val="accent1"/>
          </a:lnRef>
          <a:fillRef idx="3">
            <a:schemeClr val="accent1"/>
          </a:fillRef>
          <a:effectRef idx="2">
            <a:schemeClr val="accent1"/>
          </a:effectRef>
          <a:fontRef idx="minor">
            <a:schemeClr val="lt1"/>
          </a:fontRef>
        </p:style>
        <p:txBody>
          <a:bodyPr rtlCol="0" anchor="ctr"/>
          <a:lstStyle/>
          <a:p>
            <a:endParaRPr lang="en-US" noProof="0" dirty="0"/>
          </a:p>
        </p:txBody>
      </p:sp>
      <p:sp>
        <p:nvSpPr>
          <p:cNvPr id="27" name="TextBox 26"/>
          <p:cNvSpPr txBox="1"/>
          <p:nvPr/>
        </p:nvSpPr>
        <p:spPr>
          <a:xfrm>
            <a:off x="1033271" y="5020056"/>
            <a:ext cx="347472" cy="164592"/>
          </a:xfrm>
          <a:prstGeom prst="rect">
            <a:avLst/>
          </a:prstGeom>
          <a:noFill/>
        </p:spPr>
        <p:txBody>
          <a:bodyPr wrap="square" anchor="t">
            <a:spAutoFit/>
          </a:bodyPr>
          <a:lstStyle/>
          <a:p>
            <a:r>
              <a:rPr lang="en-US" noProof="0" dirty="0"/>
              <a:t>5</a:t>
            </a:r>
          </a:p>
        </p:txBody>
      </p:sp>
      <p:sp>
        <p:nvSpPr>
          <p:cNvPr id="28" name="Rounded Rectangle 27"/>
          <p:cNvSpPr/>
          <p:nvPr/>
        </p:nvSpPr>
        <p:spPr>
          <a:xfrm>
            <a:off x="1691640" y="4855464"/>
            <a:ext cx="9418320" cy="594360"/>
          </a:xfrm>
          <a:prstGeom prst="roundRect">
            <a:avLst/>
          </a:prstGeom>
          <a:solidFill>
            <a:srgbClr val="FFFFFF"/>
          </a:solidFill>
          <a:ln>
            <a:solidFill>
              <a:srgbClr val="E3E5E8"/>
            </a:solidFill>
          </a:ln>
        </p:spPr>
        <p:style>
          <a:lnRef idx="1">
            <a:schemeClr val="accent1"/>
          </a:lnRef>
          <a:fillRef idx="3">
            <a:schemeClr val="accent1"/>
          </a:fillRef>
          <a:effectRef idx="2">
            <a:schemeClr val="accent1"/>
          </a:effectRef>
          <a:fontRef idx="minor">
            <a:schemeClr val="lt1"/>
          </a:fontRef>
        </p:style>
        <p:txBody>
          <a:bodyPr rtlCol="0" anchor="ctr"/>
          <a:lstStyle/>
          <a:p>
            <a:endParaRPr lang="en-US" noProof="0" dirty="0"/>
          </a:p>
        </p:txBody>
      </p:sp>
      <p:sp>
        <p:nvSpPr>
          <p:cNvPr id="29" name="TextBox 28"/>
          <p:cNvSpPr txBox="1"/>
          <p:nvPr/>
        </p:nvSpPr>
        <p:spPr>
          <a:xfrm>
            <a:off x="1965960" y="4992624"/>
            <a:ext cx="8869680" cy="274320"/>
          </a:xfrm>
          <a:prstGeom prst="rect">
            <a:avLst/>
          </a:prstGeom>
          <a:noFill/>
        </p:spPr>
        <p:txBody>
          <a:bodyPr wrap="square" anchor="t">
            <a:spAutoFit/>
          </a:bodyPr>
          <a:lstStyle/>
          <a:p>
            <a:r>
              <a:rPr lang="en-US" noProof="0" dirty="0" err="1"/>
              <a:t>Lanzar</a:t>
            </a:r>
            <a:r>
              <a:rPr lang="en-US" noProof="0" dirty="0"/>
              <a:t> la </a:t>
            </a:r>
            <a:r>
              <a:rPr lang="en-US" noProof="0" dirty="0" err="1"/>
              <a:t>fase</a:t>
            </a:r>
            <a:r>
              <a:rPr lang="en-US" noProof="0" dirty="0"/>
              <a:t> </a:t>
            </a:r>
            <a:r>
              <a:rPr lang="en-US" noProof="0" dirty="0" err="1"/>
              <a:t>comercial</a:t>
            </a:r>
            <a:r>
              <a:rPr lang="en-US" noProof="0" dirty="0"/>
              <a:t> final bajo </a:t>
            </a:r>
            <a:r>
              <a:rPr lang="en-US" noProof="0" dirty="0" err="1"/>
              <a:t>marca</a:t>
            </a:r>
            <a:r>
              <a:rPr lang="en-US" noProof="0" dirty="0"/>
              <a:t> </a:t>
            </a:r>
            <a:r>
              <a:rPr lang="en-US" noProof="0" dirty="0" err="1"/>
              <a:t>Linetex</a:t>
            </a:r>
            <a:r>
              <a:rPr lang="en-US" noProof="0" dirty="0"/>
              <a:t> with </a:t>
            </a:r>
            <a:r>
              <a:rPr lang="en-US" noProof="0" dirty="0" err="1"/>
              <a:t>respaldo</a:t>
            </a:r>
            <a:r>
              <a:rPr lang="en-US" noProof="0" dirty="0"/>
              <a:t> </a:t>
            </a:r>
            <a:r>
              <a:rPr lang="en-US" noProof="0" dirty="0" err="1"/>
              <a:t>tecnico</a:t>
            </a:r>
            <a:r>
              <a:rPr lang="en-US" noProof="0" dirty="0"/>
              <a:t> of Ingecart.</a:t>
            </a:r>
          </a:p>
        </p:txBody>
      </p:sp>
      <p:sp>
        <p:nvSpPr>
          <p:cNvPr id="30" name="Rectangle 29"/>
          <p:cNvSpPr/>
          <p:nvPr/>
        </p:nvSpPr>
        <p:spPr>
          <a:xfrm>
            <a:off x="0" y="0"/>
            <a:ext cx="12191695" cy="109728"/>
          </a:xfrm>
          <a:prstGeom prst="rect">
            <a:avLst/>
          </a:prstGeom>
          <a:solidFill>
            <a:srgbClr val="FF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lang="en-US" noProof="0" dirty="0"/>
          </a:p>
        </p:txBody>
      </p:sp>
      <p:sp>
        <p:nvSpPr>
          <p:cNvPr id="31" name="Rectangle 30"/>
          <p:cNvSpPr/>
          <p:nvPr/>
        </p:nvSpPr>
        <p:spPr>
          <a:xfrm>
            <a:off x="0" y="6729984"/>
            <a:ext cx="12191695" cy="128016"/>
          </a:xfrm>
          <a:prstGeom prst="rect">
            <a:avLst/>
          </a:prstGeom>
          <a:solidFill>
            <a:srgbClr val="FF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lang="en-US" noProof="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ARTWORKK BOOTH INGECART 2026.jp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lang="en-US" noProof="0" dirty="0"/>
          </a:p>
        </p:txBody>
      </p:sp>
      <p:sp>
        <p:nvSpPr>
          <p:cNvPr id="4" name="Rectangle 3"/>
          <p:cNvSpPr/>
          <p:nvPr/>
        </p:nvSpPr>
        <p:spPr>
          <a:xfrm>
            <a:off x="0" y="0"/>
            <a:ext cx="12191695" cy="109728"/>
          </a:xfrm>
          <a:prstGeom prst="rect">
            <a:avLst/>
          </a:prstGeom>
          <a:solidFill>
            <a:srgbClr val="FF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lang="en-US" noProof="0" dirty="0"/>
          </a:p>
        </p:txBody>
      </p:sp>
      <p:sp>
        <p:nvSpPr>
          <p:cNvPr id="5" name="Rectangle 4"/>
          <p:cNvSpPr/>
          <p:nvPr/>
        </p:nvSpPr>
        <p:spPr>
          <a:xfrm>
            <a:off x="0" y="6729984"/>
            <a:ext cx="12191695" cy="128016"/>
          </a:xfrm>
          <a:prstGeom prst="rect">
            <a:avLst/>
          </a:prstGeom>
          <a:solidFill>
            <a:srgbClr val="FF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lang="en-US" noProof="0" dirty="0"/>
          </a:p>
        </p:txBody>
      </p:sp>
      <p:sp>
        <p:nvSpPr>
          <p:cNvPr id="6" name="TextBox 5"/>
          <p:cNvSpPr txBox="1"/>
          <p:nvPr/>
        </p:nvSpPr>
        <p:spPr>
          <a:xfrm>
            <a:off x="822960" y="2286000"/>
            <a:ext cx="10424160" cy="1097280"/>
          </a:xfrm>
          <a:prstGeom prst="rect">
            <a:avLst/>
          </a:prstGeom>
          <a:noFill/>
        </p:spPr>
        <p:txBody>
          <a:bodyPr wrap="none">
            <a:spAutoFit/>
          </a:bodyPr>
          <a:lstStyle/>
          <a:p>
            <a:r>
              <a:rPr lang="en-US" noProof="0" dirty="0"/>
              <a:t>Thank You</a:t>
            </a:r>
          </a:p>
        </p:txBody>
      </p:sp>
      <p:sp>
        <p:nvSpPr>
          <p:cNvPr id="7" name="TextBox 6"/>
          <p:cNvSpPr txBox="1"/>
          <p:nvPr/>
        </p:nvSpPr>
        <p:spPr>
          <a:xfrm>
            <a:off x="1005840" y="3566160"/>
            <a:ext cx="10058400" cy="914400"/>
          </a:xfrm>
          <a:prstGeom prst="rect">
            <a:avLst/>
          </a:prstGeom>
          <a:noFill/>
        </p:spPr>
        <p:txBody>
          <a:bodyPr wrap="none">
            <a:spAutoFit/>
          </a:bodyPr>
          <a:lstStyle/>
          <a:p>
            <a:r>
              <a:rPr lang="en-US" noProof="0" dirty="0"/>
              <a:t>Ingecart Engineering &amp; Auditing</a:t>
            </a:r>
          </a:p>
          <a:p>
            <a:r>
              <a:rPr lang="en-US" noProof="0" dirty="0" err="1"/>
              <a:t>Linetex</a:t>
            </a:r>
            <a:r>
              <a:rPr lang="en-US" noProof="0" dirty="0"/>
              <a:t> USA</a:t>
            </a:r>
          </a:p>
        </p:txBody>
      </p:sp>
      <p:sp>
        <p:nvSpPr>
          <p:cNvPr id="8" name="TextBox 7"/>
          <p:cNvSpPr txBox="1"/>
          <p:nvPr/>
        </p:nvSpPr>
        <p:spPr>
          <a:xfrm>
            <a:off x="1005840" y="4160520"/>
            <a:ext cx="10058400" cy="731520"/>
          </a:xfrm>
          <a:prstGeom prst="rect">
            <a:avLst/>
          </a:prstGeom>
          <a:noFill/>
        </p:spPr>
        <p:txBody>
          <a:bodyPr wrap="none">
            <a:spAutoFit/>
          </a:bodyPr>
          <a:lstStyle/>
          <a:p>
            <a:r>
              <a:rPr lang="en-US" noProof="0" dirty="0"/>
              <a:t>Industrial Intelligence Applied to Performance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572</TotalTime>
  <Words>1622</Words>
  <Application>Microsoft Office PowerPoint</Application>
  <PresentationFormat>Widescreen</PresentationFormat>
  <Paragraphs>263</Paragraphs>
  <Slides>17</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17</vt:i4>
      </vt:variant>
    </vt:vector>
  </HeadingPairs>
  <TitlesOfParts>
    <vt:vector size="21" baseType="lpstr">
      <vt:lpstr>Aptos</vt: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Iñaki Senar</cp:lastModifiedBy>
  <cp:revision>8</cp:revision>
  <dcterms:created xsi:type="dcterms:W3CDTF">2013-01-27T09:14:16Z</dcterms:created>
  <dcterms:modified xsi:type="dcterms:W3CDTF">2026-05-07T06:21:44Z</dcterms:modified>
  <cp:category/>
</cp:coreProperties>
</file>