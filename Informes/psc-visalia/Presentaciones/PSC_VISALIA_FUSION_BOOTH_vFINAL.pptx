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PROYECTO PSC VISALIA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PSC VISALIA</a:t>
            </a:r>
          </a:p>
          <a:p>
            <a:r>
              <a:t>PROYECTO CORRUGADORA 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Modernizacion integral + reinstalacion + automatizacion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Reposicionamiento de una linea BHS 2500 mm en USA con nuevo flujo logístico, nueva arquitectura de handling y una base comercial reforzada por Ingecart y Linetex.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NARRATIVA COMERCIAL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48456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No es solo mover una maquina: es reconstruir capacidad, fiabilidad y automatizacion alrededor de un activo probado.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5546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INGECART ENGINEERING &amp; AUDITING  |  LINETEX COMMERCIAL CHANNEL USA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RESUMEN EJECUTIVO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Resumen ejecutivo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Una propuesta para transformar disponibilidad, soporte y flujo operativo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El proyecto integra una corrugadora BHS 2500 mm de segunda mano con mejoras mecanicas, electricas y logísticas para relanzarla en Visalia con una operacion mucho mas ordenada y escalable.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PLATAFORMA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48456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VELOCIDAD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CALENDARIO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5546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BHS 2500 mm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OBJETIVOS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Objetivos del proyecto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Que debe conseguir PSC Visalia con esta inversion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Reinstalar una linea probada con trazabilidad mecanica y electrica desde origen hasta SAT.</a:t>
            </a:r>
          </a:p>
          <a:p>
            <a:r>
              <a:t>Reducir la dependencia de equipamiento obsoleto mediante actualizaciones selectivas en handling, control y soporte.</a:t>
            </a:r>
          </a:p>
          <a:p>
            <a:r>
              <a:t>Preparar la operacion para un flujo mas limpio entre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MOVER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48456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REHACER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AUTOMATIZAR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5546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Lectura estrategica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ALCANCE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Alcance de suministro y servicios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Seis paquetes que convierten una compra industrial en una solucion integral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CORE 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48456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ROLL HANDLING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BHS corrugator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5546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Desmontaje + montaje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BASE INSTALADA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Base instalada y activo de partida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Inventario de corrugadora revisado en el dossier de segunda mano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WIDTH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2.500 mm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48456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Working width declarada en el dossier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CONFIGURATION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5546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Duplex / Duplex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MODERNIZACION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Modernizacion y upgrade por obsolescencia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La logica del proyecto no es mantener lo viejo: es reconstruir una plataforma fiable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BASE LEGACY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TARGET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48456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Equipos de origen 1997 con upgrades puntuales 2007, 2009, 2012, 2015 y 2017.</a:t>
            </a:r>
          </a:p>
          <a:p>
            <a:r>
              <a:t>Reel stands y splicers BHS robustos pero dependientes de una integracion mas actual.</a:t>
            </a:r>
          </a:p>
          <a:p>
            <a:r>
              <a:t>Riesgo natural de dispersion de soporte, repuestos y curva de aprendizaje si no se rearquitectura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Roll handling nuevo con IIM shaftless hydraulic roll stand: 2.500 mm, 305 m/min, Allen Bradley PLC y Atos hydraulic pack.</a:t>
            </a:r>
          </a:p>
          <a:p>
            <a:r>
              <a:t>Nueva capa de conveyors, rails, home area, software y cuadros electricos para ordenar flujo y mantenimiento.</a:t>
            </a:r>
          </a:p>
          <a:p>
            <a:r>
              <a:t>Modelo orientado a FAT, SAT,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5546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REINSTALACION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Layout de reinstalacion y roadmap fisico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Un traslado controlado, documentado y orientado a un arranque con menos friccion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TURKEY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SHIPPING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48456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VISALIA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Desmontaje completo con marcado documental de instalaciones mecanicas y electricas.</a:t>
            </a:r>
          </a:p>
          <a:p>
            <a:r>
              <a:t>Preparacion para container loading y coordinacion de crane operations.</a:t>
            </a:r>
          </a:p>
          <a:p>
            <a:r>
              <a:t>Montaje en USA con equipo local, commissioning y acceptance testing.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5546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La hoja de servicios incluye desmontaje, cranes, instalacion y gastos asociados.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ROLL HANDLING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Roll handling: nueva pieza critica del sistema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El nuevo roll stand define fiabilidad, seguridad de cambio y continuidad de papel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2500 mm width, shaftless hydraulic roll stand.</a:t>
            </a:r>
          </a:p>
          <a:p>
            <a:r>
              <a:t>Reel max diameter 1525 mm y reel weight 2000 kg.</a:t>
            </a:r>
          </a:p>
          <a:p>
            <a:r>
              <a:t>Machine speed 305 m/min con RE chucks 3"/6" y RE brakes.</a:t>
            </a:r>
          </a:p>
          <a:p>
            <a:r>
              <a:t>Allen Bradley PLC sin programa y Atos hydraulic pack M-18.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OFFER PRICE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48456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FREIGHT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71.685 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5546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7.560 EUR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CONVEYORS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Conveyors, WIP y home area automatizada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El verdadero salto operativo aparece en el material handling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Corrugator output  -&gt;  double conveyor stacker  -&gt;  AMR reception  -&gt;  WIP conversion  -&gt;  waste movement  -&gt;  home area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END OF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48456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AMR / WIP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RAILS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5546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HOME AREA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OPERACION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Concepto operativo WIP / AMR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Como debe leerse el flujo futuro dentro de la planta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1. Paper infeed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2. Corrugator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48456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3. Stacking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4. AMR handoff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5546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5. WIP buffer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BHS SUPPORT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BHS integration y condicion de soporte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Lo que la carta revisada pide formalizar para cerrar el proyecto con seguridad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SUPPORT FRAMEWORK REQUESTED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Technical supervision during the machine disassembly in Turkey.</a:t>
            </a:r>
          </a:p>
          <a:p>
            <a:r>
              <a:t>Crane operations management and support.</a:t>
            </a:r>
          </a:p>
          <a:p>
            <a:r>
              <a:t>Local or nearby service in the United States after installation and acceptance.</a:t>
            </a:r>
          </a:p>
          <a:p>
            <a:r>
              <a:t>Maintenance training and process training.</a:t>
            </a:r>
          </a:p>
          <a:p>
            <a:r>
              <a:t>Spare parts supply plus technica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48456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Nota de rigor: el documento revisado es una solicitud de confirmacion escrita, no una carta final emitida por BHS.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5546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INGECART ENGINEERING &amp; AUDITING  |  LINETEX COMMERCIAL CHANNEL USA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INGENIERIA Y SOFTWARE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Ingenieria y arquitectura de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El upgrade necesita una narrativa tecnica coherente, no solo una lista de equipos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SENSORS &amp;</a:t>
            </a:r>
          </a:p>
          <a:p>
            <a:r>
              <a:t>MOTION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PLC / HMI</a:t>
            </a:r>
          </a:p>
          <a:p>
            <a:r>
              <a:t>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48456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CONVEYORS</a:t>
            </a:r>
          </a:p>
          <a:p>
            <a:r>
              <a:t>&amp; WIP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MES /</a:t>
            </a:r>
          </a:p>
          <a:p>
            <a:r>
              <a:t>REPORTING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5546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REMOTE</a:t>
            </a:r>
          </a:p>
          <a:p>
            <a:r>
              <a:t>SERVICE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CALENDARIO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Calendario de ejecucion y curva de caja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El flujo financiero anticipa los picos criticos del proyecto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May 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Jun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48456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Jul 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Aug 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5546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Sep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FAT / SAT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FAT, SAT y puesta en marcha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La credibilidad del proyecto depende de cerrar bien la secuencia de validacion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Revision de equipos reacondicionados, checklists y trazabilidad documental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FAT mechanical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48456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Secuencias de seguridad, I/O, recipe logic y handshakes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FAT controls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5546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Alineacion, utilities, cold tests y dry run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BENEFICIOS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Beneficios esperados para PSC Visalia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Lo que realmente compra el cliente cuando compra esta solucion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CONTINUIDAD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PRODUCCION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48456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PEOPLE &amp; SAFETY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SCALABILITY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5546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Menos riesgo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DIFERENCIADORES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Porque Ingecart + Linetex pueden vender este proyecto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No es una simple compra de equipos usados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Ingecart combina vision mecanica, electrica y logistica en un solo discurso tecnico.</a:t>
            </a:r>
          </a:p>
          <a:p>
            <a:r>
              <a:t>Linetex funciona como marca/comercializacion en USA, acercando el proyecto al cliente final.</a:t>
            </a:r>
          </a:p>
          <a:p>
            <a:r>
              <a:t>La propuesta une equipo principal, handling, software y fase de arranque en una 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PARTNERSHIP MESSAGE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48456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Linetex debe aparecer como la cara comercial en Estados Unidos, mientras Ingecart sostiene el contenido de ingenieria, integracion, coordinacion del desmontaje y puesta en marcha. Eso reduce distancia comercial sin vaciar el valor tecnico.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5546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INGECART ENGINEERING &amp; AUDITING  |  LINETEX COMMERCIAL CHANNEL USA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INVERSION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Vista de inversion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Subtotales visibles en las hojas comerciales revisadas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USD 3.041M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48456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USD 2.264M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Peripherals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5546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USD 3.770M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PROXIMOS PASOS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Proximos pasos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Como convertir esta narrativa en cierre comercial y ejecucion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Congelar el scope tecnico y los paquetes economicos a presentar a PSC.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48456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Validar el layout objetivo y utilidades de planta en Visalia.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5546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Cerrar la condicion BHS de supervision, training, spare parts y after-sales.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Cerrar esta operacion es darle a PSC una linea relanzada, no una mudanza de maquinas.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Ingecart aporta la ingenieria y la integracion. Linetex aporta cercania comercial en USA. Juntas, ambas marcas convierten un activo BHS probado en una plataforma industrial lista para volver a competir.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Prepared from project spreadsheets, commercial offer, BHS support request and machine dossier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Why This Project? – Strategic Necessity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ELIMINATE OBSOLESCENCE:</a:t>
            </a:r>
          </a:p>
          <a:p>
            <a:r>
              <a:t>• S5 PLC – No support since 2015</a:t>
            </a:r>
          </a:p>
          <a:p>
            <a:r>
              <a:t>• Unavailable spare parts in the market</a:t>
            </a:r>
          </a:p>
          <a:p>
            <a:r>
              <a:t>• Weeks of unplanned downtime risk</a:t>
            </a:r>
          </a:p>
          <a:p/>
          <a:p>
            <a:r>
              <a:t>INCREASE PRODUCTIVITY:</a:t>
            </a:r>
          </a:p>
          <a:p>
            <a:r>
              <a:t>• Sustained 300 mpm vs current 250 mpm</a:t>
            </a:r>
          </a:p>
          <a:p>
            <a:r>
              <a:t>• Real-time diagnostics</a:t>
            </a:r>
          </a:p>
          <a:p>
            <a:r>
              <a:t>• 30% setup reduction</a:t>
            </a:r>
          </a:p>
          <a:p/>
          <a:p>
            <a:r>
              <a:t>PREPARE FOR THE FU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Solving Real</a:t>
            </a:r>
          </a:p>
          <a:p>
            <a:r>
              <a:t>Bottlenecks</a:t>
            </a:r>
          </a:p>
          <a:p>
            <a:r>
              <a:t>in Corrugated Plants</a:t>
            </a:r>
          </a:p>
          <a:p/>
          <a:p>
            <a:r>
              <a:t>Industrial</a:t>
            </a:r>
          </a:p>
          <a:p>
            <a:r>
              <a:t>Intelligence</a:t>
            </a:r>
          </a:p>
          <a:p>
            <a:r>
              <a:t>Applied to</a:t>
            </a:r>
          </a:p>
          <a:p>
            <a:r>
              <a:t>Performance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Our Full Engineering Capabilities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AMR Systems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Easy Pack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Retal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Autonomous mobile robots for intralogistics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48456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Standardized end-of-line packaging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5196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Automated scrap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5546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Ingetrans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Our Value Proposition – Industrial Intelligence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FASTER THAN OEMS: Agile engineering, rapid implementation, no corporate bureaucracy</a:t>
            </a:r>
          </a:p>
          <a:p/>
          <a:p>
            <a:r>
              <a:t>MORE RELIABLE: Robust solutions, built to perform, local support in USA via Linetex</a:t>
            </a:r>
          </a:p>
          <a:p/>
          <a:p>
            <a:r>
              <a:t>MEASURABLE ROI: Focus on OEE, downtime reduction, payback &lt;18 months</a:t>
            </a:r>
          </a:p>
          <a:p/>
          <a:p>
            <a:r>
              <a:t>KNOWLEDGE DRIVEN: Ev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Solving Real</a:t>
            </a:r>
          </a:p>
          <a:p>
            <a:r>
              <a:t>Bottlenecks</a:t>
            </a:r>
          </a:p>
          <a:p>
            <a:r>
              <a:t>in Corrugated Plants</a:t>
            </a:r>
          </a:p>
          <a:p/>
          <a:p>
            <a:r>
              <a:t>Industrial</a:t>
            </a:r>
          </a:p>
          <a:p>
            <a:r>
              <a:t>Intelligence</a:t>
            </a:r>
          </a:p>
          <a:p>
            <a:r>
              <a:t>Applied to</a:t>
            </a:r>
          </a:p>
          <a:p>
            <a:r>
              <a:t>Performance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Obsolescence Elimination – Siemens S7 Migration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BEFORE (machine in Turkey):</a:t>
            </a:r>
          </a:p>
          <a:p>
            <a:r>
              <a:t>• Mixed S5/S7 control – No factory support</a:t>
            </a:r>
          </a:p>
          <a:p>
            <a:r>
              <a:t>• DC drives with obsolete components</a:t>
            </a:r>
          </a:p>
          <a:p>
            <a:r>
              <a:t>• Legacy HMI with limited diagnostics</a:t>
            </a:r>
          </a:p>
          <a:p>
            <a:r>
              <a:t>• Spare parts unavailable globally</a:t>
            </a:r>
          </a:p>
          <a:p/>
          <a:p>
            <a:r>
              <a:t>AFTER (installed in Visalia):</a:t>
            </a:r>
          </a:p>
          <a:p>
            <a:r>
              <a:t>• Unified Siemens S7 – 15+ year future</a:t>
            </a:r>
          </a:p>
          <a:p>
            <a:r>
              <a:t>• Modern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Solving Real</a:t>
            </a:r>
          </a:p>
          <a:p>
            <a:r>
              <a:t>Bottlenecks</a:t>
            </a:r>
          </a:p>
          <a:p>
            <a:r>
              <a:t>in Corrugated Plants</a:t>
            </a:r>
          </a:p>
          <a:p/>
          <a:p>
            <a:r>
              <a:t>Industrial</a:t>
            </a:r>
          </a:p>
          <a:p>
            <a:r>
              <a:t>Intelligence</a:t>
            </a:r>
          </a:p>
          <a:p>
            <a:r>
              <a:t>Applied to</a:t>
            </a:r>
          </a:p>
          <a:p>
            <a:r>
              <a:t>Performance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"From hidden risks to total control"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Project Scope – 4 Integrated Phases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PHASE 1: DISASSEMBLY (Turkey)</a:t>
            </a:r>
          </a:p>
          <a:p>
            <a:r>
              <a:t>→ Complete teardown + tagging + preservation</a:t>
            </a:r>
          </a:p>
          <a:p/>
          <a:p>
            <a:r>
              <a:t>PHASE 2: TRANSPORT</a:t>
            </a:r>
          </a:p>
          <a:p>
            <a:r>
              <a:t>→ 11 Open top + 2 Flat rack + 16 HQ 40' containers</a:t>
            </a:r>
          </a:p>
          <a:p/>
          <a:p>
            <a:r>
              <a:t>PHASE 3: REINSTALLATION (Visalia)</a:t>
            </a:r>
          </a:p>
          <a:p>
            <a:r>
              <a:t>→ Mechanical assembly + laser alignment + peripheral connection</a:t>
            </a:r>
          </a:p>
          <a:p/>
          <a:p>
            <a:r>
              <a:t>PHASE 4: MODER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Solving Real</a:t>
            </a:r>
          </a:p>
          <a:p>
            <a:r>
              <a:t>Bottlenecks</a:t>
            </a:r>
          </a:p>
          <a:p>
            <a:r>
              <a:t>in Corrugated Plants</a:t>
            </a:r>
          </a:p>
          <a:p/>
          <a:p>
            <a:r>
              <a:t>Industrial</a:t>
            </a:r>
          </a:p>
          <a:p>
            <a:r>
              <a:t>Intelligence</a:t>
            </a:r>
          </a:p>
          <a:p>
            <a:r>
              <a:t>Applied to</a:t>
            </a:r>
          </a:p>
          <a:p>
            <a:r>
              <a:t>Performance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Ingetrans – Automated Roll Loading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• Automatic roll loading up to 3700 mm (no forklift)</a:t>
            </a:r>
          </a:p>
          <a:p>
            <a:r>
              <a:t>• Integrated loading/unloading ramp</a:t>
            </a:r>
          </a:p>
          <a:p>
            <a:r>
              <a:t>• Double transfer car + rails + catenary system</a:t>
            </a:r>
          </a:p>
          <a:p>
            <a:r>
              <a:t>• Complete electrical cabinets + proprietary software</a:t>
            </a:r>
          </a:p>
          <a:p>
            <a:r>
              <a:t>• Assembly + 4 x 40' containers transport included</a:t>
            </a:r>
          </a:p>
          <a:p/>
          <a:p>
            <a:r>
              <a:t>INVESTMENT: $1.14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Solving Real</a:t>
            </a:r>
          </a:p>
          <a:p>
            <a:r>
              <a:t>Bottlenecks</a:t>
            </a:r>
          </a:p>
          <a:p>
            <a:r>
              <a:t>in Corrugated Plants</a:t>
            </a:r>
          </a:p>
          <a:p/>
          <a:p>
            <a:r>
              <a:t>Industrial</a:t>
            </a:r>
          </a:p>
          <a:p>
            <a:r>
              <a:t>Intelligence</a:t>
            </a:r>
          </a:p>
          <a:p>
            <a:r>
              <a:t>Applied to</a:t>
            </a:r>
          </a:p>
          <a:p>
            <a:r>
              <a:t>Performance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"Reduced manual handling + increased safety"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Conveyors &amp; AMR – Bottleneck-Free 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• Double output line with strappers → $900K USD</a:t>
            </a:r>
          </a:p>
          <a:p>
            <a:r>
              <a:t>• AMR reception conveyor + waste movement → $550K USD</a:t>
            </a:r>
          </a:p>
          <a:p>
            <a:r>
              <a:t>• Intelligent WIP buffer</a:t>
            </a:r>
          </a:p>
          <a:p>
            <a:r>
              <a:t>• Integration with existing AAR stacker</a:t>
            </a:r>
          </a:p>
          <a:p>
            <a:r>
              <a:t>• Continuous flow to converting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Solving Real</a:t>
            </a:r>
          </a:p>
          <a:p>
            <a:r>
              <a:t>Bottlenecks</a:t>
            </a:r>
          </a:p>
          <a:p>
            <a:r>
              <a:t>in Corrugated Plants</a:t>
            </a:r>
          </a:p>
          <a:p/>
          <a:p>
            <a:r>
              <a:t>Industrial</a:t>
            </a:r>
          </a:p>
          <a:p>
            <a:r>
              <a:t>Intelligence</a:t>
            </a:r>
          </a:p>
          <a:p>
            <a:r>
              <a:t>Applied to</a:t>
            </a:r>
          </a:p>
          <a:p>
            <a:r>
              <a:t>Performance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"The corrugator never stops due to downstream accumulation"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Peripherals &amp; Engineering Services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PERIPHERALS (included):</a:t>
            </a:r>
          </a:p>
          <a:p>
            <a:r>
              <a:t>• Flexamix adhesive kitchen → $275K purchase</a:t>
            </a:r>
          </a:p>
          <a:p>
            <a:r>
              <a:t>• Boiler + steam tubes → $300K + $250K</a:t>
            </a:r>
          </a:p>
          <a:p>
            <a:r>
              <a:t>• Complete steam tube assembly</a:t>
            </a:r>
          </a:p>
          <a:p/>
          <a:p>
            <a:r>
              <a:t>SERVICES (included):</a:t>
            </a:r>
          </a:p>
          <a:p>
            <a:r>
              <a:t>• Full disassembly (Turkey) → $135K</a:t>
            </a:r>
          </a:p>
          <a:p>
            <a:r>
              <a:t>• Complete installation (USA) → $270K</a:t>
            </a:r>
          </a:p>
          <a:p>
            <a:r>
              <a:t>• Electrical modernizatio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Solving Real</a:t>
            </a:r>
          </a:p>
          <a:p>
            <a:r>
              <a:t>Bottlenecks</a:t>
            </a:r>
          </a:p>
          <a:p>
            <a:r>
              <a:t>in Corrugated Plants</a:t>
            </a:r>
          </a:p>
          <a:p/>
          <a:p>
            <a:r>
              <a:t>Industrial</a:t>
            </a:r>
          </a:p>
          <a:p>
            <a:r>
              <a:t>Intelligence</a:t>
            </a:r>
          </a:p>
          <a:p>
            <a:r>
              <a:t>Applied to</a:t>
            </a:r>
          </a:p>
          <a:p>
            <a:r>
              <a:t>Performance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Measurable ROI – OEE-Driven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QUANTIFIABLE BENEFITS:</a:t>
            </a:r>
          </a:p>
          <a:p/>
          <a:p>
            <a:r>
              <a:t>• Downtime reduction from obsolescence: -70%</a:t>
            </a:r>
          </a:p>
          <a:p>
            <a:r>
              <a:t>• Sustained speed increase: 250 → 300 mpm (+20%)</a:t>
            </a:r>
          </a:p>
          <a:p>
            <a:r>
              <a:t>• Setup time reduction: -30%</a:t>
            </a:r>
          </a:p>
          <a:p>
            <a:r>
              <a:t>• Unplanned stops from parts unavailability: ELIMINATED</a:t>
            </a:r>
          </a:p>
          <a:p>
            <a:r>
              <a:t>• Maintenance cost reduction: -25%</a:t>
            </a:r>
          </a:p>
          <a:p/>
          <a:p>
            <a:r>
              <a:t>ESTIMATED PAYBACK: &lt;1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3794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Solving Real</a:t>
            </a:r>
          </a:p>
          <a:p>
            <a:r>
              <a:t>Bottlenecks</a:t>
            </a:r>
          </a:p>
          <a:p>
            <a:r>
              <a:t>in Corrugated Plants</a:t>
            </a:r>
          </a:p>
          <a:p/>
          <a:p>
            <a:r>
              <a:t>Industrial</a:t>
            </a:r>
          </a:p>
          <a:p>
            <a:r>
              <a:t>Intelligence</a:t>
            </a:r>
          </a:p>
          <a:p>
            <a:r>
              <a:t>Applied to</a:t>
            </a:r>
          </a:p>
          <a:p>
            <a:r>
              <a:t>Performance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4144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"Focus on what impacts your OEE"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Service &amp; Maintenance – Recurring Revenue Engine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Current Service Capacity: 2,000 hours/year (50km radius)</a:t>
            </a:r>
          </a:p>
          <a:p>
            <a:r>
              <a:t>Target Service Capacity: 24,500 hours/year (14 technicians)</a:t>
            </a:r>
          </a:p>
          <a:p/>
          <a:p>
            <a:r>
              <a:t>SERVICE OFFERINGS:</a:t>
            </a:r>
          </a:p>
          <a:p>
            <a:r>
              <a:t>✓ Preventive maintenance contracts</a:t>
            </a:r>
          </a:p>
          <a:p>
            <a:r>
              <a:t>✓ Spare parts supply (OEM-agnostic)</a:t>
            </a:r>
          </a:p>
          <a:p>
            <a:r>
              <a:t>✓ Remote diagnostics and support</a:t>
            </a:r>
          </a:p>
          <a:p>
            <a:r>
              <a:t>✓ Emergency on-site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315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</a:defRPr>
            </a:pPr>
            <a:r>
              <a:t>Solving Real Bottlenecks in Corrugated Plants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Industrial Intelligence Applied to Performance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86000"/>
            <a:ext cx="2468880" cy="1645920"/>
          </a:xfrm>
          <a:prstGeom prst="roundRect">
            <a:avLst/>
          </a:prstGeom>
          <a:solidFill>
            <a:srgbClr val="F5F5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8C00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23160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0000"/>
                </a:solidFill>
              </a:defRPr>
            </a:pPr>
            <a:r>
              <a:t>FASTER THAN OEMs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05050"/>
                </a:solidFill>
              </a:defRPr>
            </a:pPr>
            <a:r>
              <a:t>Agile engineering and</a:t>
            </a:r>
          </a:p>
          <a:p>
            <a:r>
              <a:t>rapid implementation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2286000"/>
            <a:ext cx="2468880" cy="1645920"/>
          </a:xfrm>
          <a:prstGeom prst="roundRect">
            <a:avLst/>
          </a:prstGeom>
          <a:solidFill>
            <a:srgbClr val="F5F5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237744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8C00"/>
                </a:solidFill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23160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0000"/>
                </a:solidFill>
              </a:defRPr>
            </a:pPr>
            <a:r>
              <a:t>MORE RELIABLE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79" y="292608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05050"/>
                </a:solidFill>
              </a:defRPr>
            </a:pPr>
            <a:r>
              <a:t>Robust solutions built</a:t>
            </a:r>
          </a:p>
          <a:p>
            <a:r>
              <a:t>to perform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286000"/>
            <a:ext cx="2468880" cy="1645920"/>
          </a:xfrm>
          <a:prstGeom prst="roundRect">
            <a:avLst/>
          </a:prstGeom>
          <a:solidFill>
            <a:srgbClr val="F5F5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237744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8C00"/>
                </a:solidFill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423160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0000"/>
                </a:solidFill>
              </a:defRPr>
            </a:pPr>
            <a:r>
              <a:t>MEASURABLE ROI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92608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05050"/>
                </a:solidFill>
              </a:defRPr>
            </a:pPr>
            <a:r>
              <a:t>Focus on what impacts</a:t>
            </a:r>
          </a:p>
          <a:p>
            <a:r>
              <a:t>your OEE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0" y="2286000"/>
            <a:ext cx="2468880" cy="1645920"/>
          </a:xfrm>
          <a:prstGeom prst="roundRect">
            <a:avLst/>
          </a:prstGeom>
          <a:solidFill>
            <a:srgbClr val="F5F5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237744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8C00"/>
                </a:solidFill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423160"/>
            <a:ext cx="1920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0000"/>
                </a:solidFill>
              </a:defRPr>
            </a:pPr>
            <a:r>
              <a:t>KNOWLEDGE DRIVEN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2926080"/>
            <a:ext cx="21945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05050"/>
                </a:solidFill>
              </a:defRPr>
            </a:pPr>
            <a:r>
              <a:t>Every project makes</a:t>
            </a:r>
          </a:p>
          <a:p>
            <a:r>
              <a:t>us smarter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Blanc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arraSuperior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arraFooter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ineaFooter"/>
          <p:cNvSpPr/>
          <p:nvPr/>
        </p:nvSpPr>
        <p:spPr>
          <a:xfrm>
            <a:off x="2743200" y="6400800"/>
            <a:ext cx="6705295" cy="182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SOLUTIONS DESIGNED FOR CORRUGATED PLANTS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Ingecart en numeros - Nuestra experiencia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37160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56032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8C00"/>
                </a:solidFill>
              </a:defRPr>
            </a:pPr>
            <a:r>
              <a:t>1.268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19" y="3429000"/>
            <a:ext cx="2011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505050"/>
                </a:solidFill>
              </a:defRPr>
            </a:pPr>
            <a:r>
              <a:t>Proyectos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56032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8C00"/>
                </a:solidFill>
              </a:defRPr>
            </a:pPr>
            <a: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3429000"/>
            <a:ext cx="2011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505050"/>
                </a:solidFill>
              </a:defRPr>
            </a:pPr>
            <a:r>
              <a:t>Anos de experiencia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6032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8C00"/>
                </a:solidFill>
              </a:defRPr>
            </a:pPr>
            <a: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429000"/>
            <a:ext cx="2011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505050"/>
                </a:solidFill>
              </a:defRPr>
            </a:pPr>
            <a:r>
              <a:t>Acuerdos internacionales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56032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8C00"/>
                </a:solidFill>
              </a:defRPr>
            </a:pPr>
            <a:r>
              <a:t>194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3429000"/>
            <a:ext cx="2011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505050"/>
                </a:solidFill>
              </a:defRPr>
            </a:pPr>
            <a:r>
              <a:t>Instalaciones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